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fusion_data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fusion_data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Fail ≥1 gate (n = 67)</c:v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D55E00"/>
              </a:solidFill>
              <a:ln w="3175">
                <a:solidFill>
                  <a:srgbClr val="FFFFFF"/>
                </a:solidFill>
              </a:ln>
            </c:spPr>
          </c:marker>
          <c:xVal>
            <c:numRef>
              <c:f>'Fusion data'!$A$2:$A$68</c:f>
              <c:numCache>
                <c:formatCode>General</c:formatCode>
                <c:ptCount val="67"/>
                <c:pt idx="0">
                  <c:v>79.22</c:v>
                </c:pt>
                <c:pt idx="1">
                  <c:v>73.02</c:v>
                </c:pt>
                <c:pt idx="2">
                  <c:v>77.79</c:v>
                </c:pt>
                <c:pt idx="3">
                  <c:v>72.33</c:v>
                </c:pt>
                <c:pt idx="4">
                  <c:v>69.15</c:v>
                </c:pt>
                <c:pt idx="5">
                  <c:v>82.16</c:v>
                </c:pt>
                <c:pt idx="6">
                  <c:v>68.1</c:v>
                </c:pt>
                <c:pt idx="7">
                  <c:v>64.28</c:v>
                </c:pt>
                <c:pt idx="8">
                  <c:v>65.33</c:v>
                </c:pt>
                <c:pt idx="9">
                  <c:v>65.13</c:v>
                </c:pt>
                <c:pt idx="10">
                  <c:v>62.42</c:v>
                </c:pt>
                <c:pt idx="11">
                  <c:v>64.24</c:v>
                </c:pt>
                <c:pt idx="12">
                  <c:v>61.46</c:v>
                </c:pt>
                <c:pt idx="13">
                  <c:v>66.04</c:v>
                </c:pt>
                <c:pt idx="14">
                  <c:v>64.43</c:v>
                </c:pt>
                <c:pt idx="15">
                  <c:v>62.06</c:v>
                </c:pt>
                <c:pt idx="16">
                  <c:v>58.39</c:v>
                </c:pt>
                <c:pt idx="17">
                  <c:v>64.54</c:v>
                </c:pt>
                <c:pt idx="18">
                  <c:v>64.3</c:v>
                </c:pt>
                <c:pt idx="19">
                  <c:v>59.9</c:v>
                </c:pt>
                <c:pt idx="20">
                  <c:v>62.27</c:v>
                </c:pt>
                <c:pt idx="21">
                  <c:v>62.83</c:v>
                </c:pt>
                <c:pt idx="22">
                  <c:v>57.25</c:v>
                </c:pt>
                <c:pt idx="23">
                  <c:v>61.72</c:v>
                </c:pt>
                <c:pt idx="24">
                  <c:v>56.88</c:v>
                </c:pt>
                <c:pt idx="25">
                  <c:v>59.9</c:v>
                </c:pt>
                <c:pt idx="26">
                  <c:v>57.9</c:v>
                </c:pt>
                <c:pt idx="27">
                  <c:v>52.78</c:v>
                </c:pt>
                <c:pt idx="28">
                  <c:v>72.41</c:v>
                </c:pt>
                <c:pt idx="29">
                  <c:v>56.74</c:v>
                </c:pt>
                <c:pt idx="30">
                  <c:v>56.94</c:v>
                </c:pt>
                <c:pt idx="31">
                  <c:v>54.99</c:v>
                </c:pt>
                <c:pt idx="32">
                  <c:v>57.5</c:v>
                </c:pt>
                <c:pt idx="33">
                  <c:v>58.26</c:v>
                </c:pt>
                <c:pt idx="34">
                  <c:v>57.14</c:v>
                </c:pt>
                <c:pt idx="35">
                  <c:v>61.99</c:v>
                </c:pt>
                <c:pt idx="36">
                  <c:v>54.71</c:v>
                </c:pt>
                <c:pt idx="37">
                  <c:v>53.43</c:v>
                </c:pt>
                <c:pt idx="38">
                  <c:v>55.67</c:v>
                </c:pt>
                <c:pt idx="39">
                  <c:v>59.19</c:v>
                </c:pt>
                <c:pt idx="40">
                  <c:v>55.72</c:v>
                </c:pt>
                <c:pt idx="41">
                  <c:v>52.87</c:v>
                </c:pt>
                <c:pt idx="42">
                  <c:v>54.03</c:v>
                </c:pt>
                <c:pt idx="43">
                  <c:v>54.98</c:v>
                </c:pt>
                <c:pt idx="44">
                  <c:v>52.29</c:v>
                </c:pt>
                <c:pt idx="45">
                  <c:v>51.53</c:v>
                </c:pt>
                <c:pt idx="46">
                  <c:v>51.24</c:v>
                </c:pt>
                <c:pt idx="47">
                  <c:v>67.02</c:v>
                </c:pt>
                <c:pt idx="48">
                  <c:v>51.83</c:v>
                </c:pt>
                <c:pt idx="49">
                  <c:v>53.89</c:v>
                </c:pt>
                <c:pt idx="50">
                  <c:v>51.37</c:v>
                </c:pt>
                <c:pt idx="51">
                  <c:v>51.77</c:v>
                </c:pt>
                <c:pt idx="52">
                  <c:v>51.23</c:v>
                </c:pt>
                <c:pt idx="53">
                  <c:v>54.26</c:v>
                </c:pt>
                <c:pt idx="54">
                  <c:v>51.04</c:v>
                </c:pt>
                <c:pt idx="55">
                  <c:v>51.42</c:v>
                </c:pt>
                <c:pt idx="56">
                  <c:v>51.66</c:v>
                </c:pt>
                <c:pt idx="57">
                  <c:v>49.49</c:v>
                </c:pt>
                <c:pt idx="58">
                  <c:v>46.12</c:v>
                </c:pt>
                <c:pt idx="59">
                  <c:v>59.61</c:v>
                </c:pt>
                <c:pt idx="60">
                  <c:v>43.99</c:v>
                </c:pt>
                <c:pt idx="61">
                  <c:v>43.65</c:v>
                </c:pt>
                <c:pt idx="62">
                  <c:v>46.85</c:v>
                </c:pt>
                <c:pt idx="63">
                  <c:v>47.65</c:v>
                </c:pt>
                <c:pt idx="64">
                  <c:v>47.19</c:v>
                </c:pt>
                <c:pt idx="65">
                  <c:v>42.05</c:v>
                </c:pt>
                <c:pt idx="66">
                  <c:v>43.23</c:v>
                </c:pt>
              </c:numCache>
            </c:numRef>
          </c:xVal>
          <c:yVal>
            <c:numRef>
              <c:f>'Fusion data'!$B$2:$B$68</c:f>
              <c:numCache>
                <c:formatCode>General</c:formatCode>
                <c:ptCount val="67"/>
                <c:pt idx="0">
                  <c:v>93.05</c:v>
                </c:pt>
                <c:pt idx="1">
                  <c:v>90.93</c:v>
                </c:pt>
                <c:pt idx="2">
                  <c:v>83.21</c:v>
                </c:pt>
                <c:pt idx="3">
                  <c:v>88.31</c:v>
                </c:pt>
                <c:pt idx="4">
                  <c:v>89.92</c:v>
                </c:pt>
                <c:pt idx="5">
                  <c:v>75.87</c:v>
                </c:pt>
                <c:pt idx="6">
                  <c:v>89.31</c:v>
                </c:pt>
                <c:pt idx="7">
                  <c:v>90.5</c:v>
                </c:pt>
                <c:pt idx="8">
                  <c:v>87.5</c:v>
                </c:pt>
                <c:pt idx="9">
                  <c:v>86.88</c:v>
                </c:pt>
                <c:pt idx="10">
                  <c:v>89.48</c:v>
                </c:pt>
                <c:pt idx="11">
                  <c:v>87.09</c:v>
                </c:pt>
                <c:pt idx="12">
                  <c:v>89.44</c:v>
                </c:pt>
                <c:pt idx="13">
                  <c:v>84.86</c:v>
                </c:pt>
                <c:pt idx="14">
                  <c:v>86.32</c:v>
                </c:pt>
                <c:pt idx="15">
                  <c:v>88.65</c:v>
                </c:pt>
                <c:pt idx="16">
                  <c:v>91.49</c:v>
                </c:pt>
                <c:pt idx="17">
                  <c:v>85.07</c:v>
                </c:pt>
                <c:pt idx="18">
                  <c:v>84.9</c:v>
                </c:pt>
                <c:pt idx="19">
                  <c:v>87.21</c:v>
                </c:pt>
                <c:pt idx="20">
                  <c:v>84.81</c:v>
                </c:pt>
                <c:pt idx="21">
                  <c:v>83.98</c:v>
                </c:pt>
                <c:pt idx="22">
                  <c:v>89.19</c:v>
                </c:pt>
                <c:pt idx="23">
                  <c:v>83.93</c:v>
                </c:pt>
                <c:pt idx="24">
                  <c:v>86.09</c:v>
                </c:pt>
                <c:pt idx="25">
                  <c:v>82.2</c:v>
                </c:pt>
                <c:pt idx="26">
                  <c:v>83.39</c:v>
                </c:pt>
                <c:pt idx="27">
                  <c:v>87.12</c:v>
                </c:pt>
                <c:pt idx="28">
                  <c:v>67.44</c:v>
                </c:pt>
                <c:pt idx="29">
                  <c:v>82.95</c:v>
                </c:pt>
                <c:pt idx="30">
                  <c:v>82.38</c:v>
                </c:pt>
                <c:pt idx="31">
                  <c:v>83.77</c:v>
                </c:pt>
                <c:pt idx="32">
                  <c:v>81.24</c:v>
                </c:pt>
                <c:pt idx="33">
                  <c:v>80.39</c:v>
                </c:pt>
                <c:pt idx="34">
                  <c:v>81.42</c:v>
                </c:pt>
                <c:pt idx="35">
                  <c:v>76.16</c:v>
                </c:pt>
                <c:pt idx="36">
                  <c:v>82.5</c:v>
                </c:pt>
                <c:pt idx="37">
                  <c:v>83.73</c:v>
                </c:pt>
                <c:pt idx="38">
                  <c:v>81.49</c:v>
                </c:pt>
                <c:pt idx="39">
                  <c:v>77.46</c:v>
                </c:pt>
                <c:pt idx="40">
                  <c:v>80.55</c:v>
                </c:pt>
                <c:pt idx="41">
                  <c:v>83.24</c:v>
                </c:pt>
                <c:pt idx="42">
                  <c:v>81.98</c:v>
                </c:pt>
                <c:pt idx="43">
                  <c:v>80.69</c:v>
                </c:pt>
                <c:pt idx="44">
                  <c:v>83.13</c:v>
                </c:pt>
                <c:pt idx="45">
                  <c:v>83.08</c:v>
                </c:pt>
                <c:pt idx="46">
                  <c:v>83.27</c:v>
                </c:pt>
                <c:pt idx="47">
                  <c:v>67.38</c:v>
                </c:pt>
                <c:pt idx="48">
                  <c:v>81.93</c:v>
                </c:pt>
                <c:pt idx="49">
                  <c:v>79.63</c:v>
                </c:pt>
                <c:pt idx="50">
                  <c:v>81.45</c:v>
                </c:pt>
                <c:pt idx="51">
                  <c:v>80.4</c:v>
                </c:pt>
                <c:pt idx="52">
                  <c:v>80.79</c:v>
                </c:pt>
                <c:pt idx="53">
                  <c:v>76.92</c:v>
                </c:pt>
                <c:pt idx="54">
                  <c:v>79.3</c:v>
                </c:pt>
                <c:pt idx="55">
                  <c:v>77.72</c:v>
                </c:pt>
                <c:pt idx="56">
                  <c:v>77.35</c:v>
                </c:pt>
                <c:pt idx="57">
                  <c:v>78.76</c:v>
                </c:pt>
                <c:pt idx="58">
                  <c:v>81.61</c:v>
                </c:pt>
                <c:pt idx="59">
                  <c:v>66.9</c:v>
                </c:pt>
                <c:pt idx="60">
                  <c:v>80.2</c:v>
                </c:pt>
                <c:pt idx="61">
                  <c:v>80.33</c:v>
                </c:pt>
                <c:pt idx="62">
                  <c:v>76.55</c:v>
                </c:pt>
                <c:pt idx="63">
                  <c:v>74.93</c:v>
                </c:pt>
                <c:pt idx="64">
                  <c:v>75.19</c:v>
                </c:pt>
                <c:pt idx="65">
                  <c:v>79.34</c:v>
                </c:pt>
                <c:pt idx="66">
                  <c:v>76.35</c:v>
                </c:pt>
              </c:numCache>
            </c:numRef>
          </c:yVal>
          <c:smooth val="0"/>
        </c:ser>
        <c:ser>
          <c:idx val="1"/>
          <c:order val="1"/>
          <c:tx>
            <c:v>Pass all gates (n = 183)</c:v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0072B2"/>
              </a:solidFill>
              <a:ln w="3175">
                <a:solidFill>
                  <a:srgbClr val="FFFFFF"/>
                </a:solidFill>
              </a:ln>
            </c:spPr>
          </c:marker>
          <c:xVal>
            <c:numRef>
              <c:f>'Fusion data'!$C$2:$C$184</c:f>
              <c:numCache>
                <c:formatCode>General</c:formatCode>
                <c:ptCount val="183"/>
                <c:pt idx="0">
                  <c:v>90.75</c:v>
                </c:pt>
                <c:pt idx="1">
                  <c:v>90.05</c:v>
                </c:pt>
                <c:pt idx="2">
                  <c:v>90.3</c:v>
                </c:pt>
                <c:pt idx="3">
                  <c:v>90.25</c:v>
                </c:pt>
                <c:pt idx="4">
                  <c:v>90.36</c:v>
                </c:pt>
                <c:pt idx="5">
                  <c:v>89.12</c:v>
                </c:pt>
                <c:pt idx="6">
                  <c:v>89.52</c:v>
                </c:pt>
                <c:pt idx="7">
                  <c:v>89.76</c:v>
                </c:pt>
                <c:pt idx="8">
                  <c:v>88.95</c:v>
                </c:pt>
                <c:pt idx="9">
                  <c:v>89.77</c:v>
                </c:pt>
                <c:pt idx="10">
                  <c:v>88.88</c:v>
                </c:pt>
                <c:pt idx="11">
                  <c:v>89.45</c:v>
                </c:pt>
                <c:pt idx="12">
                  <c:v>88.42</c:v>
                </c:pt>
                <c:pt idx="13">
                  <c:v>89.6</c:v>
                </c:pt>
                <c:pt idx="14">
                  <c:v>89.54</c:v>
                </c:pt>
                <c:pt idx="15">
                  <c:v>89.47</c:v>
                </c:pt>
                <c:pt idx="16">
                  <c:v>88.9</c:v>
                </c:pt>
                <c:pt idx="17">
                  <c:v>89.89</c:v>
                </c:pt>
                <c:pt idx="18">
                  <c:v>89.39</c:v>
                </c:pt>
                <c:pt idx="19">
                  <c:v>88.38</c:v>
                </c:pt>
                <c:pt idx="20">
                  <c:v>88.31</c:v>
                </c:pt>
                <c:pt idx="21">
                  <c:v>88.21</c:v>
                </c:pt>
                <c:pt idx="22">
                  <c:v>89.78</c:v>
                </c:pt>
                <c:pt idx="23">
                  <c:v>87.75</c:v>
                </c:pt>
                <c:pt idx="24">
                  <c:v>87.45</c:v>
                </c:pt>
                <c:pt idx="25">
                  <c:v>87.32</c:v>
                </c:pt>
                <c:pt idx="26">
                  <c:v>89.3</c:v>
                </c:pt>
                <c:pt idx="27">
                  <c:v>88.89</c:v>
                </c:pt>
                <c:pt idx="28">
                  <c:v>87.84</c:v>
                </c:pt>
                <c:pt idx="29">
                  <c:v>89.29</c:v>
                </c:pt>
                <c:pt idx="30">
                  <c:v>87.39</c:v>
                </c:pt>
                <c:pt idx="31">
                  <c:v>90.53</c:v>
                </c:pt>
                <c:pt idx="32">
                  <c:v>87.99</c:v>
                </c:pt>
                <c:pt idx="33">
                  <c:v>89.43</c:v>
                </c:pt>
                <c:pt idx="34">
                  <c:v>88.94</c:v>
                </c:pt>
                <c:pt idx="35">
                  <c:v>88.88</c:v>
                </c:pt>
                <c:pt idx="36">
                  <c:v>86.37</c:v>
                </c:pt>
                <c:pt idx="37">
                  <c:v>87.93</c:v>
                </c:pt>
                <c:pt idx="38">
                  <c:v>88.63</c:v>
                </c:pt>
                <c:pt idx="39">
                  <c:v>88.56</c:v>
                </c:pt>
                <c:pt idx="40">
                  <c:v>88.68</c:v>
                </c:pt>
                <c:pt idx="41">
                  <c:v>90.9</c:v>
                </c:pt>
                <c:pt idx="42">
                  <c:v>86.99</c:v>
                </c:pt>
                <c:pt idx="43">
                  <c:v>89.81</c:v>
                </c:pt>
                <c:pt idx="44">
                  <c:v>85.88</c:v>
                </c:pt>
                <c:pt idx="45">
                  <c:v>90.86</c:v>
                </c:pt>
                <c:pt idx="46">
                  <c:v>86.67</c:v>
                </c:pt>
                <c:pt idx="47">
                  <c:v>86.73</c:v>
                </c:pt>
                <c:pt idx="48">
                  <c:v>87.16</c:v>
                </c:pt>
                <c:pt idx="49">
                  <c:v>89.81</c:v>
                </c:pt>
                <c:pt idx="50">
                  <c:v>86.74</c:v>
                </c:pt>
                <c:pt idx="51">
                  <c:v>90.67</c:v>
                </c:pt>
                <c:pt idx="52">
                  <c:v>86.77</c:v>
                </c:pt>
                <c:pt idx="53">
                  <c:v>90.64</c:v>
                </c:pt>
                <c:pt idx="54">
                  <c:v>86.58</c:v>
                </c:pt>
                <c:pt idx="55">
                  <c:v>86.84</c:v>
                </c:pt>
                <c:pt idx="56">
                  <c:v>86.29</c:v>
                </c:pt>
                <c:pt idx="57">
                  <c:v>90.76</c:v>
                </c:pt>
                <c:pt idx="58">
                  <c:v>86.49</c:v>
                </c:pt>
                <c:pt idx="59">
                  <c:v>87.1</c:v>
                </c:pt>
                <c:pt idx="60">
                  <c:v>86.16</c:v>
                </c:pt>
                <c:pt idx="61">
                  <c:v>85.89</c:v>
                </c:pt>
                <c:pt idx="62">
                  <c:v>89.79</c:v>
                </c:pt>
                <c:pt idx="63">
                  <c:v>88.71</c:v>
                </c:pt>
                <c:pt idx="64">
                  <c:v>85.21</c:v>
                </c:pt>
                <c:pt idx="65">
                  <c:v>88.89</c:v>
                </c:pt>
                <c:pt idx="66">
                  <c:v>87.39</c:v>
                </c:pt>
                <c:pt idx="67">
                  <c:v>85.69</c:v>
                </c:pt>
                <c:pt idx="68">
                  <c:v>85.8</c:v>
                </c:pt>
                <c:pt idx="69">
                  <c:v>86.3</c:v>
                </c:pt>
                <c:pt idx="70">
                  <c:v>85.15</c:v>
                </c:pt>
                <c:pt idx="71">
                  <c:v>86.4</c:v>
                </c:pt>
                <c:pt idx="72">
                  <c:v>86.86</c:v>
                </c:pt>
                <c:pt idx="73">
                  <c:v>86.12</c:v>
                </c:pt>
                <c:pt idx="74">
                  <c:v>86.32</c:v>
                </c:pt>
                <c:pt idx="75">
                  <c:v>86.74</c:v>
                </c:pt>
                <c:pt idx="76">
                  <c:v>88.67</c:v>
                </c:pt>
                <c:pt idx="77">
                  <c:v>85.73</c:v>
                </c:pt>
                <c:pt idx="78">
                  <c:v>86.62</c:v>
                </c:pt>
                <c:pt idx="79">
                  <c:v>86.81</c:v>
                </c:pt>
                <c:pt idx="80">
                  <c:v>87.27</c:v>
                </c:pt>
                <c:pt idx="81">
                  <c:v>85.38</c:v>
                </c:pt>
                <c:pt idx="82">
                  <c:v>86.3</c:v>
                </c:pt>
                <c:pt idx="83">
                  <c:v>85.43</c:v>
                </c:pt>
                <c:pt idx="84">
                  <c:v>88.8</c:v>
                </c:pt>
                <c:pt idx="85">
                  <c:v>85.89</c:v>
                </c:pt>
                <c:pt idx="86">
                  <c:v>89.84</c:v>
                </c:pt>
                <c:pt idx="87">
                  <c:v>85.58</c:v>
                </c:pt>
                <c:pt idx="88">
                  <c:v>85.06</c:v>
                </c:pt>
                <c:pt idx="89">
                  <c:v>85.52</c:v>
                </c:pt>
                <c:pt idx="90">
                  <c:v>86.52</c:v>
                </c:pt>
                <c:pt idx="91">
                  <c:v>86.12</c:v>
                </c:pt>
                <c:pt idx="92">
                  <c:v>86.01</c:v>
                </c:pt>
                <c:pt idx="93">
                  <c:v>85.77</c:v>
                </c:pt>
                <c:pt idx="94">
                  <c:v>85.98</c:v>
                </c:pt>
                <c:pt idx="95">
                  <c:v>87.42</c:v>
                </c:pt>
                <c:pt idx="96">
                  <c:v>86.4</c:v>
                </c:pt>
                <c:pt idx="97">
                  <c:v>85.41</c:v>
                </c:pt>
                <c:pt idx="98">
                  <c:v>84.81</c:v>
                </c:pt>
                <c:pt idx="99">
                  <c:v>86.98</c:v>
                </c:pt>
                <c:pt idx="100">
                  <c:v>84.86</c:v>
                </c:pt>
                <c:pt idx="101">
                  <c:v>87.33</c:v>
                </c:pt>
                <c:pt idx="102">
                  <c:v>84.72</c:v>
                </c:pt>
                <c:pt idx="103">
                  <c:v>85.7</c:v>
                </c:pt>
                <c:pt idx="104">
                  <c:v>87.69</c:v>
                </c:pt>
                <c:pt idx="105">
                  <c:v>86.29</c:v>
                </c:pt>
                <c:pt idx="106">
                  <c:v>83.86</c:v>
                </c:pt>
                <c:pt idx="107">
                  <c:v>84.81</c:v>
                </c:pt>
                <c:pt idx="108">
                  <c:v>84.36</c:v>
                </c:pt>
                <c:pt idx="109">
                  <c:v>85.22</c:v>
                </c:pt>
                <c:pt idx="110">
                  <c:v>85.64</c:v>
                </c:pt>
                <c:pt idx="111">
                  <c:v>88.41</c:v>
                </c:pt>
                <c:pt idx="112">
                  <c:v>86.46</c:v>
                </c:pt>
                <c:pt idx="113">
                  <c:v>85.1</c:v>
                </c:pt>
                <c:pt idx="114">
                  <c:v>84.55</c:v>
                </c:pt>
                <c:pt idx="115">
                  <c:v>85.7</c:v>
                </c:pt>
                <c:pt idx="116">
                  <c:v>88.99</c:v>
                </c:pt>
                <c:pt idx="117">
                  <c:v>85.99</c:v>
                </c:pt>
                <c:pt idx="118">
                  <c:v>85.64</c:v>
                </c:pt>
                <c:pt idx="119">
                  <c:v>84.84</c:v>
                </c:pt>
                <c:pt idx="120">
                  <c:v>85.38</c:v>
                </c:pt>
                <c:pt idx="121">
                  <c:v>86.02</c:v>
                </c:pt>
                <c:pt idx="122">
                  <c:v>84.66</c:v>
                </c:pt>
                <c:pt idx="123">
                  <c:v>85.88</c:v>
                </c:pt>
                <c:pt idx="124">
                  <c:v>86.48</c:v>
                </c:pt>
                <c:pt idx="125">
                  <c:v>85.96</c:v>
                </c:pt>
                <c:pt idx="126">
                  <c:v>86.7</c:v>
                </c:pt>
                <c:pt idx="127">
                  <c:v>85.76</c:v>
                </c:pt>
                <c:pt idx="128">
                  <c:v>85.54</c:v>
                </c:pt>
                <c:pt idx="129">
                  <c:v>86.32</c:v>
                </c:pt>
                <c:pt idx="130">
                  <c:v>84.74</c:v>
                </c:pt>
                <c:pt idx="131">
                  <c:v>85.21</c:v>
                </c:pt>
                <c:pt idx="132">
                  <c:v>85.09</c:v>
                </c:pt>
                <c:pt idx="133">
                  <c:v>85.56</c:v>
                </c:pt>
                <c:pt idx="134">
                  <c:v>87.23</c:v>
                </c:pt>
                <c:pt idx="135">
                  <c:v>87.22</c:v>
                </c:pt>
                <c:pt idx="136">
                  <c:v>84.56</c:v>
                </c:pt>
                <c:pt idx="137">
                  <c:v>84.72</c:v>
                </c:pt>
                <c:pt idx="138">
                  <c:v>84.15</c:v>
                </c:pt>
                <c:pt idx="139">
                  <c:v>86.9</c:v>
                </c:pt>
                <c:pt idx="140">
                  <c:v>84.11</c:v>
                </c:pt>
                <c:pt idx="141">
                  <c:v>85.43</c:v>
                </c:pt>
                <c:pt idx="142">
                  <c:v>86.93</c:v>
                </c:pt>
                <c:pt idx="143">
                  <c:v>85.02</c:v>
                </c:pt>
                <c:pt idx="144">
                  <c:v>86.7</c:v>
                </c:pt>
                <c:pt idx="145">
                  <c:v>84.67</c:v>
                </c:pt>
                <c:pt idx="146">
                  <c:v>83.4</c:v>
                </c:pt>
                <c:pt idx="147">
                  <c:v>87.42</c:v>
                </c:pt>
                <c:pt idx="148">
                  <c:v>83.48</c:v>
                </c:pt>
                <c:pt idx="149">
                  <c:v>86.35</c:v>
                </c:pt>
                <c:pt idx="150">
                  <c:v>87.35</c:v>
                </c:pt>
                <c:pt idx="151">
                  <c:v>84.07</c:v>
                </c:pt>
                <c:pt idx="152">
                  <c:v>87.38</c:v>
                </c:pt>
                <c:pt idx="153">
                  <c:v>85.09</c:v>
                </c:pt>
                <c:pt idx="154">
                  <c:v>84.83</c:v>
                </c:pt>
                <c:pt idx="155">
                  <c:v>86.05</c:v>
                </c:pt>
                <c:pt idx="156">
                  <c:v>84.04</c:v>
                </c:pt>
                <c:pt idx="157">
                  <c:v>86.19</c:v>
                </c:pt>
                <c:pt idx="158">
                  <c:v>83.5</c:v>
                </c:pt>
                <c:pt idx="159">
                  <c:v>86.52</c:v>
                </c:pt>
                <c:pt idx="160">
                  <c:v>84.68</c:v>
                </c:pt>
                <c:pt idx="161">
                  <c:v>85.3</c:v>
                </c:pt>
                <c:pt idx="162">
                  <c:v>87.63</c:v>
                </c:pt>
                <c:pt idx="163">
                  <c:v>82.18</c:v>
                </c:pt>
                <c:pt idx="164">
                  <c:v>83.58</c:v>
                </c:pt>
                <c:pt idx="165">
                  <c:v>83.47</c:v>
                </c:pt>
                <c:pt idx="166">
                  <c:v>83.48</c:v>
                </c:pt>
                <c:pt idx="167">
                  <c:v>83.98</c:v>
                </c:pt>
                <c:pt idx="168">
                  <c:v>83.32</c:v>
                </c:pt>
                <c:pt idx="169">
                  <c:v>86.79</c:v>
                </c:pt>
                <c:pt idx="170">
                  <c:v>82.59</c:v>
                </c:pt>
                <c:pt idx="171">
                  <c:v>81.19</c:v>
                </c:pt>
                <c:pt idx="172">
                  <c:v>82.28</c:v>
                </c:pt>
                <c:pt idx="173">
                  <c:v>87.13</c:v>
                </c:pt>
                <c:pt idx="174">
                  <c:v>85.7</c:v>
                </c:pt>
                <c:pt idx="175">
                  <c:v>84.27</c:v>
                </c:pt>
                <c:pt idx="176">
                  <c:v>85.05</c:v>
                </c:pt>
                <c:pt idx="177">
                  <c:v>84.73</c:v>
                </c:pt>
                <c:pt idx="178">
                  <c:v>85.43</c:v>
                </c:pt>
                <c:pt idx="179">
                  <c:v>84.84</c:v>
                </c:pt>
                <c:pt idx="180">
                  <c:v>80.34</c:v>
                </c:pt>
                <c:pt idx="181">
                  <c:v>84.71</c:v>
                </c:pt>
                <c:pt idx="182">
                  <c:v>83.85</c:v>
                </c:pt>
              </c:numCache>
            </c:numRef>
          </c:xVal>
          <c:yVal>
            <c:numRef>
              <c:f>'Fusion data'!$D$2:$D$184</c:f>
              <c:numCache>
                <c:formatCode>General</c:formatCode>
                <c:ptCount val="183"/>
                <c:pt idx="0">
                  <c:v>93.14</c:v>
                </c:pt>
                <c:pt idx="1">
                  <c:v>93.66</c:v>
                </c:pt>
                <c:pt idx="2">
                  <c:v>93.16</c:v>
                </c:pt>
                <c:pt idx="3">
                  <c:v>93.02</c:v>
                </c:pt>
                <c:pt idx="4">
                  <c:v>92.78</c:v>
                </c:pt>
                <c:pt idx="5">
                  <c:v>93.76</c:v>
                </c:pt>
                <c:pt idx="6">
                  <c:v>92.99</c:v>
                </c:pt>
                <c:pt idx="7">
                  <c:v>92.63</c:v>
                </c:pt>
                <c:pt idx="8">
                  <c:v>93.18</c:v>
                </c:pt>
                <c:pt idx="9">
                  <c:v>92.31</c:v>
                </c:pt>
                <c:pt idx="10">
                  <c:v>93.13</c:v>
                </c:pt>
                <c:pt idx="11">
                  <c:v>92.46</c:v>
                </c:pt>
                <c:pt idx="12">
                  <c:v>93.48</c:v>
                </c:pt>
                <c:pt idx="13">
                  <c:v>92.28</c:v>
                </c:pt>
                <c:pt idx="14">
                  <c:v>92.24</c:v>
                </c:pt>
                <c:pt idx="15">
                  <c:v>92.27</c:v>
                </c:pt>
                <c:pt idx="16">
                  <c:v>92.77</c:v>
                </c:pt>
                <c:pt idx="17">
                  <c:v>91.6</c:v>
                </c:pt>
                <c:pt idx="18">
                  <c:v>92.07</c:v>
                </c:pt>
                <c:pt idx="19">
                  <c:v>93.07</c:v>
                </c:pt>
                <c:pt idx="20">
                  <c:v>93.03</c:v>
                </c:pt>
                <c:pt idx="21">
                  <c:v>92.98</c:v>
                </c:pt>
                <c:pt idx="22">
                  <c:v>91.22</c:v>
                </c:pt>
                <c:pt idx="23">
                  <c:v>93.18</c:v>
                </c:pt>
                <c:pt idx="24">
                  <c:v>93.49</c:v>
                </c:pt>
                <c:pt idx="25">
                  <c:v>93.55</c:v>
                </c:pt>
                <c:pt idx="26">
                  <c:v>91.5</c:v>
                </c:pt>
                <c:pt idx="27">
                  <c:v>91.86</c:v>
                </c:pt>
                <c:pt idx="28">
                  <c:v>92.91</c:v>
                </c:pt>
                <c:pt idx="29">
                  <c:v>91.42</c:v>
                </c:pt>
                <c:pt idx="30">
                  <c:v>93.33</c:v>
                </c:pt>
                <c:pt idx="31">
                  <c:v>90.14</c:v>
                </c:pt>
                <c:pt idx="32">
                  <c:v>92.65</c:v>
                </c:pt>
                <c:pt idx="33">
                  <c:v>91.06</c:v>
                </c:pt>
                <c:pt idx="34">
                  <c:v>91.56</c:v>
                </c:pt>
                <c:pt idx="35">
                  <c:v>91.59</c:v>
                </c:pt>
                <c:pt idx="36">
                  <c:v>94.1</c:v>
                </c:pt>
                <c:pt idx="37">
                  <c:v>92.47</c:v>
                </c:pt>
                <c:pt idx="38">
                  <c:v>91.75</c:v>
                </c:pt>
                <c:pt idx="39">
                  <c:v>91.81</c:v>
                </c:pt>
                <c:pt idx="40">
                  <c:v>91.58</c:v>
                </c:pt>
                <c:pt idx="41">
                  <c:v>89.32</c:v>
                </c:pt>
                <c:pt idx="42">
                  <c:v>93.17</c:v>
                </c:pt>
                <c:pt idx="43">
                  <c:v>90.33</c:v>
                </c:pt>
                <c:pt idx="44">
                  <c:v>94.27</c:v>
                </c:pt>
                <c:pt idx="45">
                  <c:v>89.12</c:v>
                </c:pt>
                <c:pt idx="46">
                  <c:v>93.31</c:v>
                </c:pt>
                <c:pt idx="47">
                  <c:v>93.19</c:v>
                </c:pt>
                <c:pt idx="48">
                  <c:v>92.71</c:v>
                </c:pt>
                <c:pt idx="49">
                  <c:v>90.05</c:v>
                </c:pt>
                <c:pt idx="50">
                  <c:v>93.12</c:v>
                </c:pt>
                <c:pt idx="51">
                  <c:v>89.08</c:v>
                </c:pt>
                <c:pt idx="52">
                  <c:v>92.93</c:v>
                </c:pt>
                <c:pt idx="53">
                  <c:v>89.03</c:v>
                </c:pt>
                <c:pt idx="54">
                  <c:v>93.11</c:v>
                </c:pt>
                <c:pt idx="55">
                  <c:v>92.81</c:v>
                </c:pt>
                <c:pt idx="56">
                  <c:v>93.37</c:v>
                </c:pt>
                <c:pt idx="57">
                  <c:v>88.88</c:v>
                </c:pt>
                <c:pt idx="58">
                  <c:v>93.16</c:v>
                </c:pt>
                <c:pt idx="59">
                  <c:v>92.42</c:v>
                </c:pt>
                <c:pt idx="60">
                  <c:v>93.32</c:v>
                </c:pt>
                <c:pt idx="61">
                  <c:v>93.55</c:v>
                </c:pt>
                <c:pt idx="62">
                  <c:v>89.59</c:v>
                </c:pt>
                <c:pt idx="63">
                  <c:v>90.68</c:v>
                </c:pt>
                <c:pt idx="64">
                  <c:v>94.13</c:v>
                </c:pt>
                <c:pt idx="65">
                  <c:v>90.43</c:v>
                </c:pt>
                <c:pt idx="66">
                  <c:v>91.93</c:v>
                </c:pt>
                <c:pt idx="67">
                  <c:v>93.61</c:v>
                </c:pt>
                <c:pt idx="68">
                  <c:v>93.48</c:v>
                </c:pt>
                <c:pt idx="69">
                  <c:v>92.96</c:v>
                </c:pt>
                <c:pt idx="70">
                  <c:v>94.1</c:v>
                </c:pt>
                <c:pt idx="71">
                  <c:v>92.82</c:v>
                </c:pt>
                <c:pt idx="72">
                  <c:v>92.18</c:v>
                </c:pt>
                <c:pt idx="73">
                  <c:v>92.87</c:v>
                </c:pt>
                <c:pt idx="74">
                  <c:v>92.64</c:v>
                </c:pt>
                <c:pt idx="75">
                  <c:v>92.21</c:v>
                </c:pt>
                <c:pt idx="76">
                  <c:v>90.23</c:v>
                </c:pt>
                <c:pt idx="77">
                  <c:v>93.17</c:v>
                </c:pt>
                <c:pt idx="78">
                  <c:v>92.27</c:v>
                </c:pt>
                <c:pt idx="79">
                  <c:v>92.04</c:v>
                </c:pt>
                <c:pt idx="80">
                  <c:v>91.56</c:v>
                </c:pt>
                <c:pt idx="81">
                  <c:v>93.44</c:v>
                </c:pt>
                <c:pt idx="82">
                  <c:v>92.5</c:v>
                </c:pt>
                <c:pt idx="83">
                  <c:v>93.26</c:v>
                </c:pt>
                <c:pt idx="84">
                  <c:v>89.86</c:v>
                </c:pt>
                <c:pt idx="85">
                  <c:v>92.76</c:v>
                </c:pt>
                <c:pt idx="86">
                  <c:v>88.78</c:v>
                </c:pt>
                <c:pt idx="87">
                  <c:v>93.04</c:v>
                </c:pt>
                <c:pt idx="88">
                  <c:v>93.54</c:v>
                </c:pt>
                <c:pt idx="89">
                  <c:v>93.07</c:v>
                </c:pt>
                <c:pt idx="90">
                  <c:v>92.02</c:v>
                </c:pt>
                <c:pt idx="91">
                  <c:v>92.42</c:v>
                </c:pt>
                <c:pt idx="92">
                  <c:v>92.5</c:v>
                </c:pt>
                <c:pt idx="93">
                  <c:v>92.69</c:v>
                </c:pt>
                <c:pt idx="94">
                  <c:v>92.44</c:v>
                </c:pt>
                <c:pt idx="95">
                  <c:v>90.97</c:v>
                </c:pt>
                <c:pt idx="96">
                  <c:v>91.95</c:v>
                </c:pt>
                <c:pt idx="97">
                  <c:v>92.94</c:v>
                </c:pt>
                <c:pt idx="98">
                  <c:v>93.53</c:v>
                </c:pt>
                <c:pt idx="99">
                  <c:v>91.28</c:v>
                </c:pt>
                <c:pt idx="100">
                  <c:v>93.41</c:v>
                </c:pt>
                <c:pt idx="101">
                  <c:v>90.92</c:v>
                </c:pt>
                <c:pt idx="102">
                  <c:v>93.41</c:v>
                </c:pt>
                <c:pt idx="103">
                  <c:v>92.37</c:v>
                </c:pt>
                <c:pt idx="104">
                  <c:v>90.33</c:v>
                </c:pt>
                <c:pt idx="105">
                  <c:v>91.68</c:v>
                </c:pt>
                <c:pt idx="106">
                  <c:v>94.12</c:v>
                </c:pt>
                <c:pt idx="107">
                  <c:v>93.09</c:v>
                </c:pt>
                <c:pt idx="108">
                  <c:v>93.54</c:v>
                </c:pt>
                <c:pt idx="109">
                  <c:v>92.62</c:v>
                </c:pt>
                <c:pt idx="110">
                  <c:v>92.18</c:v>
                </c:pt>
                <c:pt idx="111">
                  <c:v>89.33</c:v>
                </c:pt>
                <c:pt idx="112">
                  <c:v>91.28</c:v>
                </c:pt>
                <c:pt idx="113">
                  <c:v>92.61</c:v>
                </c:pt>
                <c:pt idx="114">
                  <c:v>93.15</c:v>
                </c:pt>
                <c:pt idx="115">
                  <c:v>91.97</c:v>
                </c:pt>
                <c:pt idx="116">
                  <c:v>88.63</c:v>
                </c:pt>
                <c:pt idx="117">
                  <c:v>91.54</c:v>
                </c:pt>
                <c:pt idx="118">
                  <c:v>91.88</c:v>
                </c:pt>
                <c:pt idx="119">
                  <c:v>92.65</c:v>
                </c:pt>
                <c:pt idx="120">
                  <c:v>92.1</c:v>
                </c:pt>
                <c:pt idx="121">
                  <c:v>91.37</c:v>
                </c:pt>
                <c:pt idx="122">
                  <c:v>92.64</c:v>
                </c:pt>
                <c:pt idx="123">
                  <c:v>91.28</c:v>
                </c:pt>
                <c:pt idx="124">
                  <c:v>90.64</c:v>
                </c:pt>
                <c:pt idx="125">
                  <c:v>91.16</c:v>
                </c:pt>
                <c:pt idx="126">
                  <c:v>90.39</c:v>
                </c:pt>
                <c:pt idx="127">
                  <c:v>91.29</c:v>
                </c:pt>
                <c:pt idx="128">
                  <c:v>91.46</c:v>
                </c:pt>
                <c:pt idx="129">
                  <c:v>90.63</c:v>
                </c:pt>
                <c:pt idx="130">
                  <c:v>92.21</c:v>
                </c:pt>
                <c:pt idx="131">
                  <c:v>91.71</c:v>
                </c:pt>
                <c:pt idx="132">
                  <c:v>91.76</c:v>
                </c:pt>
                <c:pt idx="133">
                  <c:v>91.26</c:v>
                </c:pt>
                <c:pt idx="134">
                  <c:v>89.51</c:v>
                </c:pt>
                <c:pt idx="135">
                  <c:v>89.49</c:v>
                </c:pt>
                <c:pt idx="136">
                  <c:v>92.09</c:v>
                </c:pt>
                <c:pt idx="137">
                  <c:v>91.92</c:v>
                </c:pt>
                <c:pt idx="138">
                  <c:v>92.43</c:v>
                </c:pt>
                <c:pt idx="139">
                  <c:v>89.67</c:v>
                </c:pt>
                <c:pt idx="140">
                  <c:v>92.43</c:v>
                </c:pt>
                <c:pt idx="141">
                  <c:v>91.09</c:v>
                </c:pt>
                <c:pt idx="142">
                  <c:v>89.58</c:v>
                </c:pt>
                <c:pt idx="143">
                  <c:v>91.44</c:v>
                </c:pt>
                <c:pt idx="144">
                  <c:v>89.74</c:v>
                </c:pt>
                <c:pt idx="145">
                  <c:v>91.77</c:v>
                </c:pt>
                <c:pt idx="146">
                  <c:v>93.02</c:v>
                </c:pt>
                <c:pt idx="147">
                  <c:v>88.97</c:v>
                </c:pt>
                <c:pt idx="148">
                  <c:v>92.89</c:v>
                </c:pt>
                <c:pt idx="149">
                  <c:v>89.96</c:v>
                </c:pt>
                <c:pt idx="150">
                  <c:v>88.91</c:v>
                </c:pt>
                <c:pt idx="151">
                  <c:v>92.15</c:v>
                </c:pt>
                <c:pt idx="152">
                  <c:v>88.75</c:v>
                </c:pt>
                <c:pt idx="153">
                  <c:v>90.99</c:v>
                </c:pt>
                <c:pt idx="154">
                  <c:v>91.25</c:v>
                </c:pt>
                <c:pt idx="155">
                  <c:v>90.02</c:v>
                </c:pt>
                <c:pt idx="156">
                  <c:v>91.9</c:v>
                </c:pt>
                <c:pt idx="157">
                  <c:v>89.7</c:v>
                </c:pt>
                <c:pt idx="158">
                  <c:v>92.38</c:v>
                </c:pt>
                <c:pt idx="159">
                  <c:v>89.29</c:v>
                </c:pt>
                <c:pt idx="160">
                  <c:v>91.14</c:v>
                </c:pt>
                <c:pt idx="161">
                  <c:v>90.31</c:v>
                </c:pt>
                <c:pt idx="162">
                  <c:v>87.96</c:v>
                </c:pt>
                <c:pt idx="163">
                  <c:v>93.12</c:v>
                </c:pt>
                <c:pt idx="164">
                  <c:v>91.5</c:v>
                </c:pt>
                <c:pt idx="165">
                  <c:v>91.44</c:v>
                </c:pt>
                <c:pt idx="166">
                  <c:v>91.4</c:v>
                </c:pt>
                <c:pt idx="167">
                  <c:v>90.81</c:v>
                </c:pt>
                <c:pt idx="168">
                  <c:v>91.38</c:v>
                </c:pt>
                <c:pt idx="169">
                  <c:v>87.74</c:v>
                </c:pt>
                <c:pt idx="170">
                  <c:v>91.77</c:v>
                </c:pt>
                <c:pt idx="171">
                  <c:v>92.69</c:v>
                </c:pt>
                <c:pt idx="172">
                  <c:v>91.35</c:v>
                </c:pt>
                <c:pt idx="173">
                  <c:v>86.29</c:v>
                </c:pt>
                <c:pt idx="174">
                  <c:v>87.26</c:v>
                </c:pt>
                <c:pt idx="175">
                  <c:v>88.65</c:v>
                </c:pt>
                <c:pt idx="176">
                  <c:v>86.92</c:v>
                </c:pt>
                <c:pt idx="177">
                  <c:v>86.27</c:v>
                </c:pt>
                <c:pt idx="178">
                  <c:v>84.14</c:v>
                </c:pt>
                <c:pt idx="179">
                  <c:v>83.1</c:v>
                </c:pt>
                <c:pt idx="180">
                  <c:v>86.63</c:v>
                </c:pt>
                <c:pt idx="181">
                  <c:v>81.9</c:v>
                </c:pt>
                <c:pt idx="182">
                  <c:v>81.7</c:v>
                </c:pt>
              </c:numCache>
            </c:numRef>
          </c:yVal>
          <c:smooth val="0"/>
        </c:ser>
        <c:ser>
          <c:idx val="2"/>
          <c:order val="2"/>
          <c:tx>
            <c:v>TfR1 threshold</c:v>
          </c:tx>
          <c:spPr>
            <a:ln w="12700">
              <a:solidFill>
                <a:srgbClr val="607587"/>
              </a:solidFill>
              <a:prstDash val="dash"/>
            </a:ln>
          </c:spPr>
          <c:marker>
            <c:symbol val="none"/>
          </c:marker>
          <c:xVal>
            <c:numRef>
              <c:f>'Fusion data'!$E$2:$E$3</c:f>
              <c:numCache>
                <c:formatCode>General</c:formatCode>
                <c:ptCount val="2"/>
                <c:pt idx="0">
                  <c:v>80</c:v>
                </c:pt>
                <c:pt idx="1">
                  <c:v>80</c:v>
                </c:pt>
              </c:numCache>
            </c:numRef>
          </c:xVal>
          <c:yVal>
            <c:numRef>
              <c:f>'Fusion data'!$F$2:$F$3</c:f>
              <c:numCache>
                <c:formatCode>General</c:formatCode>
                <c:ptCount val="2"/>
                <c:pt idx="0">
                  <c:v>30</c:v>
                </c:pt>
                <c:pt idx="1">
                  <c:v>100</c:v>
                </c:pt>
              </c:numCache>
            </c:numRef>
          </c:yVal>
          <c:smooth val="0"/>
        </c:ser>
        <c:ser>
          <c:idx val="3"/>
          <c:order val="3"/>
          <c:tx>
            <c:v>Aβ42 threshold</c:v>
          </c:tx>
          <c:spPr>
            <a:ln w="12700">
              <a:solidFill>
                <a:srgbClr val="607587"/>
              </a:solidFill>
              <a:prstDash val="dash"/>
            </a:ln>
          </c:spPr>
          <c:marker>
            <c:symbol val="none"/>
          </c:marker>
          <c:xVal>
            <c:numRef>
              <c:f>'Fusion data'!$G$2:$G$3</c:f>
              <c:numCache>
                <c:formatCode>General</c:formatCode>
                <c:ptCount val="2"/>
                <c:pt idx="0">
                  <c:v>30</c:v>
                </c:pt>
                <c:pt idx="1">
                  <c:v>100</c:v>
                </c:pt>
              </c:numCache>
            </c:numRef>
          </c:xVal>
          <c:yVal>
            <c:numRef>
              <c:f>'Fusion data'!$H$2:$H$3</c:f>
              <c:numCache>
                <c:formatCode>General</c:formatCode>
                <c:ptCount val="2"/>
                <c:pt idx="0">
                  <c:v>80</c:v>
                </c:pt>
                <c:pt idx="1">
                  <c:v>80</c:v>
                </c:pt>
              </c:numCache>
            </c:numRef>
          </c:yVal>
          <c:smooth val="0"/>
        </c:ser>
        <c:axId val="100"/>
        <c:axId val="200"/>
      </c:scatterChart>
      <c:valAx>
        <c:axId val="100"/>
        <c:scaling>
          <c:orientation val="minMax"/>
          <c:max val="100"/>
          <c:min val="30"/>
        </c:scaling>
        <c:delete val="0"/>
        <c:axPos val="b"/>
        <c:majorGridlines>
          <c:spPr>
            <a:ln w="6350">
              <a:solidFill>
                <a:srgbClr val="DAE3EC"/>
              </a:solidFill>
            </a:ln>
          </c:spPr>
        </c:majorGridlines>
        <c:title>
          <c:tx>
            <c:rich>
              <a:bodyPr/>
              <a:lstStyle/>
              <a:p>
                <a:pPr/>
                <a:r>
                  <a:rPr sz="1100">
                    <a:solidFill>
                      <a:srgbClr val="263E53"/>
                    </a:solidFill>
                    <a:latin typeface="Arial"/>
                  </a:rPr>
                  <a:t>TfR1 arm mean pLDDT</a:t>
                </a:r>
              </a:p>
            </c:rich>
          </c:tx>
          <c:overlay val="0"/>
        </c:title>
        <c:numFmt formatCode="0.##" sourceLinked="0"/>
        <c:majorTickMark val="none"/>
        <c:minorTickMark val="none"/>
        <c:tickLblPos val="nextTo"/>
        <c:crossAx val="200"/>
        <c:crosses val="min"/>
        <c:crossBetween val="midCat"/>
        <c:majorUnit val="10"/>
      </c:valAx>
      <c:valAx>
        <c:axId val="200"/>
        <c:scaling>
          <c:orientation val="minMax"/>
          <c:max val="100"/>
          <c:min val="30"/>
        </c:scaling>
        <c:delete val="0"/>
        <c:axPos val="l"/>
        <c:majorGridlines>
          <c:spPr>
            <a:ln w="6350">
              <a:solidFill>
                <a:srgbClr val="DAE3EC"/>
              </a:solidFill>
            </a:ln>
          </c:spPr>
        </c:majorGridlines>
        <c:title>
          <c:tx>
            <c:rich>
              <a:bodyPr/>
              <a:lstStyle/>
              <a:p>
                <a:pPr/>
                <a:r>
                  <a:rPr sz="1100">
                    <a:solidFill>
                      <a:srgbClr val="263E53"/>
                    </a:solidFill>
                    <a:latin typeface="Arial"/>
                  </a:rPr>
                  <a:t>Aβ42 arm mean pLDDT</a:t>
                </a:r>
              </a:p>
            </c:rich>
          </c:tx>
          <c:overlay val="0"/>
        </c:title>
        <c:numFmt formatCode="0.##" sourceLinked="0"/>
        <c:majorTickMark val="none"/>
        <c:minorTickMark val="none"/>
        <c:tickLblPos val="nextTo"/>
        <c:crossAx val="100"/>
        <c:crosses val="min"/>
        <c:crossBetween val="midCat"/>
        <c:majorUnit val="10"/>
      </c:valAx>
      <c:spPr>
        <a:solidFill>
          <a:srgbClr val="FFFFFF"/>
        </a:solidFill>
        <a:ln>
          <a:noFill/>
        </a:ln>
      </c:spPr>
    </c:plotArea>
    <c:plotVisOnly val="1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546B7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Fail ≥1 gate (n = 67)</c:v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D55E00"/>
              </a:solidFill>
              <a:ln w="3175">
                <a:solidFill>
                  <a:srgbClr val="FFFFFF"/>
                </a:solidFill>
              </a:ln>
            </c:spPr>
          </c:marker>
          <c:xVal>
            <c:numRef>
              <c:f>'Fusion data'!$A$2:$A$68</c:f>
              <c:numCache>
                <c:formatCode>General</c:formatCode>
                <c:ptCount val="67"/>
                <c:pt idx="0">
                  <c:v>0.56</c:v>
                </c:pt>
                <c:pt idx="1">
                  <c:v>0.56</c:v>
                </c:pt>
                <c:pt idx="2">
                  <c:v>0.52</c:v>
                </c:pt>
                <c:pt idx="3">
                  <c:v>0.5</c:v>
                </c:pt>
                <c:pt idx="4">
                  <c:v>0.51</c:v>
                </c:pt>
                <c:pt idx="5">
                  <c:v>0.49</c:v>
                </c:pt>
                <c:pt idx="6">
                  <c:v>0.52</c:v>
                </c:pt>
                <c:pt idx="7">
                  <c:v>0.57</c:v>
                </c:pt>
                <c:pt idx="8">
                  <c:v>0.73</c:v>
                </c:pt>
                <c:pt idx="9">
                  <c:v>0.54</c:v>
                </c:pt>
                <c:pt idx="10">
                  <c:v>0.52</c:v>
                </c:pt>
                <c:pt idx="11">
                  <c:v>0.58</c:v>
                </c:pt>
                <c:pt idx="12">
                  <c:v>0.54</c:v>
                </c:pt>
                <c:pt idx="13">
                  <c:v>0.65</c:v>
                </c:pt>
                <c:pt idx="14">
                  <c:v>0.55</c:v>
                </c:pt>
                <c:pt idx="15">
                  <c:v>0.5</c:v>
                </c:pt>
                <c:pt idx="16">
                  <c:v>0.54</c:v>
                </c:pt>
                <c:pt idx="17">
                  <c:v>0.55</c:v>
                </c:pt>
                <c:pt idx="18">
                  <c:v>0.56</c:v>
                </c:pt>
                <c:pt idx="19">
                  <c:v>0.52</c:v>
                </c:pt>
                <c:pt idx="20">
                  <c:v>0.53</c:v>
                </c:pt>
                <c:pt idx="21">
                  <c:v>0.61</c:v>
                </c:pt>
                <c:pt idx="22">
                  <c:v>0.48</c:v>
                </c:pt>
                <c:pt idx="23">
                  <c:v>0.55</c:v>
                </c:pt>
                <c:pt idx="24">
                  <c:v>0.68</c:v>
                </c:pt>
                <c:pt idx="25">
                  <c:v>0.58</c:v>
                </c:pt>
                <c:pt idx="26">
                  <c:v>0.51</c:v>
                </c:pt>
                <c:pt idx="27">
                  <c:v>0.6</c:v>
                </c:pt>
                <c:pt idx="28">
                  <c:v>0.47</c:v>
                </c:pt>
                <c:pt idx="29">
                  <c:v>0.53</c:v>
                </c:pt>
                <c:pt idx="30">
                  <c:v>0.54</c:v>
                </c:pt>
                <c:pt idx="31">
                  <c:v>0.54</c:v>
                </c:pt>
                <c:pt idx="32">
                  <c:v>0.57</c:v>
                </c:pt>
                <c:pt idx="33">
                  <c:v>0.61</c:v>
                </c:pt>
                <c:pt idx="34">
                  <c:v>0.57</c:v>
                </c:pt>
                <c:pt idx="35">
                  <c:v>0.59</c:v>
                </c:pt>
                <c:pt idx="36">
                  <c:v>0.57</c:v>
                </c:pt>
                <c:pt idx="37">
                  <c:v>0.56</c:v>
                </c:pt>
                <c:pt idx="38">
                  <c:v>0.6</c:v>
                </c:pt>
                <c:pt idx="39">
                  <c:v>0.56</c:v>
                </c:pt>
                <c:pt idx="40">
                  <c:v>0.54</c:v>
                </c:pt>
                <c:pt idx="41">
                  <c:v>0.55</c:v>
                </c:pt>
                <c:pt idx="42">
                  <c:v>0.64</c:v>
                </c:pt>
                <c:pt idx="43">
                  <c:v>0.66</c:v>
                </c:pt>
                <c:pt idx="44">
                  <c:v>0.58</c:v>
                </c:pt>
                <c:pt idx="45">
                  <c:v>0.56</c:v>
                </c:pt>
                <c:pt idx="46">
                  <c:v>0.58</c:v>
                </c:pt>
                <c:pt idx="47">
                  <c:v>0.46</c:v>
                </c:pt>
                <c:pt idx="48">
                  <c:v>0.58</c:v>
                </c:pt>
                <c:pt idx="49">
                  <c:v>0.64</c:v>
                </c:pt>
                <c:pt idx="50">
                  <c:v>0.55</c:v>
                </c:pt>
                <c:pt idx="51">
                  <c:v>0.65</c:v>
                </c:pt>
                <c:pt idx="52">
                  <c:v>0.51</c:v>
                </c:pt>
                <c:pt idx="53">
                  <c:v>0.6</c:v>
                </c:pt>
                <c:pt idx="54">
                  <c:v>0.55</c:v>
                </c:pt>
                <c:pt idx="55">
                  <c:v>0.61</c:v>
                </c:pt>
                <c:pt idx="56">
                  <c:v>0.52</c:v>
                </c:pt>
                <c:pt idx="57">
                  <c:v>0.58</c:v>
                </c:pt>
                <c:pt idx="58">
                  <c:v>0.61</c:v>
                </c:pt>
                <c:pt idx="59">
                  <c:v>0.48</c:v>
                </c:pt>
                <c:pt idx="60">
                  <c:v>0.58</c:v>
                </c:pt>
                <c:pt idx="61">
                  <c:v>0.56</c:v>
                </c:pt>
                <c:pt idx="62">
                  <c:v>0.58</c:v>
                </c:pt>
                <c:pt idx="63">
                  <c:v>0.53</c:v>
                </c:pt>
                <c:pt idx="64">
                  <c:v>0.54</c:v>
                </c:pt>
                <c:pt idx="65">
                  <c:v>0.55</c:v>
                </c:pt>
                <c:pt idx="66">
                  <c:v>0.54</c:v>
                </c:pt>
              </c:numCache>
            </c:numRef>
          </c:xVal>
          <c:yVal>
            <c:numRef>
              <c:f>'Fusion data'!$B$2:$B$68</c:f>
              <c:numCache>
                <c:formatCode>General</c:formatCode>
                <c:ptCount val="67"/>
                <c:pt idx="0">
                  <c:v>22.76</c:v>
                </c:pt>
                <c:pt idx="1">
                  <c:v>24.89</c:v>
                </c:pt>
                <c:pt idx="2">
                  <c:v>21.43</c:v>
                </c:pt>
                <c:pt idx="3">
                  <c:v>21.46</c:v>
                </c:pt>
                <c:pt idx="4">
                  <c:v>22.26</c:v>
                </c:pt>
                <c:pt idx="5">
                  <c:v>21.7</c:v>
                </c:pt>
                <c:pt idx="6">
                  <c:v>22.59</c:v>
                </c:pt>
                <c:pt idx="7">
                  <c:v>23.47</c:v>
                </c:pt>
                <c:pt idx="8">
                  <c:v>10.29</c:v>
                </c:pt>
                <c:pt idx="9">
                  <c:v>21.29</c:v>
                </c:pt>
                <c:pt idx="10">
                  <c:v>21.92</c:v>
                </c:pt>
                <c:pt idx="11">
                  <c:v>19.71</c:v>
                </c:pt>
                <c:pt idx="12">
                  <c:v>24.61</c:v>
                </c:pt>
                <c:pt idx="13">
                  <c:v>13.22</c:v>
                </c:pt>
                <c:pt idx="14">
                  <c:v>20.87</c:v>
                </c:pt>
                <c:pt idx="15">
                  <c:v>21.43</c:v>
                </c:pt>
                <c:pt idx="16">
                  <c:v>27.69</c:v>
                </c:pt>
                <c:pt idx="17">
                  <c:v>19.07</c:v>
                </c:pt>
                <c:pt idx="18">
                  <c:v>19.17</c:v>
                </c:pt>
                <c:pt idx="19">
                  <c:v>20.2</c:v>
                </c:pt>
                <c:pt idx="20">
                  <c:v>20.56</c:v>
                </c:pt>
                <c:pt idx="21">
                  <c:v>15.03</c:v>
                </c:pt>
                <c:pt idx="22">
                  <c:v>26.65</c:v>
                </c:pt>
                <c:pt idx="23">
                  <c:v>19.87</c:v>
                </c:pt>
                <c:pt idx="24">
                  <c:v>12.26</c:v>
                </c:pt>
                <c:pt idx="25">
                  <c:v>16.71</c:v>
                </c:pt>
                <c:pt idx="26">
                  <c:v>20.94</c:v>
                </c:pt>
                <c:pt idx="27">
                  <c:v>18.96</c:v>
                </c:pt>
                <c:pt idx="28">
                  <c:v>18.79</c:v>
                </c:pt>
                <c:pt idx="29">
                  <c:v>26.16</c:v>
                </c:pt>
                <c:pt idx="30">
                  <c:v>20.58</c:v>
                </c:pt>
                <c:pt idx="31">
                  <c:v>21.99</c:v>
                </c:pt>
                <c:pt idx="32">
                  <c:v>15.3</c:v>
                </c:pt>
                <c:pt idx="33">
                  <c:v>17.88</c:v>
                </c:pt>
                <c:pt idx="34">
                  <c:v>15.54</c:v>
                </c:pt>
                <c:pt idx="35">
                  <c:v>14.8</c:v>
                </c:pt>
                <c:pt idx="36">
                  <c:v>20.24</c:v>
                </c:pt>
                <c:pt idx="37">
                  <c:v>21.58</c:v>
                </c:pt>
                <c:pt idx="38">
                  <c:v>16.46</c:v>
                </c:pt>
                <c:pt idx="39">
                  <c:v>17.62</c:v>
                </c:pt>
                <c:pt idx="40">
                  <c:v>16.19</c:v>
                </c:pt>
                <c:pt idx="41">
                  <c:v>20.84</c:v>
                </c:pt>
                <c:pt idx="42">
                  <c:v>14.6</c:v>
                </c:pt>
                <c:pt idx="43">
                  <c:v>14.47</c:v>
                </c:pt>
                <c:pt idx="44">
                  <c:v>20.42</c:v>
                </c:pt>
                <c:pt idx="45">
                  <c:v>20.77</c:v>
                </c:pt>
                <c:pt idx="46">
                  <c:v>20.45</c:v>
                </c:pt>
                <c:pt idx="47">
                  <c:v>18.8</c:v>
                </c:pt>
                <c:pt idx="48">
                  <c:v>18.17</c:v>
                </c:pt>
                <c:pt idx="49">
                  <c:v>14.51</c:v>
                </c:pt>
                <c:pt idx="50">
                  <c:v>18.36</c:v>
                </c:pt>
                <c:pt idx="51">
                  <c:v>14.04</c:v>
                </c:pt>
                <c:pt idx="52">
                  <c:v>19.28</c:v>
                </c:pt>
                <c:pt idx="53">
                  <c:v>17.47</c:v>
                </c:pt>
                <c:pt idx="54">
                  <c:v>21.38</c:v>
                </c:pt>
                <c:pt idx="55">
                  <c:v>15.69</c:v>
                </c:pt>
                <c:pt idx="56">
                  <c:v>22.34</c:v>
                </c:pt>
                <c:pt idx="57">
                  <c:v>18.47</c:v>
                </c:pt>
                <c:pt idx="58">
                  <c:v>18.99</c:v>
                </c:pt>
                <c:pt idx="59">
                  <c:v>18.27</c:v>
                </c:pt>
                <c:pt idx="60">
                  <c:v>19.42</c:v>
                </c:pt>
                <c:pt idx="61">
                  <c:v>18.18</c:v>
                </c:pt>
                <c:pt idx="62">
                  <c:v>17.31</c:v>
                </c:pt>
                <c:pt idx="63">
                  <c:v>19.46</c:v>
                </c:pt>
                <c:pt idx="64">
                  <c:v>19.21</c:v>
                </c:pt>
                <c:pt idx="65">
                  <c:v>20.49</c:v>
                </c:pt>
                <c:pt idx="66">
                  <c:v>21.19</c:v>
                </c:pt>
              </c:numCache>
            </c:numRef>
          </c:yVal>
          <c:smooth val="0"/>
        </c:ser>
        <c:ser>
          <c:idx val="1"/>
          <c:order val="1"/>
          <c:tx>
            <c:v>Pass all gates (n = 183)</c:v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0072B2"/>
              </a:solidFill>
              <a:ln w="3175">
                <a:solidFill>
                  <a:srgbClr val="FFFFFF"/>
                </a:solidFill>
              </a:ln>
            </c:spPr>
          </c:marker>
          <c:xVal>
            <c:numRef>
              <c:f>'Fusion data'!$C$2:$C$184</c:f>
              <c:numCache>
                <c:formatCode>General</c:formatCode>
                <c:ptCount val="183"/>
                <c:pt idx="0">
                  <c:v>0.48</c:v>
                </c:pt>
                <c:pt idx="1">
                  <c:v>0.51</c:v>
                </c:pt>
                <c:pt idx="2">
                  <c:v>0.56</c:v>
                </c:pt>
                <c:pt idx="3">
                  <c:v>0.6</c:v>
                </c:pt>
                <c:pt idx="4">
                  <c:v>0.54</c:v>
                </c:pt>
                <c:pt idx="5">
                  <c:v>0.52</c:v>
                </c:pt>
                <c:pt idx="6">
                  <c:v>0.59</c:v>
                </c:pt>
                <c:pt idx="7">
                  <c:v>0.58</c:v>
                </c:pt>
                <c:pt idx="8">
                  <c:v>0.56</c:v>
                </c:pt>
                <c:pt idx="9">
                  <c:v>0.52</c:v>
                </c:pt>
                <c:pt idx="10">
                  <c:v>0.53</c:v>
                </c:pt>
                <c:pt idx="11">
                  <c:v>0.52</c:v>
                </c:pt>
                <c:pt idx="12">
                  <c:v>0.6</c:v>
                </c:pt>
                <c:pt idx="13">
                  <c:v>0.56</c:v>
                </c:pt>
                <c:pt idx="14">
                  <c:v>0.54</c:v>
                </c:pt>
                <c:pt idx="15">
                  <c:v>0.55</c:v>
                </c:pt>
                <c:pt idx="16">
                  <c:v>0.55</c:v>
                </c:pt>
                <c:pt idx="17">
                  <c:v>0.57</c:v>
                </c:pt>
                <c:pt idx="18">
                  <c:v>0.6</c:v>
                </c:pt>
                <c:pt idx="19">
                  <c:v>0.56</c:v>
                </c:pt>
                <c:pt idx="20">
                  <c:v>0.55</c:v>
                </c:pt>
                <c:pt idx="21">
                  <c:v>0.54</c:v>
                </c:pt>
                <c:pt idx="22">
                  <c:v>0.5</c:v>
                </c:pt>
                <c:pt idx="23">
                  <c:v>0.51</c:v>
                </c:pt>
                <c:pt idx="24">
                  <c:v>0.6</c:v>
                </c:pt>
                <c:pt idx="25">
                  <c:v>0.51</c:v>
                </c:pt>
                <c:pt idx="26">
                  <c:v>0.51</c:v>
                </c:pt>
                <c:pt idx="27">
                  <c:v>0.53</c:v>
                </c:pt>
                <c:pt idx="28">
                  <c:v>0.58</c:v>
                </c:pt>
                <c:pt idx="29">
                  <c:v>0.5</c:v>
                </c:pt>
                <c:pt idx="30">
                  <c:v>0.52</c:v>
                </c:pt>
                <c:pt idx="31">
                  <c:v>0.56</c:v>
                </c:pt>
                <c:pt idx="32">
                  <c:v>0.59</c:v>
                </c:pt>
                <c:pt idx="33">
                  <c:v>0.5</c:v>
                </c:pt>
                <c:pt idx="34">
                  <c:v>0.53</c:v>
                </c:pt>
                <c:pt idx="35">
                  <c:v>0.5</c:v>
                </c:pt>
                <c:pt idx="36">
                  <c:v>0.55</c:v>
                </c:pt>
                <c:pt idx="37">
                  <c:v>0.48</c:v>
                </c:pt>
                <c:pt idx="38">
                  <c:v>0.52</c:v>
                </c:pt>
                <c:pt idx="39">
                  <c:v>0.53</c:v>
                </c:pt>
                <c:pt idx="40">
                  <c:v>0.53</c:v>
                </c:pt>
                <c:pt idx="41">
                  <c:v>0.54</c:v>
                </c:pt>
                <c:pt idx="42">
                  <c:v>0.55</c:v>
                </c:pt>
                <c:pt idx="43">
                  <c:v>0.48</c:v>
                </c:pt>
                <c:pt idx="44">
                  <c:v>0.55</c:v>
                </c:pt>
                <c:pt idx="45">
                  <c:v>0.53</c:v>
                </c:pt>
                <c:pt idx="46">
                  <c:v>0.53</c:v>
                </c:pt>
                <c:pt idx="47">
                  <c:v>0.54</c:v>
                </c:pt>
                <c:pt idx="48">
                  <c:v>0.53</c:v>
                </c:pt>
                <c:pt idx="49">
                  <c:v>0.47</c:v>
                </c:pt>
                <c:pt idx="50">
                  <c:v>0.53</c:v>
                </c:pt>
                <c:pt idx="51">
                  <c:v>0.52</c:v>
                </c:pt>
                <c:pt idx="52">
                  <c:v>0.51</c:v>
                </c:pt>
                <c:pt idx="53">
                  <c:v>0.53</c:v>
                </c:pt>
                <c:pt idx="54">
                  <c:v>0.51</c:v>
                </c:pt>
                <c:pt idx="55">
                  <c:v>0.57</c:v>
                </c:pt>
                <c:pt idx="56">
                  <c:v>0.55</c:v>
                </c:pt>
                <c:pt idx="57">
                  <c:v>0.5</c:v>
                </c:pt>
                <c:pt idx="58">
                  <c:v>0.6</c:v>
                </c:pt>
                <c:pt idx="59">
                  <c:v>0.55</c:v>
                </c:pt>
                <c:pt idx="60">
                  <c:v>0.54</c:v>
                </c:pt>
                <c:pt idx="61">
                  <c:v>0.59</c:v>
                </c:pt>
                <c:pt idx="62">
                  <c:v>0.46</c:v>
                </c:pt>
                <c:pt idx="63">
                  <c:v>0.55</c:v>
                </c:pt>
                <c:pt idx="64">
                  <c:v>0.53</c:v>
                </c:pt>
                <c:pt idx="65">
                  <c:v>0.54</c:v>
                </c:pt>
                <c:pt idx="66">
                  <c:v>0.59</c:v>
                </c:pt>
                <c:pt idx="67">
                  <c:v>0.56</c:v>
                </c:pt>
                <c:pt idx="68">
                  <c:v>0.55</c:v>
                </c:pt>
                <c:pt idx="69">
                  <c:v>0.53</c:v>
                </c:pt>
                <c:pt idx="70">
                  <c:v>0.45</c:v>
                </c:pt>
                <c:pt idx="71">
                  <c:v>0.54</c:v>
                </c:pt>
                <c:pt idx="72">
                  <c:v>0.54</c:v>
                </c:pt>
                <c:pt idx="73">
                  <c:v>0.55</c:v>
                </c:pt>
                <c:pt idx="74">
                  <c:v>0.5</c:v>
                </c:pt>
                <c:pt idx="75">
                  <c:v>0.51</c:v>
                </c:pt>
                <c:pt idx="76">
                  <c:v>0.53</c:v>
                </c:pt>
                <c:pt idx="77">
                  <c:v>0.56</c:v>
                </c:pt>
                <c:pt idx="78">
                  <c:v>0.59</c:v>
                </c:pt>
                <c:pt idx="79">
                  <c:v>0.54</c:v>
                </c:pt>
                <c:pt idx="80">
                  <c:v>0.58</c:v>
                </c:pt>
                <c:pt idx="81">
                  <c:v>0.54</c:v>
                </c:pt>
                <c:pt idx="82">
                  <c:v>0.61</c:v>
                </c:pt>
                <c:pt idx="83">
                  <c:v>0.59</c:v>
                </c:pt>
                <c:pt idx="84">
                  <c:v>0.52</c:v>
                </c:pt>
                <c:pt idx="85">
                  <c:v>0.49</c:v>
                </c:pt>
                <c:pt idx="86">
                  <c:v>0.51</c:v>
                </c:pt>
                <c:pt idx="87">
                  <c:v>0.55</c:v>
                </c:pt>
                <c:pt idx="88">
                  <c:v>0.53</c:v>
                </c:pt>
                <c:pt idx="89">
                  <c:v>0.48</c:v>
                </c:pt>
                <c:pt idx="90">
                  <c:v>0.57</c:v>
                </c:pt>
                <c:pt idx="91">
                  <c:v>0.54</c:v>
                </c:pt>
                <c:pt idx="92">
                  <c:v>0.53</c:v>
                </c:pt>
                <c:pt idx="93">
                  <c:v>0.58</c:v>
                </c:pt>
                <c:pt idx="94">
                  <c:v>0.52</c:v>
                </c:pt>
                <c:pt idx="95">
                  <c:v>0.58</c:v>
                </c:pt>
                <c:pt idx="96">
                  <c:v>0.59</c:v>
                </c:pt>
                <c:pt idx="97">
                  <c:v>0.5</c:v>
                </c:pt>
                <c:pt idx="98">
                  <c:v>0.49</c:v>
                </c:pt>
                <c:pt idx="99">
                  <c:v>0.6</c:v>
                </c:pt>
                <c:pt idx="100">
                  <c:v>0.5</c:v>
                </c:pt>
                <c:pt idx="101">
                  <c:v>0.52</c:v>
                </c:pt>
                <c:pt idx="102">
                  <c:v>0.55</c:v>
                </c:pt>
                <c:pt idx="103">
                  <c:v>0.55</c:v>
                </c:pt>
                <c:pt idx="104">
                  <c:v>0.54</c:v>
                </c:pt>
                <c:pt idx="105">
                  <c:v>0.5</c:v>
                </c:pt>
                <c:pt idx="106">
                  <c:v>0.59</c:v>
                </c:pt>
                <c:pt idx="107">
                  <c:v>0.52</c:v>
                </c:pt>
                <c:pt idx="108">
                  <c:v>0.59</c:v>
                </c:pt>
                <c:pt idx="109">
                  <c:v>0.48</c:v>
                </c:pt>
                <c:pt idx="110">
                  <c:v>0.57</c:v>
                </c:pt>
                <c:pt idx="111">
                  <c:v>0.49</c:v>
                </c:pt>
                <c:pt idx="112">
                  <c:v>0.51</c:v>
                </c:pt>
                <c:pt idx="113">
                  <c:v>0.46</c:v>
                </c:pt>
                <c:pt idx="114">
                  <c:v>0.56</c:v>
                </c:pt>
                <c:pt idx="115">
                  <c:v>0.51</c:v>
                </c:pt>
                <c:pt idx="116">
                  <c:v>0.52</c:v>
                </c:pt>
                <c:pt idx="117">
                  <c:v>0.48</c:v>
                </c:pt>
                <c:pt idx="118">
                  <c:v>0.49</c:v>
                </c:pt>
                <c:pt idx="119">
                  <c:v>0.53</c:v>
                </c:pt>
                <c:pt idx="120">
                  <c:v>0.58</c:v>
                </c:pt>
                <c:pt idx="121">
                  <c:v>0.56</c:v>
                </c:pt>
                <c:pt idx="122">
                  <c:v>0.56</c:v>
                </c:pt>
                <c:pt idx="123">
                  <c:v>0.54</c:v>
                </c:pt>
                <c:pt idx="124">
                  <c:v>0.53</c:v>
                </c:pt>
                <c:pt idx="125">
                  <c:v>0.54</c:v>
                </c:pt>
                <c:pt idx="126">
                  <c:v>0.56</c:v>
                </c:pt>
                <c:pt idx="127">
                  <c:v>0.59</c:v>
                </c:pt>
                <c:pt idx="128">
                  <c:v>0.54</c:v>
                </c:pt>
                <c:pt idx="129">
                  <c:v>0.51</c:v>
                </c:pt>
                <c:pt idx="130">
                  <c:v>0.46</c:v>
                </c:pt>
                <c:pt idx="131">
                  <c:v>0.59</c:v>
                </c:pt>
                <c:pt idx="132">
                  <c:v>0.58</c:v>
                </c:pt>
                <c:pt idx="133">
                  <c:v>0.52</c:v>
                </c:pt>
                <c:pt idx="134">
                  <c:v>0.55</c:v>
                </c:pt>
                <c:pt idx="135">
                  <c:v>0.52</c:v>
                </c:pt>
                <c:pt idx="136">
                  <c:v>0.49</c:v>
                </c:pt>
                <c:pt idx="137">
                  <c:v>0.58</c:v>
                </c:pt>
                <c:pt idx="138">
                  <c:v>0.52</c:v>
                </c:pt>
                <c:pt idx="139">
                  <c:v>0.53</c:v>
                </c:pt>
                <c:pt idx="140">
                  <c:v>0.54</c:v>
                </c:pt>
                <c:pt idx="141">
                  <c:v>0.55</c:v>
                </c:pt>
                <c:pt idx="142">
                  <c:v>0.53</c:v>
                </c:pt>
                <c:pt idx="143">
                  <c:v>0.5</c:v>
                </c:pt>
                <c:pt idx="144">
                  <c:v>0.55</c:v>
                </c:pt>
                <c:pt idx="145">
                  <c:v>0.57</c:v>
                </c:pt>
                <c:pt idx="146">
                  <c:v>0.49</c:v>
                </c:pt>
                <c:pt idx="147">
                  <c:v>0.52</c:v>
                </c:pt>
                <c:pt idx="148">
                  <c:v>0.54</c:v>
                </c:pt>
                <c:pt idx="149">
                  <c:v>0.54</c:v>
                </c:pt>
                <c:pt idx="150">
                  <c:v>0.53</c:v>
                </c:pt>
                <c:pt idx="151">
                  <c:v>0.46</c:v>
                </c:pt>
                <c:pt idx="152">
                  <c:v>0.51</c:v>
                </c:pt>
                <c:pt idx="153">
                  <c:v>0.58</c:v>
                </c:pt>
                <c:pt idx="154">
                  <c:v>0.53</c:v>
                </c:pt>
                <c:pt idx="155">
                  <c:v>0.51</c:v>
                </c:pt>
                <c:pt idx="156">
                  <c:v>0.52</c:v>
                </c:pt>
                <c:pt idx="157">
                  <c:v>0.55</c:v>
                </c:pt>
                <c:pt idx="158">
                  <c:v>0.56</c:v>
                </c:pt>
                <c:pt idx="159">
                  <c:v>0.52</c:v>
                </c:pt>
                <c:pt idx="160">
                  <c:v>0.58</c:v>
                </c:pt>
                <c:pt idx="161">
                  <c:v>0.5</c:v>
                </c:pt>
                <c:pt idx="162">
                  <c:v>0.51</c:v>
                </c:pt>
                <c:pt idx="163">
                  <c:v>0.47</c:v>
                </c:pt>
                <c:pt idx="164">
                  <c:v>0.52</c:v>
                </c:pt>
                <c:pt idx="165">
                  <c:v>0.52</c:v>
                </c:pt>
                <c:pt idx="166">
                  <c:v>0.57</c:v>
                </c:pt>
                <c:pt idx="167">
                  <c:v>0.53</c:v>
                </c:pt>
                <c:pt idx="168">
                  <c:v>0.59</c:v>
                </c:pt>
                <c:pt idx="169">
                  <c:v>0.52</c:v>
                </c:pt>
                <c:pt idx="170">
                  <c:v>0.55</c:v>
                </c:pt>
                <c:pt idx="171">
                  <c:v>0.48</c:v>
                </c:pt>
                <c:pt idx="172">
                  <c:v>0.49</c:v>
                </c:pt>
                <c:pt idx="173">
                  <c:v>0.52</c:v>
                </c:pt>
                <c:pt idx="174">
                  <c:v>0.57</c:v>
                </c:pt>
                <c:pt idx="175">
                  <c:v>0.58</c:v>
                </c:pt>
                <c:pt idx="176">
                  <c:v>0.53</c:v>
                </c:pt>
                <c:pt idx="177">
                  <c:v>0.54</c:v>
                </c:pt>
                <c:pt idx="178">
                  <c:v>0.5</c:v>
                </c:pt>
                <c:pt idx="179">
                  <c:v>0.52</c:v>
                </c:pt>
                <c:pt idx="180">
                  <c:v>0.54</c:v>
                </c:pt>
                <c:pt idx="181">
                  <c:v>0.52</c:v>
                </c:pt>
                <c:pt idx="182">
                  <c:v>0.51</c:v>
                </c:pt>
              </c:numCache>
            </c:numRef>
          </c:xVal>
          <c:yVal>
            <c:numRef>
              <c:f>'Fusion data'!$D$2:$D$184</c:f>
              <c:numCache>
                <c:formatCode>General</c:formatCode>
                <c:ptCount val="183"/>
                <c:pt idx="0">
                  <c:v>24.52</c:v>
                </c:pt>
                <c:pt idx="1">
                  <c:v>20.31</c:v>
                </c:pt>
                <c:pt idx="2">
                  <c:v>21.44</c:v>
                </c:pt>
                <c:pt idx="3">
                  <c:v>18.18</c:v>
                </c:pt>
                <c:pt idx="4">
                  <c:v>20.12</c:v>
                </c:pt>
                <c:pt idx="5">
                  <c:v>21.89</c:v>
                </c:pt>
                <c:pt idx="6">
                  <c:v>21.69</c:v>
                </c:pt>
                <c:pt idx="7">
                  <c:v>19.57</c:v>
                </c:pt>
                <c:pt idx="8">
                  <c:v>22.96</c:v>
                </c:pt>
                <c:pt idx="9">
                  <c:v>23.32</c:v>
                </c:pt>
                <c:pt idx="10">
                  <c:v>23.62</c:v>
                </c:pt>
                <c:pt idx="11">
                  <c:v>23.06</c:v>
                </c:pt>
                <c:pt idx="12">
                  <c:v>18.75</c:v>
                </c:pt>
                <c:pt idx="13">
                  <c:v>23.81</c:v>
                </c:pt>
                <c:pt idx="14">
                  <c:v>24.25</c:v>
                </c:pt>
                <c:pt idx="15">
                  <c:v>24.09</c:v>
                </c:pt>
                <c:pt idx="16">
                  <c:v>18.53</c:v>
                </c:pt>
                <c:pt idx="17">
                  <c:v>21.49</c:v>
                </c:pt>
                <c:pt idx="18">
                  <c:v>20.76</c:v>
                </c:pt>
                <c:pt idx="19">
                  <c:v>24.17</c:v>
                </c:pt>
                <c:pt idx="20">
                  <c:v>24.55</c:v>
                </c:pt>
                <c:pt idx="21">
                  <c:v>24.78</c:v>
                </c:pt>
                <c:pt idx="22">
                  <c:v>24.34</c:v>
                </c:pt>
                <c:pt idx="23">
                  <c:v>22.33</c:v>
                </c:pt>
                <c:pt idx="24">
                  <c:v>21.51</c:v>
                </c:pt>
                <c:pt idx="25">
                  <c:v>23.59</c:v>
                </c:pt>
                <c:pt idx="26">
                  <c:v>21.67</c:v>
                </c:pt>
                <c:pt idx="27">
                  <c:v>20.69</c:v>
                </c:pt>
                <c:pt idx="28">
                  <c:v>23.09</c:v>
                </c:pt>
                <c:pt idx="29">
                  <c:v>21.62</c:v>
                </c:pt>
                <c:pt idx="30">
                  <c:v>23.82</c:v>
                </c:pt>
                <c:pt idx="31">
                  <c:v>23.42</c:v>
                </c:pt>
                <c:pt idx="32">
                  <c:v>23.16</c:v>
                </c:pt>
                <c:pt idx="33">
                  <c:v>21.82</c:v>
                </c:pt>
                <c:pt idx="34">
                  <c:v>21.24</c:v>
                </c:pt>
                <c:pt idx="35">
                  <c:v>21.53</c:v>
                </c:pt>
                <c:pt idx="36">
                  <c:v>19.14</c:v>
                </c:pt>
                <c:pt idx="37">
                  <c:v>23.62</c:v>
                </c:pt>
                <c:pt idx="38">
                  <c:v>20.25</c:v>
                </c:pt>
                <c:pt idx="39">
                  <c:v>20.39</c:v>
                </c:pt>
                <c:pt idx="40">
                  <c:v>22.83</c:v>
                </c:pt>
                <c:pt idx="41">
                  <c:v>23.46</c:v>
                </c:pt>
                <c:pt idx="42">
                  <c:v>23.49</c:v>
                </c:pt>
                <c:pt idx="43">
                  <c:v>22.27</c:v>
                </c:pt>
                <c:pt idx="44">
                  <c:v>23.04</c:v>
                </c:pt>
                <c:pt idx="45">
                  <c:v>23.91</c:v>
                </c:pt>
                <c:pt idx="46">
                  <c:v>23.43</c:v>
                </c:pt>
                <c:pt idx="47">
                  <c:v>23.36</c:v>
                </c:pt>
                <c:pt idx="48">
                  <c:v>23.68</c:v>
                </c:pt>
                <c:pt idx="49">
                  <c:v>22.69</c:v>
                </c:pt>
                <c:pt idx="50">
                  <c:v>23.52</c:v>
                </c:pt>
                <c:pt idx="51">
                  <c:v>24.0</c:v>
                </c:pt>
                <c:pt idx="52">
                  <c:v>23.47</c:v>
                </c:pt>
                <c:pt idx="53">
                  <c:v>22.42</c:v>
                </c:pt>
                <c:pt idx="54">
                  <c:v>23.05</c:v>
                </c:pt>
                <c:pt idx="55">
                  <c:v>23.04</c:v>
                </c:pt>
                <c:pt idx="56">
                  <c:v>24.86</c:v>
                </c:pt>
                <c:pt idx="57">
                  <c:v>22.79</c:v>
                </c:pt>
                <c:pt idx="58">
                  <c:v>19.15</c:v>
                </c:pt>
                <c:pt idx="59">
                  <c:v>24.48</c:v>
                </c:pt>
                <c:pt idx="60">
                  <c:v>25.06</c:v>
                </c:pt>
                <c:pt idx="61">
                  <c:v>20.89</c:v>
                </c:pt>
                <c:pt idx="62">
                  <c:v>23.1</c:v>
                </c:pt>
                <c:pt idx="63">
                  <c:v>20.37</c:v>
                </c:pt>
                <c:pt idx="64">
                  <c:v>23.62</c:v>
                </c:pt>
                <c:pt idx="65">
                  <c:v>24.29</c:v>
                </c:pt>
                <c:pt idx="66">
                  <c:v>19.34</c:v>
                </c:pt>
                <c:pt idx="67">
                  <c:v>23.3</c:v>
                </c:pt>
                <c:pt idx="68">
                  <c:v>20.87</c:v>
                </c:pt>
                <c:pt idx="69">
                  <c:v>22.04</c:v>
                </c:pt>
                <c:pt idx="70">
                  <c:v>25.75</c:v>
                </c:pt>
                <c:pt idx="71">
                  <c:v>22.08</c:v>
                </c:pt>
                <c:pt idx="72">
                  <c:v>25.98</c:v>
                </c:pt>
                <c:pt idx="73">
                  <c:v>22.06</c:v>
                </c:pt>
                <c:pt idx="74">
                  <c:v>22.76</c:v>
                </c:pt>
                <c:pt idx="75">
                  <c:v>22.92</c:v>
                </c:pt>
                <c:pt idx="76">
                  <c:v>24.24</c:v>
                </c:pt>
                <c:pt idx="77">
                  <c:v>24.14</c:v>
                </c:pt>
                <c:pt idx="78">
                  <c:v>21.87</c:v>
                </c:pt>
                <c:pt idx="79">
                  <c:v>22.69</c:v>
                </c:pt>
                <c:pt idx="80">
                  <c:v>22.32</c:v>
                </c:pt>
                <c:pt idx="81">
                  <c:v>23.75</c:v>
                </c:pt>
                <c:pt idx="82">
                  <c:v>22.24</c:v>
                </c:pt>
                <c:pt idx="83">
                  <c:v>21.36</c:v>
                </c:pt>
                <c:pt idx="84">
                  <c:v>24.52</c:v>
                </c:pt>
                <c:pt idx="85">
                  <c:v>23.65</c:v>
                </c:pt>
                <c:pt idx="86">
                  <c:v>23.04</c:v>
                </c:pt>
                <c:pt idx="87">
                  <c:v>23.03</c:v>
                </c:pt>
                <c:pt idx="88">
                  <c:v>23.36</c:v>
                </c:pt>
                <c:pt idx="89">
                  <c:v>24.51</c:v>
                </c:pt>
                <c:pt idx="90">
                  <c:v>20.04</c:v>
                </c:pt>
                <c:pt idx="91">
                  <c:v>22.29</c:v>
                </c:pt>
                <c:pt idx="92">
                  <c:v>23.74</c:v>
                </c:pt>
                <c:pt idx="93">
                  <c:v>20.26</c:v>
                </c:pt>
                <c:pt idx="94">
                  <c:v>25.1</c:v>
                </c:pt>
                <c:pt idx="95">
                  <c:v>21.7</c:v>
                </c:pt>
                <c:pt idx="96">
                  <c:v>22.06</c:v>
                </c:pt>
                <c:pt idx="97">
                  <c:v>23.7</c:v>
                </c:pt>
                <c:pt idx="98">
                  <c:v>23.32</c:v>
                </c:pt>
                <c:pt idx="99">
                  <c:v>20.62</c:v>
                </c:pt>
                <c:pt idx="100">
                  <c:v>23.79</c:v>
                </c:pt>
                <c:pt idx="101">
                  <c:v>24.78</c:v>
                </c:pt>
                <c:pt idx="102">
                  <c:v>22.69</c:v>
                </c:pt>
                <c:pt idx="103">
                  <c:v>22.26</c:v>
                </c:pt>
                <c:pt idx="104">
                  <c:v>23.06</c:v>
                </c:pt>
                <c:pt idx="105">
                  <c:v>25.13</c:v>
                </c:pt>
                <c:pt idx="106">
                  <c:v>23.25</c:v>
                </c:pt>
                <c:pt idx="107">
                  <c:v>23.82</c:v>
                </c:pt>
                <c:pt idx="108">
                  <c:v>23.44</c:v>
                </c:pt>
                <c:pt idx="109">
                  <c:v>27.02</c:v>
                </c:pt>
                <c:pt idx="110">
                  <c:v>22.11</c:v>
                </c:pt>
                <c:pt idx="111">
                  <c:v>22.86</c:v>
                </c:pt>
                <c:pt idx="112">
                  <c:v>25.31</c:v>
                </c:pt>
                <c:pt idx="113">
                  <c:v>25.88</c:v>
                </c:pt>
                <c:pt idx="114">
                  <c:v>23.73</c:v>
                </c:pt>
                <c:pt idx="115">
                  <c:v>25.25</c:v>
                </c:pt>
                <c:pt idx="116">
                  <c:v>21.95</c:v>
                </c:pt>
                <c:pt idx="117">
                  <c:v>23.57</c:v>
                </c:pt>
                <c:pt idx="118">
                  <c:v>25.28</c:v>
                </c:pt>
                <c:pt idx="119">
                  <c:v>25.27</c:v>
                </c:pt>
                <c:pt idx="120">
                  <c:v>23.33</c:v>
                </c:pt>
                <c:pt idx="121">
                  <c:v>21.02</c:v>
                </c:pt>
                <c:pt idx="122">
                  <c:v>23.4</c:v>
                </c:pt>
                <c:pt idx="123">
                  <c:v>21.19</c:v>
                </c:pt>
                <c:pt idx="124">
                  <c:v>23.76</c:v>
                </c:pt>
                <c:pt idx="125">
                  <c:v>24.2</c:v>
                </c:pt>
                <c:pt idx="126">
                  <c:v>24.26</c:v>
                </c:pt>
                <c:pt idx="127">
                  <c:v>22.57</c:v>
                </c:pt>
                <c:pt idx="128">
                  <c:v>24.21</c:v>
                </c:pt>
                <c:pt idx="129">
                  <c:v>24.75</c:v>
                </c:pt>
                <c:pt idx="130">
                  <c:v>25.76</c:v>
                </c:pt>
                <c:pt idx="131">
                  <c:v>20.68</c:v>
                </c:pt>
                <c:pt idx="132">
                  <c:v>22.73</c:v>
                </c:pt>
                <c:pt idx="133">
                  <c:v>25.88</c:v>
                </c:pt>
                <c:pt idx="134">
                  <c:v>23.13</c:v>
                </c:pt>
                <c:pt idx="135">
                  <c:v>24.75</c:v>
                </c:pt>
                <c:pt idx="136">
                  <c:v>23.91</c:v>
                </c:pt>
                <c:pt idx="137">
                  <c:v>22.32</c:v>
                </c:pt>
                <c:pt idx="138">
                  <c:v>22.85</c:v>
                </c:pt>
                <c:pt idx="139">
                  <c:v>23.42</c:v>
                </c:pt>
                <c:pt idx="140">
                  <c:v>23.49</c:v>
                </c:pt>
                <c:pt idx="141">
                  <c:v>22.78</c:v>
                </c:pt>
                <c:pt idx="142">
                  <c:v>24.61</c:v>
                </c:pt>
                <c:pt idx="143">
                  <c:v>23.52</c:v>
                </c:pt>
                <c:pt idx="144">
                  <c:v>24.51</c:v>
                </c:pt>
                <c:pt idx="145">
                  <c:v>23.06</c:v>
                </c:pt>
                <c:pt idx="146">
                  <c:v>24.06</c:v>
                </c:pt>
                <c:pt idx="147">
                  <c:v>23.99</c:v>
                </c:pt>
                <c:pt idx="148">
                  <c:v>23.08</c:v>
                </c:pt>
                <c:pt idx="149">
                  <c:v>24.29</c:v>
                </c:pt>
                <c:pt idx="150">
                  <c:v>23.76</c:v>
                </c:pt>
                <c:pt idx="151">
                  <c:v>24.09</c:v>
                </c:pt>
                <c:pt idx="152">
                  <c:v>23.84</c:v>
                </c:pt>
                <c:pt idx="153">
                  <c:v>20.62</c:v>
                </c:pt>
                <c:pt idx="154">
                  <c:v>23.09</c:v>
                </c:pt>
                <c:pt idx="155">
                  <c:v>25.05</c:v>
                </c:pt>
                <c:pt idx="156">
                  <c:v>23.37</c:v>
                </c:pt>
                <c:pt idx="157">
                  <c:v>22.41</c:v>
                </c:pt>
                <c:pt idx="158">
                  <c:v>22.71</c:v>
                </c:pt>
                <c:pt idx="159">
                  <c:v>23.15</c:v>
                </c:pt>
                <c:pt idx="160">
                  <c:v>22.62</c:v>
                </c:pt>
                <c:pt idx="161">
                  <c:v>24.18</c:v>
                </c:pt>
                <c:pt idx="162">
                  <c:v>23.11</c:v>
                </c:pt>
                <c:pt idx="163">
                  <c:v>25.16</c:v>
                </c:pt>
                <c:pt idx="164">
                  <c:v>24.19</c:v>
                </c:pt>
                <c:pt idx="165">
                  <c:v>23.92</c:v>
                </c:pt>
                <c:pt idx="166">
                  <c:v>22.55</c:v>
                </c:pt>
                <c:pt idx="167">
                  <c:v>23.18</c:v>
                </c:pt>
                <c:pt idx="168">
                  <c:v>19.09</c:v>
                </c:pt>
                <c:pt idx="169">
                  <c:v>23.38</c:v>
                </c:pt>
                <c:pt idx="170">
                  <c:v>19.86</c:v>
                </c:pt>
                <c:pt idx="171">
                  <c:v>22.64</c:v>
                </c:pt>
                <c:pt idx="172">
                  <c:v>23.11</c:v>
                </c:pt>
                <c:pt idx="173">
                  <c:v>22.74</c:v>
                </c:pt>
                <c:pt idx="174">
                  <c:v>21.51</c:v>
                </c:pt>
                <c:pt idx="175">
                  <c:v>22.01</c:v>
                </c:pt>
                <c:pt idx="176">
                  <c:v>23.02</c:v>
                </c:pt>
                <c:pt idx="177">
                  <c:v>22.21</c:v>
                </c:pt>
                <c:pt idx="178">
                  <c:v>23.62</c:v>
                </c:pt>
                <c:pt idx="179">
                  <c:v>24.63</c:v>
                </c:pt>
                <c:pt idx="180">
                  <c:v>24.06</c:v>
                </c:pt>
                <c:pt idx="181">
                  <c:v>23.6</c:v>
                </c:pt>
                <c:pt idx="182">
                  <c:v>23.38</c:v>
                </c:pt>
              </c:numCache>
            </c:numRef>
          </c:yVal>
          <c:smooth val="0"/>
        </c:ser>
        <c:ser>
          <c:idx val="2"/>
          <c:order val="2"/>
          <c:tx>
            <c:v>PAE threshold</c:v>
          </c:tx>
          <c:spPr>
            <a:ln w="12700">
              <a:solidFill>
                <a:srgbClr val="607587"/>
              </a:solidFill>
              <a:prstDash val="dash"/>
            </a:ln>
          </c:spPr>
          <c:marker>
            <c:symbol val="none"/>
          </c:marker>
          <c:xVal>
            <c:numRef>
              <c:f>'Fusion data'!$E$2:$E$3</c:f>
              <c:numCache>
                <c:formatCode>General</c:formatCode>
                <c:ptCount val="2"/>
                <c:pt idx="0">
                  <c:v>0.4</c:v>
                </c:pt>
                <c:pt idx="1">
                  <c:v>0.75</c:v>
                </c:pt>
              </c:numCache>
            </c:numRef>
          </c:xVal>
          <c:yVal>
            <c:numRef>
              <c:f>'Fusion data'!$F$2:$F$3</c:f>
              <c:numCache>
                <c:formatCode>General</c:formatCode>
                <c:ptCount val="2"/>
                <c:pt idx="0">
                  <c:v>15</c:v>
                </c:pt>
                <c:pt idx="1">
                  <c:v>15</c:v>
                </c:pt>
              </c:numCache>
            </c:numRef>
          </c:yVal>
          <c:smooth val="0"/>
        </c:ser>
        <c:axId val="100"/>
        <c:axId val="200"/>
      </c:scatterChart>
      <c:valAx>
        <c:axId val="100"/>
        <c:scaling>
          <c:orientation val="minMax"/>
          <c:max val="0.75"/>
          <c:min val="0.4"/>
        </c:scaling>
        <c:delete val="0"/>
        <c:axPos val="b"/>
        <c:majorGridlines>
          <c:spPr>
            <a:ln w="6350">
              <a:solidFill>
                <a:srgbClr val="DAE3EC"/>
              </a:solidFill>
            </a:ln>
          </c:spPr>
        </c:majorGridlines>
        <c:title>
          <c:tx>
            <c:rich>
              <a:bodyPr/>
              <a:lstStyle/>
              <a:p>
                <a:pPr/>
                <a:r>
                  <a:rPr sz="1100">
                    <a:solidFill>
                      <a:srgbClr val="263E53"/>
                    </a:solidFill>
                    <a:latin typeface="Arial"/>
                  </a:rPr>
                  <a:t>Fusion pTM (informational; not a gate)</a:t>
                </a:r>
              </a:p>
            </c:rich>
          </c:tx>
          <c:overlay val="0"/>
        </c:title>
        <c:numFmt formatCode="0.##" sourceLinked="0"/>
        <c:majorTickMark val="none"/>
        <c:minorTickMark val="none"/>
        <c:tickLblPos val="nextTo"/>
        <c:crossAx val="200"/>
        <c:crosses val="min"/>
        <c:crossBetween val="midCat"/>
        <c:majorUnit val="0.05"/>
      </c:valAx>
      <c:valAx>
        <c:axId val="200"/>
        <c:scaling>
          <c:orientation val="minMax"/>
          <c:max val="30"/>
          <c:min val="0"/>
        </c:scaling>
        <c:delete val="0"/>
        <c:axPos val="l"/>
        <c:majorGridlines>
          <c:spPr>
            <a:ln w="6350">
              <a:solidFill>
                <a:srgbClr val="DAE3EC"/>
              </a:solidFill>
            </a:ln>
          </c:spPr>
        </c:majorGridlines>
        <c:title>
          <c:tx>
            <c:rich>
              <a:bodyPr/>
              <a:lstStyle/>
              <a:p>
                <a:pPr/>
                <a:r>
                  <a:rPr sz="1100">
                    <a:solidFill>
                      <a:srgbClr val="263E53"/>
                    </a:solidFill>
                    <a:latin typeface="Arial"/>
                  </a:rPr>
                  <a:t>Inter-domain PAE (Å)</a:t>
                </a:r>
              </a:p>
            </c:rich>
          </c:tx>
          <c:overlay val="0"/>
        </c:title>
        <c:numFmt formatCode="0.##" sourceLinked="0"/>
        <c:majorTickMark val="none"/>
        <c:minorTickMark val="none"/>
        <c:tickLblPos val="nextTo"/>
        <c:crossAx val="100"/>
        <c:crosses val="min"/>
        <c:crossBetween val="midCat"/>
        <c:majorUnit val="5"/>
      </c:valAx>
      <c:spPr>
        <a:solidFill>
          <a:srgbClr val="FFFFFF"/>
        </a:solidFill>
        <a:ln>
          <a:noFill/>
        </a:ln>
      </c:spPr>
    </c:plotArea>
    <c:plotVisOnly val="1"/>
  </c:chart>
  <c:spPr>
    <a:solidFill>
      <a:srgbClr val="FFFFFF"/>
    </a:solidFill>
    <a:ln>
      <a:noFill/>
    </a:ln>
  </c:spPr>
  <c:txPr>
    <a:bodyPr/>
    <a:lstStyle/>
    <a:p>
      <a:pPr>
        <a:defRPr sz="1000">
          <a:solidFill>
            <a:srgbClr val="546B7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nel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Panel"/>
          <p:cNvSpPr txBox="0"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CURRENT RESEARCH  /  COMPUTATIONAL PROTEIN DESIGN"/>
          <p:cNvSpPr txBox="1"/>
          <p:nvPr/>
        </p:nvSpPr>
        <p:spPr>
          <a:xfrm>
            <a:off x="365760" y="152400"/>
            <a:ext cx="11176000" cy="1889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96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CURRENT RESEARCH  /  COMPUTATIONAL PROTEIN DESIGN</a:t>
            </a:r>
            <a:endParaRPr lang="en-US"/>
          </a:p>
        </p:txBody>
      </p:sp>
      <p:sp>
        <p:nvSpPr>
          <p:cNvPr id="5" name="AI-designed bispecific binders for Alzheimer’s disease"/>
          <p:cNvSpPr txBox="1"/>
          <p:nvPr/>
        </p:nvSpPr>
        <p:spPr>
          <a:xfrm>
            <a:off x="365760" y="381000"/>
            <a:ext cx="11531600" cy="4566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232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AI-designed bispecific binders for Alzheimer’s disease</a:t>
            </a:r>
            <a:endParaRPr lang="en-US"/>
          </a:p>
        </p:txBody>
      </p:sp>
      <p:sp>
        <p:nvSpPr>
          <p:cNvPr id="6" name="Aβ42 targeting × transferrin receptor 1 (TfR1)  |  Goal: receptor"/>
          <p:cNvSpPr txBox="1"/>
          <p:nvPr/>
        </p:nvSpPr>
        <p:spPr>
          <a:xfrm>
            <a:off x="375920" y="767080"/>
            <a:ext cx="11430000" cy="236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1200" b="0">
                <a:solidFill>
                  <a:srgbClr val="546B7E"/>
                </a:solidFill>
                <a:latin typeface="Arial"/>
                <a:ea typeface="Arial"/>
                <a:cs typeface="Arial"/>
              </a:rPr>
              <a:t>Aβ42 targeting × transferrin receptor 1 (TfR1)  |  Goal: receptor-mediated delivery across the BBB</a:t>
            </a:r>
            <a:endParaRPr lang="en-US"/>
          </a:p>
        </p:txBody>
      </p:sp>
      <p:sp>
        <p:nvSpPr>
          <p:cNvPr id="7" name="PRE-FILTER EXPLORATION (reported trajectories):  Aβ42  1,342   | "/>
          <p:cNvSpPr txBox="1"/>
          <p:nvPr/>
        </p:nvSpPr>
        <p:spPr>
          <a:xfrm>
            <a:off x="375920" y="1021080"/>
            <a:ext cx="11430000" cy="196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1000" b="1">
                <a:solidFill>
                  <a:srgbClr val="263E53"/>
                </a:solidFill>
                <a:latin typeface="Arial"/>
                <a:ea typeface="Arial"/>
                <a:cs typeface="Arial"/>
              </a:rPr>
              <a:t>PRE-FILTER EXPLORATION (reported trajectories):  Aβ42  1,342   |   TfR1 / BBB arm  2,051</a:t>
            </a:r>
            <a:endParaRPr lang="en-US"/>
          </a:p>
        </p:txBody>
      </p:sp>
      <p:sp>
        <p:nvSpPr>
          <p:cNvPr id="8" name="Panel"/>
          <p:cNvSpPr txBox="0"/>
          <p:nvPr/>
        </p:nvSpPr>
        <p:spPr>
          <a:xfrm>
            <a:off x="365760" y="1209040"/>
            <a:ext cx="2204720" cy="792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01  TARGET PREPARATION"/>
          <p:cNvSpPr txBox="1"/>
          <p:nvPr/>
        </p:nvSpPr>
        <p:spPr>
          <a:xfrm>
            <a:off x="462280" y="1305560"/>
            <a:ext cx="2057400" cy="1732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8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01  TARGET PREPARATION</a:t>
            </a:r>
            <a:endParaRPr lang="en-US"/>
          </a:p>
        </p:txBody>
      </p:sp>
      <p:sp>
        <p:nvSpPr>
          <p:cNvPr id="10" name="Structure-guided epitopes"/>
          <p:cNvSpPr txBox="1"/>
          <p:nvPr/>
        </p:nvSpPr>
        <p:spPr>
          <a:xfrm>
            <a:off x="462280" y="1524000"/>
            <a:ext cx="2057400" cy="1889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960" b="1">
                <a:solidFill>
                  <a:srgbClr val="263E53"/>
                </a:solidFill>
                <a:latin typeface="Arial"/>
                <a:ea typeface="Arial"/>
                <a:cs typeface="Arial"/>
              </a:rPr>
              <a:t>Structure-guided epitopes</a:t>
            </a:r>
            <a:endParaRPr lang="en-US"/>
          </a:p>
        </p:txBody>
      </p:sp>
      <p:sp>
        <p:nvSpPr>
          <p:cNvPr id="11" name="Aβ42: 9CO4  •  TfR1: 6WRV"/>
          <p:cNvSpPr txBox="1"/>
          <p:nvPr/>
        </p:nvSpPr>
        <p:spPr>
          <a:xfrm>
            <a:off x="462280" y="1752600"/>
            <a:ext cx="2057400" cy="16535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  <a:ea typeface="Arial"/>
                <a:cs typeface="Arial"/>
              </a:rPr>
              <a:t>Aβ42: 9CO4  •  TfR1: 6WRV</a:t>
            </a:r>
            <a:endParaRPr lang="en-US"/>
          </a:p>
        </p:txBody>
      </p:sp>
      <p:sp>
        <p:nvSpPr>
          <p:cNvPr id="12" name="Panel"/>
          <p:cNvSpPr txBox="0"/>
          <p:nvPr/>
        </p:nvSpPr>
        <p:spPr>
          <a:xfrm>
            <a:off x="2677160" y="1209040"/>
            <a:ext cx="2204720" cy="792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02  DE NOVO DESIGN"/>
          <p:cNvSpPr txBox="1"/>
          <p:nvPr/>
        </p:nvSpPr>
        <p:spPr>
          <a:xfrm>
            <a:off x="2773680" y="1305560"/>
            <a:ext cx="2057400" cy="1732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8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02  DE NOVO DESIGN</a:t>
            </a:r>
            <a:endParaRPr lang="en-US"/>
          </a:p>
        </p:txBody>
      </p:sp>
      <p:sp>
        <p:nvSpPr>
          <p:cNvPr id="14" name="BindCraft + ProteinMPNN"/>
          <p:cNvSpPr txBox="1"/>
          <p:nvPr/>
        </p:nvSpPr>
        <p:spPr>
          <a:xfrm>
            <a:off x="2773680" y="1524000"/>
            <a:ext cx="2057400" cy="1889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960" b="1">
                <a:solidFill>
                  <a:srgbClr val="263E53"/>
                </a:solidFill>
                <a:latin typeface="Arial"/>
                <a:ea typeface="Arial"/>
                <a:cs typeface="Arial"/>
              </a:rPr>
              <a:t>BindCraft + ProteinMPNN</a:t>
            </a:r>
            <a:endParaRPr lang="en-US"/>
          </a:p>
        </p:txBody>
      </p:sp>
      <p:sp>
        <p:nvSpPr>
          <p:cNvPr id="15" name="Generate, redesign, AF2-score"/>
          <p:cNvSpPr txBox="1"/>
          <p:nvPr/>
        </p:nvSpPr>
        <p:spPr>
          <a:xfrm>
            <a:off x="2773680" y="1752600"/>
            <a:ext cx="2057400" cy="16535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  <a:ea typeface="Arial"/>
                <a:cs typeface="Arial"/>
              </a:rPr>
              <a:t>Generate, redesign, AF2-score</a:t>
            </a:r>
            <a:endParaRPr lang="en-US"/>
          </a:p>
        </p:txBody>
      </p:sp>
      <p:sp>
        <p:nvSpPr>
          <p:cNvPr id="16" name="Panel"/>
          <p:cNvSpPr txBox="0"/>
          <p:nvPr/>
        </p:nvSpPr>
        <p:spPr>
          <a:xfrm>
            <a:off x="4988560" y="1209040"/>
            <a:ext cx="2204720" cy="792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03  FILTER &amp; RANK"/>
          <p:cNvSpPr txBox="1"/>
          <p:nvPr/>
        </p:nvSpPr>
        <p:spPr>
          <a:xfrm>
            <a:off x="5085080" y="1305560"/>
            <a:ext cx="2057400" cy="1732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8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03  FILTER &amp; RANK</a:t>
            </a:r>
            <a:endParaRPr lang="en-US"/>
          </a:p>
        </p:txBody>
      </p:sp>
      <p:sp>
        <p:nvSpPr>
          <p:cNvPr id="18" name="Stability + developability"/>
          <p:cNvSpPr txBox="1"/>
          <p:nvPr/>
        </p:nvSpPr>
        <p:spPr>
          <a:xfrm>
            <a:off x="5085080" y="1524000"/>
            <a:ext cx="2057400" cy="1889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960" b="1">
                <a:solidFill>
                  <a:srgbClr val="263E53"/>
                </a:solidFill>
                <a:latin typeface="Arial"/>
                <a:ea typeface="Arial"/>
                <a:cs typeface="Arial"/>
              </a:rPr>
              <a:t>Stability + developability</a:t>
            </a:r>
            <a:endParaRPr lang="en-US"/>
          </a:p>
        </p:txBody>
      </p:sp>
      <p:sp>
        <p:nvSpPr>
          <p:cNvPr id="19" name="23 Aβ42 / 224 TfR1 retained"/>
          <p:cNvSpPr txBox="1"/>
          <p:nvPr/>
        </p:nvSpPr>
        <p:spPr>
          <a:xfrm>
            <a:off x="5085080" y="1752600"/>
            <a:ext cx="2057400" cy="16535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  <a:ea typeface="Arial"/>
                <a:cs typeface="Arial"/>
              </a:rPr>
              <a:t>23 Aβ42 / 224 TfR1 retained</a:t>
            </a:r>
            <a:endParaRPr lang="en-US"/>
          </a:p>
        </p:txBody>
      </p:sp>
      <p:sp>
        <p:nvSpPr>
          <p:cNvPr id="20" name="Panel"/>
          <p:cNvSpPr txBox="0"/>
          <p:nvPr/>
        </p:nvSpPr>
        <p:spPr>
          <a:xfrm>
            <a:off x="7299960" y="1209040"/>
            <a:ext cx="2204720" cy="792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" name="04  FUSION LIBRARY"/>
          <p:cNvSpPr txBox="1"/>
          <p:nvPr/>
        </p:nvSpPr>
        <p:spPr>
          <a:xfrm>
            <a:off x="7396480" y="1305560"/>
            <a:ext cx="2057400" cy="1732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8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04  FUSION LIBRARY</a:t>
            </a:r>
            <a:endParaRPr lang="en-US"/>
          </a:p>
        </p:txBody>
      </p:sp>
      <p:sp>
        <p:nvSpPr>
          <p:cNvPr id="22" name="5 Aβ42 × 5 TfR1 binders"/>
          <p:cNvSpPr txBox="1"/>
          <p:nvPr/>
        </p:nvSpPr>
        <p:spPr>
          <a:xfrm>
            <a:off x="7396480" y="1524000"/>
            <a:ext cx="2057400" cy="1889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960" b="1">
                <a:solidFill>
                  <a:srgbClr val="263E53"/>
                </a:solidFill>
                <a:latin typeface="Arial"/>
                <a:ea typeface="Arial"/>
                <a:cs typeface="Arial"/>
              </a:rPr>
              <a:t>5 Aβ42 × 5 TfR1 binders</a:t>
            </a:r>
            <a:endParaRPr lang="en-US"/>
          </a:p>
        </p:txBody>
      </p:sp>
      <p:sp>
        <p:nvSpPr>
          <p:cNvPr id="23" name="5 linkers × 2 domain orders"/>
          <p:cNvSpPr txBox="1"/>
          <p:nvPr/>
        </p:nvSpPr>
        <p:spPr>
          <a:xfrm>
            <a:off x="7396480" y="1752600"/>
            <a:ext cx="2057400" cy="16535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  <a:ea typeface="Arial"/>
                <a:cs typeface="Arial"/>
              </a:rPr>
              <a:t>5 linkers × 2 domain orders</a:t>
            </a:r>
            <a:endParaRPr lang="en-US"/>
          </a:p>
        </p:txBody>
      </p:sp>
      <p:sp>
        <p:nvSpPr>
          <p:cNvPr id="24" name="Panel"/>
          <p:cNvSpPr txBox="0"/>
          <p:nvPr/>
        </p:nvSpPr>
        <p:spPr>
          <a:xfrm>
            <a:off x="9611360" y="1209040"/>
            <a:ext cx="2204720" cy="792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05  FOLD &amp; SCREEN"/>
          <p:cNvSpPr txBox="1"/>
          <p:nvPr/>
        </p:nvSpPr>
        <p:spPr>
          <a:xfrm>
            <a:off x="9707880" y="1305560"/>
            <a:ext cx="2057400" cy="1732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8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05  FOLD &amp; SCREEN</a:t>
            </a:r>
            <a:endParaRPr lang="en-US"/>
          </a:p>
        </p:txBody>
      </p:sp>
      <p:sp>
        <p:nvSpPr>
          <p:cNvPr id="26" name="AlphaFold2 / ColabFold"/>
          <p:cNvSpPr txBox="1"/>
          <p:nvPr/>
        </p:nvSpPr>
        <p:spPr>
          <a:xfrm>
            <a:off x="9707880" y="1524000"/>
            <a:ext cx="2057400" cy="1889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960" b="1">
                <a:solidFill>
                  <a:srgbClr val="263E53"/>
                </a:solidFill>
                <a:latin typeface="Arial"/>
                <a:ea typeface="Arial"/>
                <a:cs typeface="Arial"/>
              </a:rPr>
              <a:t>AlphaFold2 / ColabFold</a:t>
            </a:r>
            <a:endParaRPr lang="en-US"/>
          </a:p>
        </p:txBody>
      </p:sp>
      <p:sp>
        <p:nvSpPr>
          <p:cNvPr id="27" name="250 fusion predictions scored"/>
          <p:cNvSpPr txBox="1"/>
          <p:nvPr/>
        </p:nvSpPr>
        <p:spPr>
          <a:xfrm>
            <a:off x="9707880" y="1752600"/>
            <a:ext cx="2057400" cy="16535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  <a:ea typeface="Arial"/>
                <a:cs typeface="Arial"/>
              </a:rPr>
              <a:t>250 fusion predictions scored</a:t>
            </a:r>
            <a:endParaRPr lang="en-US"/>
          </a:p>
        </p:txBody>
      </p:sp>
      <p:sp>
        <p:nvSpPr>
          <p:cNvPr id="28" name="Panel"/>
          <p:cNvSpPr txBox="0"/>
          <p:nvPr/>
        </p:nvSpPr>
        <p:spPr>
          <a:xfrm>
            <a:off x="365760" y="2133600"/>
            <a:ext cx="3677920" cy="78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442"/>
          <p:cNvSpPr txBox="1"/>
          <p:nvPr/>
        </p:nvSpPr>
        <p:spPr>
          <a:xfrm>
            <a:off x="487680" y="2194560"/>
            <a:ext cx="3403600" cy="41732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212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442</a:t>
            </a:r>
            <a:endParaRPr lang="en-US"/>
          </a:p>
        </p:txBody>
      </p:sp>
      <p:sp>
        <p:nvSpPr>
          <p:cNvPr id="30" name="accepted arm designs"/>
          <p:cNvSpPr txBox="1"/>
          <p:nvPr/>
        </p:nvSpPr>
        <p:spPr>
          <a:xfrm>
            <a:off x="487680" y="2524760"/>
            <a:ext cx="3403600" cy="21259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108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accepted arm designs</a:t>
            </a:r>
            <a:endParaRPr lang="en-US"/>
          </a:p>
        </p:txBody>
      </p:sp>
      <p:sp>
        <p:nvSpPr>
          <p:cNvPr id="31" name="62 Aβ42 + 380 TfR1 (reported)"/>
          <p:cNvSpPr txBox="1"/>
          <p:nvPr/>
        </p:nvSpPr>
        <p:spPr>
          <a:xfrm>
            <a:off x="487680" y="2743200"/>
            <a:ext cx="3403600" cy="16535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  <a:ea typeface="Arial"/>
                <a:cs typeface="Arial"/>
              </a:rPr>
              <a:t>62 Aβ42 + 380 TfR1 (reported)</a:t>
            </a:r>
            <a:endParaRPr lang="en-US"/>
          </a:p>
        </p:txBody>
      </p:sp>
      <p:sp>
        <p:nvSpPr>
          <p:cNvPr id="32" name="Panel"/>
          <p:cNvSpPr txBox="0"/>
          <p:nvPr/>
        </p:nvSpPr>
        <p:spPr>
          <a:xfrm>
            <a:off x="4257040" y="2133600"/>
            <a:ext cx="3677920" cy="78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" name="250"/>
          <p:cNvSpPr txBox="1"/>
          <p:nvPr/>
        </p:nvSpPr>
        <p:spPr>
          <a:xfrm>
            <a:off x="4378960" y="2194560"/>
            <a:ext cx="3403600" cy="41732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212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250</a:t>
            </a:r>
            <a:endParaRPr lang="en-US"/>
          </a:p>
        </p:txBody>
      </p:sp>
      <p:sp>
        <p:nvSpPr>
          <p:cNvPr id="34" name="fusion designs modeled"/>
          <p:cNvSpPr txBox="1"/>
          <p:nvPr/>
        </p:nvSpPr>
        <p:spPr>
          <a:xfrm>
            <a:off x="4378960" y="2524760"/>
            <a:ext cx="3403600" cy="21259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1080" b="1">
                <a:solidFill>
                  <a:srgbClr val="102B46"/>
                </a:solidFill>
                <a:latin typeface="Arial"/>
                <a:ea typeface="Arial"/>
                <a:cs typeface="Arial"/>
              </a:rPr>
              <a:t>fusion designs modeled</a:t>
            </a:r>
            <a:endParaRPr lang="en-US"/>
          </a:p>
        </p:txBody>
      </p:sp>
      <p:sp>
        <p:nvSpPr>
          <p:cNvPr id="35" name="25 binder pairs × 10 variants"/>
          <p:cNvSpPr txBox="1"/>
          <p:nvPr/>
        </p:nvSpPr>
        <p:spPr>
          <a:xfrm>
            <a:off x="4378960" y="2743200"/>
            <a:ext cx="3403600" cy="16535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40" b="0">
                <a:solidFill>
                  <a:srgbClr val="546B7E"/>
                </a:solidFill>
                <a:latin typeface="Arial"/>
                <a:ea typeface="Arial"/>
                <a:cs typeface="Arial"/>
              </a:rPr>
              <a:t>25 binder pairs × 10 variants</a:t>
            </a:r>
            <a:endParaRPr lang="en-US"/>
          </a:p>
        </p:txBody>
      </p:sp>
      <p:sp>
        <p:nvSpPr>
          <p:cNvPr id="36" name="Panel"/>
          <p:cNvSpPr txBox="0"/>
          <p:nvPr/>
        </p:nvSpPr>
        <p:spPr>
          <a:xfrm>
            <a:off x="8148320" y="2133600"/>
            <a:ext cx="3677920" cy="787400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7" name="183 / 250"/>
          <p:cNvSpPr txBox="1"/>
          <p:nvPr/>
        </p:nvSpPr>
        <p:spPr>
          <a:xfrm>
            <a:off x="8270240" y="2194560"/>
            <a:ext cx="3403600" cy="41732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21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183 / 250</a:t>
            </a:r>
            <a:endParaRPr lang="en-US"/>
          </a:p>
        </p:txBody>
      </p:sp>
      <p:sp>
        <p:nvSpPr>
          <p:cNvPr id="38" name="pass Stage 8 gates"/>
          <p:cNvSpPr txBox="1"/>
          <p:nvPr/>
        </p:nvSpPr>
        <p:spPr>
          <a:xfrm>
            <a:off x="8270240" y="2524760"/>
            <a:ext cx="3403600" cy="21259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 Stage 8 gates</a:t>
            </a:r>
            <a:endParaRPr lang="en-US"/>
          </a:p>
        </p:txBody>
      </p:sp>
      <p:sp>
        <p:nvSpPr>
          <p:cNvPr id="39" name="73.2% computational pass rate"/>
          <p:cNvSpPr txBox="1"/>
          <p:nvPr/>
        </p:nvSpPr>
        <p:spPr>
          <a:xfrm>
            <a:off x="8270240" y="2743200"/>
            <a:ext cx="3403600" cy="16535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40" b="0">
                <a:solidFill>
                  <a:srgbClr val="D7EAF6"/>
                </a:solidFill>
                <a:latin typeface="Arial"/>
                <a:ea typeface="Arial"/>
                <a:cs typeface="Arial"/>
              </a:rPr>
              <a:t>73.2% computational pass rate</a:t>
            </a:r>
            <a:endParaRPr lang="en-US"/>
          </a:p>
        </p:txBody>
      </p:sp>
      <p:sp>
        <p:nvSpPr>
          <p:cNvPr id="40" name="FUSION-LEVEL COMPARISON  •  All 250 designs; one top-ranked predi"/>
          <p:cNvSpPr txBox="1"/>
          <p:nvPr/>
        </p:nvSpPr>
        <p:spPr>
          <a:xfrm>
            <a:off x="375920" y="3012440"/>
            <a:ext cx="11430000" cy="1889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960" b="1">
                <a:solidFill>
                  <a:srgbClr val="263E53"/>
                </a:solidFill>
                <a:latin typeface="Arial"/>
                <a:ea typeface="Arial"/>
                <a:cs typeface="Arial"/>
              </a:rPr>
              <a:t>FUSION-LEVEL COMPARISON  •  All 250 designs; one top-ranked prediction per design</a:t>
            </a:r>
            <a:endParaRPr lang="en-US"/>
          </a:p>
        </p:txBody>
      </p:sp>
      <p:sp>
        <p:nvSpPr>
          <p:cNvPr id="41" name="Panel"/>
          <p:cNvSpPr txBox="0"/>
          <p:nvPr/>
        </p:nvSpPr>
        <p:spPr>
          <a:xfrm>
            <a:off x="386080" y="3241040"/>
            <a:ext cx="81280" cy="8128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2" name="Pass all gates (n = 183)"/>
          <p:cNvSpPr txBox="1"/>
          <p:nvPr/>
        </p:nvSpPr>
        <p:spPr>
          <a:xfrm>
            <a:off x="523240" y="3200400"/>
            <a:ext cx="1727200" cy="1732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80" b="0">
                <a:solidFill>
                  <a:srgbClr val="263E53"/>
                </a:solidFill>
                <a:latin typeface="Arial"/>
                <a:ea typeface="Arial"/>
                <a:cs typeface="Arial"/>
              </a:rPr>
              <a:t>Pass all gates (n = 183)</a:t>
            </a:r>
            <a:endParaRPr lang="en-US"/>
          </a:p>
        </p:txBody>
      </p:sp>
      <p:sp>
        <p:nvSpPr>
          <p:cNvPr id="43" name="Panel"/>
          <p:cNvSpPr txBox="0"/>
          <p:nvPr/>
        </p:nvSpPr>
        <p:spPr>
          <a:xfrm>
            <a:off x="2275840" y="3241040"/>
            <a:ext cx="81280" cy="81280"/>
          </a:xfrm>
          <a:prstGeom prst="rect">
            <a:avLst/>
          </a:prstGeom>
          <a:solidFill>
            <a:srgbClr val="D55E00"/>
          </a:solidFill>
          <a:ln>
            <a:noFill/>
          </a:ln>
        </p:spPr>
      </p:sp>
      <p:sp>
        <p:nvSpPr>
          <p:cNvPr id="44" name="Fail ≥1 gate (n = 67)"/>
          <p:cNvSpPr txBox="1"/>
          <p:nvPr/>
        </p:nvSpPr>
        <p:spPr>
          <a:xfrm>
            <a:off x="2418080" y="3200400"/>
            <a:ext cx="2184400" cy="1732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80" b="0">
                <a:solidFill>
                  <a:srgbClr val="263E53"/>
                </a:solidFill>
                <a:latin typeface="Arial"/>
                <a:ea typeface="Arial"/>
                <a:cs typeface="Arial"/>
              </a:rPr>
              <a:t>Fail ≥1 gate (n = 67)</a:t>
            </a:r>
            <a:endParaRPr lang="en-US"/>
          </a:p>
        </p:txBody>
      </p:sp>
      <p:sp>
        <p:nvSpPr>
          <p:cNvPr id="45" name="Dashed lines: required thresholds"/>
          <p:cNvSpPr txBox="1"/>
          <p:nvPr/>
        </p:nvSpPr>
        <p:spPr>
          <a:xfrm>
            <a:off x="8168640" y="3200400"/>
            <a:ext cx="3556000" cy="1732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880" b="0">
                <a:solidFill>
                  <a:srgbClr val="546B7E"/>
                </a:solidFill>
                <a:latin typeface="Arial"/>
                <a:ea typeface="Arial"/>
                <a:cs typeface="Arial"/>
              </a:rPr>
              <a:t>Dashed lines: required thresholds</a:t>
            </a:r>
            <a:endParaRPr lang="en-US"/>
          </a:p>
        </p:txBody>
      </p:sp>
      <p:sp>
        <p:nvSpPr>
          <p:cNvPr id="46" name="Panel"/>
          <p:cNvSpPr txBox="0"/>
          <p:nvPr/>
        </p:nvSpPr>
        <p:spPr>
          <a:xfrm>
            <a:off x="314960" y="3423920"/>
            <a:ext cx="5588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7" name="Panel"/>
          <p:cNvSpPr txBox="0"/>
          <p:nvPr/>
        </p:nvSpPr>
        <p:spPr>
          <a:xfrm>
            <a:off x="6289040" y="3423920"/>
            <a:ext cx="5588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" name="Per-arm folding confidence across fusion designs"/>
          <p:cNvSpPr txBox="1"/>
          <p:nvPr/>
        </p:nvSpPr>
        <p:spPr>
          <a:xfrm>
            <a:off x="447040" y="3479800"/>
            <a:ext cx="5283200" cy="21259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1080" b="1">
                <a:solidFill>
                  <a:srgbClr val="263E53"/>
                </a:solidFill>
                <a:latin typeface="Arial"/>
                <a:ea typeface="Arial"/>
                <a:cs typeface="Arial"/>
              </a:rPr>
              <a:t>Per-arm folding confidence across fusion designs</a:t>
            </a:r>
            <a:endParaRPr lang="en-US"/>
          </a:p>
        </p:txBody>
      </p:sp>
      <p:sp>
        <p:nvSpPr>
          <p:cNvPr id="49" name="Whole-chain confidence vs. domain independence"/>
          <p:cNvSpPr txBox="1"/>
          <p:nvPr/>
        </p:nvSpPr>
        <p:spPr>
          <a:xfrm>
            <a:off x="6421120" y="3479800"/>
            <a:ext cx="5283200" cy="21259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1080" b="1">
                <a:solidFill>
                  <a:srgbClr val="263E53"/>
                </a:solidFill>
                <a:latin typeface="Arial"/>
                <a:ea typeface="Arial"/>
                <a:cs typeface="Arial"/>
              </a:rPr>
              <a:t>Whole-chain confidence vs. domain independence</a:t>
            </a:r>
            <a:endParaRPr lang="en-US"/>
          </a:p>
        </p:txBody>
      </p:sp>
      <p:sp>
        <p:nvSpPr>
          <p:cNvPr id="50" name="Panel"/>
          <p:cNvSpPr txBox="0"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E7EEF4"/>
          </a:solidFill>
          <a:ln>
            <a:noFill/>
          </a:ln>
        </p:spPr>
      </p:sp>
      <p:sp>
        <p:nvSpPr>
          <p:cNvPr id="51" name="Gate: both arms pLDDT &gt;80 AND inter-domain PAE &gt;15 Å. High inter-"/>
          <p:cNvSpPr txBox="1"/>
          <p:nvPr/>
        </p:nvSpPr>
        <p:spPr>
          <a:xfrm>
            <a:off x="370840" y="6309360"/>
            <a:ext cx="11430000" cy="1889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/>
            <a:r>
              <a:rPr lang="en-US" sz="960" b="0">
                <a:solidFill>
                  <a:srgbClr val="263E53"/>
                </a:solidFill>
                <a:latin typeface="Arial"/>
                <a:ea typeface="Arial"/>
                <a:cs typeface="Arial"/>
              </a:rPr>
              <a:t>Gate: both arms pLDDT &gt;80 AND inter-domain PAE &gt;15 Å. High inter-domain PAE reflects uncertain relative orientation.</a:t>
            </a:r>
            <a:endParaRPr lang="en-US"/>
          </a:p>
        </p:txBody>
      </p:sp>
      <p:graphicFrame>
        <p:nvGraphicFramePr>
          <p:cNvPr id="52" name="Editable fusion scatter plot 1"/>
          <p:cNvGraphicFramePr/>
          <p:nvPr/>
        </p:nvGraphicFramePr>
        <p:xfrm>
          <a:off x="345440" y="3693160"/>
          <a:ext cx="5511800" cy="24892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3" name="Editable fusion scatter plot 2"/>
          <p:cNvGraphicFramePr/>
          <p:nvPr/>
        </p:nvGraphicFramePr>
        <p:xfrm>
          <a:off x="6319520" y="3693160"/>
          <a:ext cx="5511800" cy="248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