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De novo design of bispecific proteins"/>
          <p:cNvSpPr txBox="1"/>
          <p:nvPr/>
        </p:nvSpPr>
        <p:spPr>
          <a:xfrm>
            <a:off x="381000" y="193040"/>
            <a:ext cx="5842000" cy="4876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2560" b="1" lang="en-US">
                <a:solidFill>
                  <a:srgbClr val="17324D"/>
                </a:solidFill>
                <a:latin typeface="Arial"/>
              </a:rPr>
              <a:t>De novo design of bispecific proteins</a:t>
            </a:r>
          </a:p>
        </p:txBody>
      </p:sp>
      <p:sp>
        <p:nvSpPr>
          <p:cNvPr id="4" name="Proposed workflow  |  Miniprotein binders, VHHs and antibodies"/>
          <p:cNvSpPr txBox="1"/>
          <p:nvPr/>
        </p:nvSpPr>
        <p:spPr>
          <a:xfrm>
            <a:off x="396240" y="629920"/>
            <a:ext cx="503428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0" lang="en-US">
                <a:solidFill>
                  <a:srgbClr val="617588"/>
                </a:solidFill>
                <a:latin typeface="Arial"/>
              </a:rPr>
              <a:t>Proposed workflow  |  Miniprotein binders, VHHs and antibodies</a:t>
            </a:r>
          </a:p>
        </p:txBody>
      </p:sp>
      <p:sp>
        <p:nvSpPr>
          <p:cNvPr id="5" name="Editable vector 5"/>
          <p:cNvSpPr/>
          <p:nvPr/>
        </p:nvSpPr>
        <p:spPr>
          <a:xfrm>
            <a:off x="381000" y="980440"/>
            <a:ext cx="11430000" cy="5080"/>
          </a:xfrm>
          <a:custGeom>
            <a:avLst/>
            <a:gdLst/>
            <a:ahLst/>
            <a:cxnLst/>
            <a:rect l="0" t="0" r="r" b="b"/>
            <a:pathLst>
              <a:path w="11430000" h="5080" fill="none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6" name="A   DISCOVER EACH ARM"/>
          <p:cNvSpPr txBox="1"/>
          <p:nvPr/>
        </p:nvSpPr>
        <p:spPr>
          <a:xfrm>
            <a:off x="396240" y="1117600"/>
            <a:ext cx="2199481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60" b="1" lang="en-US">
                <a:solidFill>
                  <a:srgbClr val="17324D"/>
                </a:solidFill>
                <a:latin typeface="Arial"/>
              </a:rPr>
              <a:t>A   DISCOVER EACH ARM</a:t>
            </a:r>
          </a:p>
        </p:txBody>
      </p:sp>
      <p:sp>
        <p:nvSpPr>
          <p:cNvPr id="7" name="Editable shape 7"/>
          <p:cNvSpPr/>
          <p:nvPr/>
        </p:nvSpPr>
        <p:spPr>
          <a:xfrm>
            <a:off x="7731760" y="1193800"/>
            <a:ext cx="81280" cy="8128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8" name="Arm A"/>
          <p:cNvSpPr txBox="1"/>
          <p:nvPr/>
        </p:nvSpPr>
        <p:spPr>
          <a:xfrm>
            <a:off x="7874000" y="1122680"/>
            <a:ext cx="54348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1" lang="en-US">
                <a:solidFill>
                  <a:srgbClr val="0072B2"/>
                </a:solidFill>
                <a:latin typeface="Arial"/>
              </a:rPr>
              <a:t>Arm A</a:t>
            </a:r>
          </a:p>
        </p:txBody>
      </p:sp>
      <p:sp>
        <p:nvSpPr>
          <p:cNvPr id="9" name="Editable shape 9"/>
          <p:cNvSpPr/>
          <p:nvPr/>
        </p:nvSpPr>
        <p:spPr>
          <a:xfrm>
            <a:off x="8849360" y="1193800"/>
            <a:ext cx="81280" cy="81280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10" name="Arm B"/>
          <p:cNvSpPr txBox="1"/>
          <p:nvPr/>
        </p:nvSpPr>
        <p:spPr>
          <a:xfrm>
            <a:off x="8991600" y="1122680"/>
            <a:ext cx="54356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1" lang="en-US">
                <a:solidFill>
                  <a:srgbClr val="8056A8"/>
                </a:solidFill>
                <a:latin typeface="Arial"/>
              </a:rPr>
              <a:t>Arm B</a:t>
            </a:r>
          </a:p>
        </p:txBody>
      </p:sp>
      <p:sp>
        <p:nvSpPr>
          <p:cNvPr id="11" name="Repeat per target"/>
          <p:cNvSpPr txBox="1"/>
          <p:nvPr/>
        </p:nvSpPr>
        <p:spPr>
          <a:xfrm>
            <a:off x="10033000" y="1122680"/>
            <a:ext cx="132588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Repeat per target</a:t>
            </a:r>
          </a:p>
        </p:txBody>
      </p:sp>
      <p:sp>
        <p:nvSpPr>
          <p:cNvPr id="12" name="1  Define epitopes"/>
          <p:cNvSpPr txBox="1"/>
          <p:nvPr/>
        </p:nvSpPr>
        <p:spPr>
          <a:xfrm>
            <a:off x="279400" y="148336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1  Define epitopes</a:t>
            </a:r>
          </a:p>
        </p:txBody>
      </p:sp>
      <p:sp>
        <p:nvSpPr>
          <p:cNvPr id="13" name="2  Generate arms"/>
          <p:cNvSpPr txBox="1"/>
          <p:nvPr/>
        </p:nvSpPr>
        <p:spPr>
          <a:xfrm>
            <a:off x="3225800" y="148336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2  Generate arms</a:t>
            </a:r>
          </a:p>
        </p:txBody>
      </p:sp>
      <p:sp>
        <p:nvSpPr>
          <p:cNvPr id="14" name="3  Reassess complexes"/>
          <p:cNvSpPr txBox="1"/>
          <p:nvPr/>
        </p:nvSpPr>
        <p:spPr>
          <a:xfrm>
            <a:off x="6172200" y="148336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3  Reassess complexes</a:t>
            </a:r>
          </a:p>
        </p:txBody>
      </p:sp>
      <p:sp>
        <p:nvSpPr>
          <p:cNvPr id="15" name="4  Select + test arms"/>
          <p:cNvSpPr txBox="1"/>
          <p:nvPr/>
        </p:nvSpPr>
        <p:spPr>
          <a:xfrm>
            <a:off x="9118600" y="148336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4  Select + test arms</a:t>
            </a:r>
          </a:p>
        </p:txBody>
      </p:sp>
      <p:sp>
        <p:nvSpPr>
          <p:cNvPr id="16" name="Editable shape 16"/>
          <p:cNvSpPr/>
          <p:nvPr/>
        </p:nvSpPr>
        <p:spPr>
          <a:xfrm>
            <a:off x="899160" y="1971040"/>
            <a:ext cx="365760" cy="36576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7" name="Editable shape 17"/>
          <p:cNvSpPr/>
          <p:nvPr/>
        </p:nvSpPr>
        <p:spPr>
          <a:xfrm>
            <a:off x="1112520" y="1925320"/>
            <a:ext cx="355600" cy="35560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8" name="Editable shape 18"/>
          <p:cNvSpPr/>
          <p:nvPr/>
        </p:nvSpPr>
        <p:spPr>
          <a:xfrm>
            <a:off x="1193800" y="2153920"/>
            <a:ext cx="304800" cy="30480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9" name="Editable shape 19"/>
          <p:cNvSpPr/>
          <p:nvPr/>
        </p:nvSpPr>
        <p:spPr>
          <a:xfrm>
            <a:off x="975360" y="2184400"/>
            <a:ext cx="355600" cy="35560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20" name="Editable shape 20"/>
          <p:cNvSpPr/>
          <p:nvPr/>
        </p:nvSpPr>
        <p:spPr>
          <a:xfrm>
            <a:off x="1320800" y="2082800"/>
            <a:ext cx="132080" cy="13208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1" name="A"/>
          <p:cNvSpPr txBox="1"/>
          <p:nvPr/>
        </p:nvSpPr>
        <p:spPr>
          <a:xfrm>
            <a:off x="787400" y="2570480"/>
            <a:ext cx="8128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A</a:t>
            </a:r>
          </a:p>
        </p:txBody>
      </p:sp>
      <p:sp>
        <p:nvSpPr>
          <p:cNvPr id="22" name="Editable shape 22"/>
          <p:cNvSpPr/>
          <p:nvPr/>
        </p:nvSpPr>
        <p:spPr>
          <a:xfrm>
            <a:off x="1864360" y="1971040"/>
            <a:ext cx="365760" cy="36576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23" name="Editable shape 23"/>
          <p:cNvSpPr/>
          <p:nvPr/>
        </p:nvSpPr>
        <p:spPr>
          <a:xfrm>
            <a:off x="2077720" y="1925320"/>
            <a:ext cx="355600" cy="35560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24" name="Editable shape 24"/>
          <p:cNvSpPr/>
          <p:nvPr/>
        </p:nvSpPr>
        <p:spPr>
          <a:xfrm>
            <a:off x="2159000" y="2153920"/>
            <a:ext cx="304800" cy="30480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25" name="Editable shape 25"/>
          <p:cNvSpPr/>
          <p:nvPr/>
        </p:nvSpPr>
        <p:spPr>
          <a:xfrm>
            <a:off x="1940560" y="2184400"/>
            <a:ext cx="355600" cy="35560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26" name="Editable shape 26"/>
          <p:cNvSpPr/>
          <p:nvPr/>
        </p:nvSpPr>
        <p:spPr>
          <a:xfrm>
            <a:off x="2286000" y="2082800"/>
            <a:ext cx="132080" cy="132080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27" name="B"/>
          <p:cNvSpPr txBox="1"/>
          <p:nvPr/>
        </p:nvSpPr>
        <p:spPr>
          <a:xfrm>
            <a:off x="1752600" y="2570480"/>
            <a:ext cx="8128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8056A8"/>
                </a:solidFill>
                <a:latin typeface="Arial"/>
              </a:rPr>
              <a:t>B</a:t>
            </a:r>
          </a:p>
        </p:txBody>
      </p:sp>
      <p:sp>
        <p:nvSpPr>
          <p:cNvPr id="28" name="Structure · accessibility"/>
          <p:cNvSpPr txBox="1"/>
          <p:nvPr/>
        </p:nvSpPr>
        <p:spPr>
          <a:xfrm>
            <a:off x="304800" y="28956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Structure · accessibility</a:t>
            </a:r>
          </a:p>
        </p:txBody>
      </p:sp>
      <p:sp>
        <p:nvSpPr>
          <p:cNvPr id="29" name="Native target context"/>
          <p:cNvSpPr txBox="1"/>
          <p:nvPr/>
        </p:nvSpPr>
        <p:spPr>
          <a:xfrm>
            <a:off x="304800" y="311912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Native target context</a:t>
            </a:r>
          </a:p>
        </p:txBody>
      </p:sp>
      <p:sp>
        <p:nvSpPr>
          <p:cNvPr id="30" name="Editable vector 30"/>
          <p:cNvSpPr/>
          <p:nvPr/>
        </p:nvSpPr>
        <p:spPr>
          <a:xfrm>
            <a:off x="3955288" y="1887728"/>
            <a:ext cx="64942" cy="390143"/>
          </a:xfrm>
          <a:custGeom>
            <a:avLst/>
            <a:gdLst/>
            <a:ahLst/>
            <a:cxnLst/>
            <a:rect l="0" t="0" r="r" b="b"/>
            <a:pathLst>
              <a:path w="64942" h="390143" fill="none">
                <a:moveTo>
                  <a:pt x="32511" y="0"/>
                </a:moveTo>
                <a:lnTo>
                  <a:pt x="48098" y="9753"/>
                </a:lnTo>
                <a:lnTo>
                  <a:pt x="59869" y="19507"/>
                </a:lnTo>
                <a:lnTo>
                  <a:pt x="64942" y="29260"/>
                </a:lnTo>
                <a:lnTo>
                  <a:pt x="62074" y="39014"/>
                </a:lnTo>
                <a:lnTo>
                  <a:pt x="51969" y="48767"/>
                </a:lnTo>
                <a:lnTo>
                  <a:pt x="37099" y="58521"/>
                </a:lnTo>
                <a:lnTo>
                  <a:pt x="21107" y="68275"/>
                </a:lnTo>
                <a:lnTo>
                  <a:pt x="7906" y="78028"/>
                </a:lnTo>
                <a:lnTo>
                  <a:pt x="730" y="87782"/>
                </a:lnTo>
                <a:lnTo>
                  <a:pt x="1335" y="97535"/>
                </a:lnTo>
                <a:lnTo>
                  <a:pt x="9573" y="107289"/>
                </a:lnTo>
                <a:lnTo>
                  <a:pt x="23427" y="117043"/>
                </a:lnTo>
                <a:lnTo>
                  <a:pt x="39505" y="126796"/>
                </a:lnTo>
                <a:lnTo>
                  <a:pt x="53871" y="136550"/>
                </a:lnTo>
                <a:lnTo>
                  <a:pt x="63007" y="146303"/>
                </a:lnTo>
                <a:lnTo>
                  <a:pt x="64677" y="156057"/>
                </a:lnTo>
                <a:lnTo>
                  <a:pt x="58472" y="165811"/>
                </a:lnTo>
                <a:lnTo>
                  <a:pt x="45910" y="175564"/>
                </a:lnTo>
                <a:lnTo>
                  <a:pt x="30068" y="185318"/>
                </a:lnTo>
                <a:lnTo>
                  <a:pt x="14824" y="195071"/>
                </a:lnTo>
                <a:lnTo>
                  <a:pt x="3911" y="204825"/>
                </a:lnTo>
                <a:lnTo>
                  <a:pt x="0" y="214579"/>
                </a:lnTo>
                <a:lnTo>
                  <a:pt x="4048" y="224332"/>
                </a:lnTo>
                <a:lnTo>
                  <a:pt x="15066" y="234086"/>
                </a:lnTo>
                <a:lnTo>
                  <a:pt x="30355" y="243840"/>
                </a:lnTo>
                <a:lnTo>
                  <a:pt x="46172" y="253593"/>
                </a:lnTo>
                <a:lnTo>
                  <a:pt x="58644" y="263347"/>
                </a:lnTo>
                <a:lnTo>
                  <a:pt x="64718" y="273100"/>
                </a:lnTo>
                <a:lnTo>
                  <a:pt x="62906" y="282854"/>
                </a:lnTo>
                <a:lnTo>
                  <a:pt x="53653" y="292607"/>
                </a:lnTo>
                <a:lnTo>
                  <a:pt x="39224" y="302361"/>
                </a:lnTo>
                <a:lnTo>
                  <a:pt x="23151" y="312115"/>
                </a:lnTo>
                <a:lnTo>
                  <a:pt x="9370" y="321868"/>
                </a:lnTo>
                <a:lnTo>
                  <a:pt x="1254" y="331622"/>
                </a:lnTo>
                <a:lnTo>
                  <a:pt x="792" y="341375"/>
                </a:lnTo>
                <a:lnTo>
                  <a:pt x="8095" y="351129"/>
                </a:lnTo>
                <a:lnTo>
                  <a:pt x="21376" y="360883"/>
                </a:lnTo>
                <a:lnTo>
                  <a:pt x="37384" y="370636"/>
                </a:lnTo>
                <a:lnTo>
                  <a:pt x="52198" y="380390"/>
                </a:lnTo>
                <a:lnTo>
                  <a:pt x="62193" y="390143"/>
                </a:lnTo>
              </a:path>
            </a:pathLst>
          </a:custGeom>
          <a:noFill/>
          <a:ln w="30480" cap="rnd">
            <a:solidFill>
              <a:srgbClr val="0072B2"/>
            </a:solidFill>
          </a:ln>
        </p:spPr>
      </p:sp>
      <p:sp>
        <p:nvSpPr>
          <p:cNvPr id="31" name="Editable vector 31"/>
          <p:cNvSpPr/>
          <p:nvPr/>
        </p:nvSpPr>
        <p:spPr>
          <a:xfrm>
            <a:off x="4056888" y="1887728"/>
            <a:ext cx="64942" cy="390143"/>
          </a:xfrm>
          <a:custGeom>
            <a:avLst/>
            <a:gdLst/>
            <a:ahLst/>
            <a:cxnLst/>
            <a:rect l="0" t="0" r="r" b="b"/>
            <a:pathLst>
              <a:path w="64942" h="390143" fill="none">
                <a:moveTo>
                  <a:pt x="32511" y="390143"/>
                </a:moveTo>
                <a:lnTo>
                  <a:pt x="48098" y="380390"/>
                </a:lnTo>
                <a:lnTo>
                  <a:pt x="59869" y="370636"/>
                </a:lnTo>
                <a:lnTo>
                  <a:pt x="64942" y="360883"/>
                </a:lnTo>
                <a:lnTo>
                  <a:pt x="62074" y="351129"/>
                </a:lnTo>
                <a:lnTo>
                  <a:pt x="51969" y="341375"/>
                </a:lnTo>
                <a:lnTo>
                  <a:pt x="37099" y="331622"/>
                </a:lnTo>
                <a:lnTo>
                  <a:pt x="21107" y="321868"/>
                </a:lnTo>
                <a:lnTo>
                  <a:pt x="7906" y="312115"/>
                </a:lnTo>
                <a:lnTo>
                  <a:pt x="730" y="302361"/>
                </a:lnTo>
                <a:lnTo>
                  <a:pt x="1335" y="292607"/>
                </a:lnTo>
                <a:lnTo>
                  <a:pt x="9573" y="282854"/>
                </a:lnTo>
                <a:lnTo>
                  <a:pt x="23427" y="273100"/>
                </a:lnTo>
                <a:lnTo>
                  <a:pt x="39505" y="263347"/>
                </a:lnTo>
                <a:lnTo>
                  <a:pt x="53871" y="253593"/>
                </a:lnTo>
                <a:lnTo>
                  <a:pt x="63007" y="243840"/>
                </a:lnTo>
                <a:lnTo>
                  <a:pt x="64677" y="234086"/>
                </a:lnTo>
                <a:lnTo>
                  <a:pt x="58472" y="224332"/>
                </a:lnTo>
                <a:lnTo>
                  <a:pt x="45910" y="214579"/>
                </a:lnTo>
                <a:lnTo>
                  <a:pt x="30068" y="204825"/>
                </a:lnTo>
                <a:lnTo>
                  <a:pt x="14824" y="195071"/>
                </a:lnTo>
                <a:lnTo>
                  <a:pt x="3911" y="185318"/>
                </a:lnTo>
                <a:lnTo>
                  <a:pt x="0" y="175564"/>
                </a:lnTo>
                <a:lnTo>
                  <a:pt x="4048" y="165811"/>
                </a:lnTo>
                <a:lnTo>
                  <a:pt x="15066" y="156057"/>
                </a:lnTo>
                <a:lnTo>
                  <a:pt x="30355" y="146303"/>
                </a:lnTo>
                <a:lnTo>
                  <a:pt x="46172" y="136550"/>
                </a:lnTo>
                <a:lnTo>
                  <a:pt x="58644" y="126796"/>
                </a:lnTo>
                <a:lnTo>
                  <a:pt x="64718" y="117043"/>
                </a:lnTo>
                <a:lnTo>
                  <a:pt x="62906" y="107289"/>
                </a:lnTo>
                <a:lnTo>
                  <a:pt x="53653" y="97535"/>
                </a:lnTo>
                <a:lnTo>
                  <a:pt x="39224" y="87782"/>
                </a:lnTo>
                <a:lnTo>
                  <a:pt x="23151" y="78028"/>
                </a:lnTo>
                <a:lnTo>
                  <a:pt x="9370" y="68275"/>
                </a:lnTo>
                <a:lnTo>
                  <a:pt x="1254" y="58521"/>
                </a:lnTo>
                <a:lnTo>
                  <a:pt x="792" y="48767"/>
                </a:lnTo>
                <a:lnTo>
                  <a:pt x="8095" y="39014"/>
                </a:lnTo>
                <a:lnTo>
                  <a:pt x="21376" y="29260"/>
                </a:lnTo>
                <a:lnTo>
                  <a:pt x="37384" y="19507"/>
                </a:lnTo>
                <a:lnTo>
                  <a:pt x="52198" y="9753"/>
                </a:lnTo>
                <a:lnTo>
                  <a:pt x="62193" y="0"/>
                </a:lnTo>
              </a:path>
            </a:pathLst>
          </a:custGeom>
          <a:noFill/>
          <a:ln w="30480" cap="rnd">
            <a:solidFill>
              <a:srgbClr val="0072B2"/>
            </a:solidFill>
          </a:ln>
        </p:spPr>
      </p:sp>
      <p:sp>
        <p:nvSpPr>
          <p:cNvPr id="32" name="Editable vector 32"/>
          <p:cNvSpPr/>
          <p:nvPr/>
        </p:nvSpPr>
        <p:spPr>
          <a:xfrm>
            <a:off x="4158488" y="1887728"/>
            <a:ext cx="64942" cy="390143"/>
          </a:xfrm>
          <a:custGeom>
            <a:avLst/>
            <a:gdLst/>
            <a:ahLst/>
            <a:cxnLst/>
            <a:rect l="0" t="0" r="r" b="b"/>
            <a:pathLst>
              <a:path w="64942" h="390143" fill="none">
                <a:moveTo>
                  <a:pt x="32511" y="0"/>
                </a:moveTo>
                <a:lnTo>
                  <a:pt x="48098" y="9753"/>
                </a:lnTo>
                <a:lnTo>
                  <a:pt x="59869" y="19507"/>
                </a:lnTo>
                <a:lnTo>
                  <a:pt x="64942" y="29260"/>
                </a:lnTo>
                <a:lnTo>
                  <a:pt x="62074" y="39014"/>
                </a:lnTo>
                <a:lnTo>
                  <a:pt x="51969" y="48767"/>
                </a:lnTo>
                <a:lnTo>
                  <a:pt x="37099" y="58521"/>
                </a:lnTo>
                <a:lnTo>
                  <a:pt x="21107" y="68275"/>
                </a:lnTo>
                <a:lnTo>
                  <a:pt x="7906" y="78028"/>
                </a:lnTo>
                <a:lnTo>
                  <a:pt x="730" y="87782"/>
                </a:lnTo>
                <a:lnTo>
                  <a:pt x="1335" y="97535"/>
                </a:lnTo>
                <a:lnTo>
                  <a:pt x="9573" y="107289"/>
                </a:lnTo>
                <a:lnTo>
                  <a:pt x="23427" y="117043"/>
                </a:lnTo>
                <a:lnTo>
                  <a:pt x="39505" y="126796"/>
                </a:lnTo>
                <a:lnTo>
                  <a:pt x="53871" y="136550"/>
                </a:lnTo>
                <a:lnTo>
                  <a:pt x="63007" y="146303"/>
                </a:lnTo>
                <a:lnTo>
                  <a:pt x="64677" y="156057"/>
                </a:lnTo>
                <a:lnTo>
                  <a:pt x="58472" y="165811"/>
                </a:lnTo>
                <a:lnTo>
                  <a:pt x="45910" y="175564"/>
                </a:lnTo>
                <a:lnTo>
                  <a:pt x="30068" y="185318"/>
                </a:lnTo>
                <a:lnTo>
                  <a:pt x="14824" y="195071"/>
                </a:lnTo>
                <a:lnTo>
                  <a:pt x="3911" y="204825"/>
                </a:lnTo>
                <a:lnTo>
                  <a:pt x="0" y="214579"/>
                </a:lnTo>
                <a:lnTo>
                  <a:pt x="4048" y="224332"/>
                </a:lnTo>
                <a:lnTo>
                  <a:pt x="15066" y="234086"/>
                </a:lnTo>
                <a:lnTo>
                  <a:pt x="30355" y="243840"/>
                </a:lnTo>
                <a:lnTo>
                  <a:pt x="46172" y="253593"/>
                </a:lnTo>
                <a:lnTo>
                  <a:pt x="58644" y="263347"/>
                </a:lnTo>
                <a:lnTo>
                  <a:pt x="64718" y="273100"/>
                </a:lnTo>
                <a:lnTo>
                  <a:pt x="62906" y="282854"/>
                </a:lnTo>
                <a:lnTo>
                  <a:pt x="53653" y="292607"/>
                </a:lnTo>
                <a:lnTo>
                  <a:pt x="39224" y="302361"/>
                </a:lnTo>
                <a:lnTo>
                  <a:pt x="23151" y="312115"/>
                </a:lnTo>
                <a:lnTo>
                  <a:pt x="9370" y="321868"/>
                </a:lnTo>
                <a:lnTo>
                  <a:pt x="1254" y="331622"/>
                </a:lnTo>
                <a:lnTo>
                  <a:pt x="792" y="341375"/>
                </a:lnTo>
                <a:lnTo>
                  <a:pt x="8095" y="351129"/>
                </a:lnTo>
                <a:lnTo>
                  <a:pt x="21376" y="360883"/>
                </a:lnTo>
                <a:lnTo>
                  <a:pt x="37384" y="370636"/>
                </a:lnTo>
                <a:lnTo>
                  <a:pt x="52198" y="380390"/>
                </a:lnTo>
                <a:lnTo>
                  <a:pt x="62193" y="390143"/>
                </a:lnTo>
              </a:path>
            </a:pathLst>
          </a:custGeom>
          <a:noFill/>
          <a:ln w="30480" cap="rnd">
            <a:solidFill>
              <a:srgbClr val="0072B2"/>
            </a:solidFill>
          </a:ln>
        </p:spPr>
      </p:sp>
      <p:sp>
        <p:nvSpPr>
          <p:cNvPr id="33" name="Editable vector 33"/>
          <p:cNvSpPr/>
          <p:nvPr/>
        </p:nvSpPr>
        <p:spPr>
          <a:xfrm>
            <a:off x="3987800" y="2277872"/>
            <a:ext cx="101600" cy="56896"/>
          </a:xfrm>
          <a:custGeom>
            <a:avLst/>
            <a:gdLst/>
            <a:ahLst/>
            <a:cxnLst/>
            <a:rect l="0" t="0" r="r" b="b"/>
            <a:pathLst>
              <a:path w="101600" h="56896" fill="none">
                <a:moveTo>
                  <a:pt x="0" y="0"/>
                </a:moveTo>
                <a:lnTo>
                  <a:pt x="48768" y="56896"/>
                </a:lnTo>
                <a:lnTo>
                  <a:pt x="10160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34" name="Editable vector 34"/>
          <p:cNvSpPr/>
          <p:nvPr/>
        </p:nvSpPr>
        <p:spPr>
          <a:xfrm>
            <a:off x="4089400" y="1830832"/>
            <a:ext cx="101600" cy="56896"/>
          </a:xfrm>
          <a:custGeom>
            <a:avLst/>
            <a:gdLst/>
            <a:ahLst/>
            <a:cxnLst/>
            <a:rect l="0" t="0" r="r" b="b"/>
            <a:pathLst>
              <a:path w="101600" h="56896" fill="none">
                <a:moveTo>
                  <a:pt x="0" y="56896"/>
                </a:moveTo>
                <a:lnTo>
                  <a:pt x="52831" y="0"/>
                </a:lnTo>
                <a:lnTo>
                  <a:pt x="101600" y="56896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35" name="Editable vector 35"/>
          <p:cNvSpPr/>
          <p:nvPr/>
        </p:nvSpPr>
        <p:spPr>
          <a:xfrm>
            <a:off x="4234434" y="2061464"/>
            <a:ext cx="52765" cy="316991"/>
          </a:xfrm>
          <a:custGeom>
            <a:avLst/>
            <a:gdLst/>
            <a:ahLst/>
            <a:cxnLst/>
            <a:rect l="0" t="0" r="r" b="b"/>
            <a:pathLst>
              <a:path w="52765" h="316991" fill="none">
                <a:moveTo>
                  <a:pt x="26415" y="0"/>
                </a:moveTo>
                <a:lnTo>
                  <a:pt x="39080" y="7924"/>
                </a:lnTo>
                <a:lnTo>
                  <a:pt x="48644" y="15849"/>
                </a:lnTo>
                <a:lnTo>
                  <a:pt x="52765" y="23774"/>
                </a:lnTo>
                <a:lnTo>
                  <a:pt x="50435" y="31699"/>
                </a:lnTo>
                <a:lnTo>
                  <a:pt x="42224" y="39624"/>
                </a:lnTo>
                <a:lnTo>
                  <a:pt x="30143" y="47548"/>
                </a:lnTo>
                <a:lnTo>
                  <a:pt x="17149" y="55473"/>
                </a:lnTo>
                <a:lnTo>
                  <a:pt x="6424" y="63398"/>
                </a:lnTo>
                <a:lnTo>
                  <a:pt x="593" y="71323"/>
                </a:lnTo>
                <a:lnTo>
                  <a:pt x="1084" y="79247"/>
                </a:lnTo>
                <a:lnTo>
                  <a:pt x="7778" y="87172"/>
                </a:lnTo>
                <a:lnTo>
                  <a:pt x="19034" y="95097"/>
                </a:lnTo>
                <a:lnTo>
                  <a:pt x="32098" y="103022"/>
                </a:lnTo>
                <a:lnTo>
                  <a:pt x="43770" y="110947"/>
                </a:lnTo>
                <a:lnTo>
                  <a:pt x="51193" y="118871"/>
                </a:lnTo>
                <a:lnTo>
                  <a:pt x="52550" y="126796"/>
                </a:lnTo>
                <a:lnTo>
                  <a:pt x="47508" y="134721"/>
                </a:lnTo>
                <a:lnTo>
                  <a:pt x="37302" y="142646"/>
                </a:lnTo>
                <a:lnTo>
                  <a:pt x="24430" y="150571"/>
                </a:lnTo>
                <a:lnTo>
                  <a:pt x="12044" y="158495"/>
                </a:lnTo>
                <a:lnTo>
                  <a:pt x="3177" y="166420"/>
                </a:lnTo>
                <a:lnTo>
                  <a:pt x="0" y="174345"/>
                </a:lnTo>
                <a:lnTo>
                  <a:pt x="3289" y="182270"/>
                </a:lnTo>
                <a:lnTo>
                  <a:pt x="12241" y="190195"/>
                </a:lnTo>
                <a:lnTo>
                  <a:pt x="24663" y="198120"/>
                </a:lnTo>
                <a:lnTo>
                  <a:pt x="37514" y="206044"/>
                </a:lnTo>
                <a:lnTo>
                  <a:pt x="47648" y="213969"/>
                </a:lnTo>
                <a:lnTo>
                  <a:pt x="52583" y="221894"/>
                </a:lnTo>
                <a:lnTo>
                  <a:pt x="51111" y="229819"/>
                </a:lnTo>
                <a:lnTo>
                  <a:pt x="43593" y="237744"/>
                </a:lnTo>
                <a:lnTo>
                  <a:pt x="31869" y="245668"/>
                </a:lnTo>
                <a:lnTo>
                  <a:pt x="18810" y="253593"/>
                </a:lnTo>
                <a:lnTo>
                  <a:pt x="7613" y="261518"/>
                </a:lnTo>
                <a:lnTo>
                  <a:pt x="1019" y="269443"/>
                </a:lnTo>
                <a:lnTo>
                  <a:pt x="643" y="277367"/>
                </a:lnTo>
                <a:lnTo>
                  <a:pt x="6577" y="285292"/>
                </a:lnTo>
                <a:lnTo>
                  <a:pt x="17368" y="293217"/>
                </a:lnTo>
                <a:lnTo>
                  <a:pt x="30374" y="301142"/>
                </a:lnTo>
                <a:lnTo>
                  <a:pt x="42411" y="309067"/>
                </a:lnTo>
                <a:lnTo>
                  <a:pt x="50532" y="316991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36" name="Editable vector 36"/>
          <p:cNvSpPr/>
          <p:nvPr/>
        </p:nvSpPr>
        <p:spPr>
          <a:xfrm>
            <a:off x="4316984" y="2061464"/>
            <a:ext cx="52765" cy="316991"/>
          </a:xfrm>
          <a:custGeom>
            <a:avLst/>
            <a:gdLst/>
            <a:ahLst/>
            <a:cxnLst/>
            <a:rect l="0" t="0" r="r" b="b"/>
            <a:pathLst>
              <a:path w="52765" h="316991" fill="none">
                <a:moveTo>
                  <a:pt x="26415" y="316991"/>
                </a:moveTo>
                <a:lnTo>
                  <a:pt x="39080" y="309067"/>
                </a:lnTo>
                <a:lnTo>
                  <a:pt x="48644" y="301142"/>
                </a:lnTo>
                <a:lnTo>
                  <a:pt x="52765" y="293217"/>
                </a:lnTo>
                <a:lnTo>
                  <a:pt x="50435" y="285292"/>
                </a:lnTo>
                <a:lnTo>
                  <a:pt x="42224" y="277367"/>
                </a:lnTo>
                <a:lnTo>
                  <a:pt x="30143" y="269443"/>
                </a:lnTo>
                <a:lnTo>
                  <a:pt x="17149" y="261518"/>
                </a:lnTo>
                <a:lnTo>
                  <a:pt x="6424" y="253593"/>
                </a:lnTo>
                <a:lnTo>
                  <a:pt x="593" y="245668"/>
                </a:lnTo>
                <a:lnTo>
                  <a:pt x="1084" y="237744"/>
                </a:lnTo>
                <a:lnTo>
                  <a:pt x="7778" y="229819"/>
                </a:lnTo>
                <a:lnTo>
                  <a:pt x="19034" y="221894"/>
                </a:lnTo>
                <a:lnTo>
                  <a:pt x="32098" y="213969"/>
                </a:lnTo>
                <a:lnTo>
                  <a:pt x="43770" y="206044"/>
                </a:lnTo>
                <a:lnTo>
                  <a:pt x="51193" y="198120"/>
                </a:lnTo>
                <a:lnTo>
                  <a:pt x="52550" y="190195"/>
                </a:lnTo>
                <a:lnTo>
                  <a:pt x="47508" y="182270"/>
                </a:lnTo>
                <a:lnTo>
                  <a:pt x="37302" y="174345"/>
                </a:lnTo>
                <a:lnTo>
                  <a:pt x="24430" y="166420"/>
                </a:lnTo>
                <a:lnTo>
                  <a:pt x="12044" y="158495"/>
                </a:lnTo>
                <a:lnTo>
                  <a:pt x="3177" y="150571"/>
                </a:lnTo>
                <a:lnTo>
                  <a:pt x="0" y="142646"/>
                </a:lnTo>
                <a:lnTo>
                  <a:pt x="3289" y="134721"/>
                </a:lnTo>
                <a:lnTo>
                  <a:pt x="12241" y="126796"/>
                </a:lnTo>
                <a:lnTo>
                  <a:pt x="24663" y="118871"/>
                </a:lnTo>
                <a:lnTo>
                  <a:pt x="37514" y="110947"/>
                </a:lnTo>
                <a:lnTo>
                  <a:pt x="47648" y="103022"/>
                </a:lnTo>
                <a:lnTo>
                  <a:pt x="52583" y="95097"/>
                </a:lnTo>
                <a:lnTo>
                  <a:pt x="51111" y="87172"/>
                </a:lnTo>
                <a:lnTo>
                  <a:pt x="43593" y="79247"/>
                </a:lnTo>
                <a:lnTo>
                  <a:pt x="31869" y="71323"/>
                </a:lnTo>
                <a:lnTo>
                  <a:pt x="18810" y="63398"/>
                </a:lnTo>
                <a:lnTo>
                  <a:pt x="7613" y="55473"/>
                </a:lnTo>
                <a:lnTo>
                  <a:pt x="1019" y="47548"/>
                </a:lnTo>
                <a:lnTo>
                  <a:pt x="643" y="39624"/>
                </a:lnTo>
                <a:lnTo>
                  <a:pt x="6577" y="31699"/>
                </a:lnTo>
                <a:lnTo>
                  <a:pt x="17368" y="23774"/>
                </a:lnTo>
                <a:lnTo>
                  <a:pt x="30374" y="15849"/>
                </a:lnTo>
                <a:lnTo>
                  <a:pt x="42411" y="7924"/>
                </a:lnTo>
                <a:lnTo>
                  <a:pt x="50532" y="0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37" name="Editable vector 37"/>
          <p:cNvSpPr/>
          <p:nvPr/>
        </p:nvSpPr>
        <p:spPr>
          <a:xfrm>
            <a:off x="4399534" y="2061464"/>
            <a:ext cx="52765" cy="316991"/>
          </a:xfrm>
          <a:custGeom>
            <a:avLst/>
            <a:gdLst/>
            <a:ahLst/>
            <a:cxnLst/>
            <a:rect l="0" t="0" r="r" b="b"/>
            <a:pathLst>
              <a:path w="52765" h="316991" fill="none">
                <a:moveTo>
                  <a:pt x="26415" y="0"/>
                </a:moveTo>
                <a:lnTo>
                  <a:pt x="39080" y="7924"/>
                </a:lnTo>
                <a:lnTo>
                  <a:pt x="48644" y="15849"/>
                </a:lnTo>
                <a:lnTo>
                  <a:pt x="52765" y="23774"/>
                </a:lnTo>
                <a:lnTo>
                  <a:pt x="50435" y="31699"/>
                </a:lnTo>
                <a:lnTo>
                  <a:pt x="42224" y="39624"/>
                </a:lnTo>
                <a:lnTo>
                  <a:pt x="30143" y="47548"/>
                </a:lnTo>
                <a:lnTo>
                  <a:pt x="17149" y="55473"/>
                </a:lnTo>
                <a:lnTo>
                  <a:pt x="6424" y="63398"/>
                </a:lnTo>
                <a:lnTo>
                  <a:pt x="593" y="71323"/>
                </a:lnTo>
                <a:lnTo>
                  <a:pt x="1084" y="79247"/>
                </a:lnTo>
                <a:lnTo>
                  <a:pt x="7778" y="87172"/>
                </a:lnTo>
                <a:lnTo>
                  <a:pt x="19034" y="95097"/>
                </a:lnTo>
                <a:lnTo>
                  <a:pt x="32098" y="103022"/>
                </a:lnTo>
                <a:lnTo>
                  <a:pt x="43770" y="110947"/>
                </a:lnTo>
                <a:lnTo>
                  <a:pt x="51193" y="118871"/>
                </a:lnTo>
                <a:lnTo>
                  <a:pt x="52550" y="126796"/>
                </a:lnTo>
                <a:lnTo>
                  <a:pt x="47508" y="134721"/>
                </a:lnTo>
                <a:lnTo>
                  <a:pt x="37302" y="142646"/>
                </a:lnTo>
                <a:lnTo>
                  <a:pt x="24430" y="150571"/>
                </a:lnTo>
                <a:lnTo>
                  <a:pt x="12044" y="158495"/>
                </a:lnTo>
                <a:lnTo>
                  <a:pt x="3177" y="166420"/>
                </a:lnTo>
                <a:lnTo>
                  <a:pt x="0" y="174345"/>
                </a:lnTo>
                <a:lnTo>
                  <a:pt x="3289" y="182270"/>
                </a:lnTo>
                <a:lnTo>
                  <a:pt x="12241" y="190195"/>
                </a:lnTo>
                <a:lnTo>
                  <a:pt x="24663" y="198120"/>
                </a:lnTo>
                <a:lnTo>
                  <a:pt x="37514" y="206044"/>
                </a:lnTo>
                <a:lnTo>
                  <a:pt x="47648" y="213969"/>
                </a:lnTo>
                <a:lnTo>
                  <a:pt x="52583" y="221894"/>
                </a:lnTo>
                <a:lnTo>
                  <a:pt x="51111" y="229819"/>
                </a:lnTo>
                <a:lnTo>
                  <a:pt x="43593" y="237744"/>
                </a:lnTo>
                <a:lnTo>
                  <a:pt x="31869" y="245668"/>
                </a:lnTo>
                <a:lnTo>
                  <a:pt x="18810" y="253593"/>
                </a:lnTo>
                <a:lnTo>
                  <a:pt x="7613" y="261518"/>
                </a:lnTo>
                <a:lnTo>
                  <a:pt x="1019" y="269443"/>
                </a:lnTo>
                <a:lnTo>
                  <a:pt x="643" y="277367"/>
                </a:lnTo>
                <a:lnTo>
                  <a:pt x="6577" y="285292"/>
                </a:lnTo>
                <a:lnTo>
                  <a:pt x="17368" y="293217"/>
                </a:lnTo>
                <a:lnTo>
                  <a:pt x="30374" y="301142"/>
                </a:lnTo>
                <a:lnTo>
                  <a:pt x="42411" y="309067"/>
                </a:lnTo>
                <a:lnTo>
                  <a:pt x="50532" y="316991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38" name="Editable vector 38"/>
          <p:cNvSpPr/>
          <p:nvPr/>
        </p:nvSpPr>
        <p:spPr>
          <a:xfrm>
            <a:off x="4260850" y="2378456"/>
            <a:ext cx="82550" cy="46228"/>
          </a:xfrm>
          <a:custGeom>
            <a:avLst/>
            <a:gdLst/>
            <a:ahLst/>
            <a:cxnLst/>
            <a:rect l="0" t="0" r="r" b="b"/>
            <a:pathLst>
              <a:path w="82550" h="46228" fill="none">
                <a:moveTo>
                  <a:pt x="0" y="0"/>
                </a:moveTo>
                <a:lnTo>
                  <a:pt x="39623" y="46228"/>
                </a:lnTo>
                <a:lnTo>
                  <a:pt x="82550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39" name="Editable vector 39"/>
          <p:cNvSpPr/>
          <p:nvPr/>
        </p:nvSpPr>
        <p:spPr>
          <a:xfrm>
            <a:off x="4343400" y="2015236"/>
            <a:ext cx="82550" cy="46228"/>
          </a:xfrm>
          <a:custGeom>
            <a:avLst/>
            <a:gdLst/>
            <a:ahLst/>
            <a:cxnLst/>
            <a:rect l="0" t="0" r="r" b="b"/>
            <a:pathLst>
              <a:path w="82550" h="46228" fill="none">
                <a:moveTo>
                  <a:pt x="0" y="46228"/>
                </a:moveTo>
                <a:lnTo>
                  <a:pt x="42926" y="0"/>
                </a:lnTo>
                <a:lnTo>
                  <a:pt x="82550" y="46228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40" name="Editable shape 40"/>
          <p:cNvSpPr/>
          <p:nvPr/>
        </p:nvSpPr>
        <p:spPr>
          <a:xfrm>
            <a:off x="4964176" y="1906778"/>
            <a:ext cx="106172" cy="19304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1" name="Editable shape 41"/>
          <p:cNvSpPr/>
          <p:nvPr/>
        </p:nvSpPr>
        <p:spPr>
          <a:xfrm>
            <a:off x="4964176" y="2133600"/>
            <a:ext cx="106172" cy="202692"/>
          </a:xfrm>
          <a:prstGeom prst="ellipse">
            <a:avLst/>
          </a:prstGeom>
          <a:solidFill>
            <a:srgbClr val="C7D1DA"/>
          </a:solidFill>
          <a:ln>
            <a:noFill/>
          </a:ln>
        </p:spPr>
      </p:sp>
      <p:sp>
        <p:nvSpPr>
          <p:cNvPr id="42" name="Editable shape 42"/>
          <p:cNvSpPr/>
          <p:nvPr/>
        </p:nvSpPr>
        <p:spPr>
          <a:xfrm>
            <a:off x="5089652" y="1906778"/>
            <a:ext cx="106172" cy="19304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3" name="Editable shape 43"/>
          <p:cNvSpPr/>
          <p:nvPr/>
        </p:nvSpPr>
        <p:spPr>
          <a:xfrm>
            <a:off x="5089652" y="2164080"/>
            <a:ext cx="106172" cy="202692"/>
          </a:xfrm>
          <a:prstGeom prst="ellipse">
            <a:avLst/>
          </a:prstGeom>
          <a:solidFill>
            <a:srgbClr val="C7D1DA"/>
          </a:solidFill>
          <a:ln>
            <a:noFill/>
          </a:ln>
        </p:spPr>
      </p:sp>
      <p:sp>
        <p:nvSpPr>
          <p:cNvPr id="44" name="Editable vector 44"/>
          <p:cNvSpPr/>
          <p:nvPr/>
        </p:nvSpPr>
        <p:spPr>
          <a:xfrm>
            <a:off x="5031740" y="2109470"/>
            <a:ext cx="96520" cy="5080"/>
          </a:xfrm>
          <a:custGeom>
            <a:avLst/>
            <a:gdLst/>
            <a:ahLst/>
            <a:cxnLst/>
            <a:rect l="0" t="0" r="r" b="b"/>
            <a:pathLst>
              <a:path w="96520" h="5080" fill="none">
                <a:moveTo>
                  <a:pt x="0" y="0"/>
                </a:moveTo>
                <a:lnTo>
                  <a:pt x="96520" y="0"/>
                </a:lnTo>
              </a:path>
            </a:pathLst>
          </a:custGeom>
          <a:noFill/>
          <a:ln w="15240" cap="rnd">
            <a:solidFill>
              <a:srgbClr val="617588"/>
            </a:solidFill>
          </a:ln>
        </p:spPr>
      </p:sp>
      <p:sp>
        <p:nvSpPr>
          <p:cNvPr id="45" name="Editable shape 45"/>
          <p:cNvSpPr/>
          <p:nvPr/>
        </p:nvSpPr>
        <p:spPr>
          <a:xfrm>
            <a:off x="5288280" y="1986280"/>
            <a:ext cx="193040" cy="330200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46" name="RFdiffusion → ProteinMPNN"/>
          <p:cNvSpPr txBox="1"/>
          <p:nvPr/>
        </p:nvSpPr>
        <p:spPr>
          <a:xfrm>
            <a:off x="3187700" y="2621280"/>
            <a:ext cx="2870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17324D"/>
                </a:solidFill>
                <a:latin typeface="Arial"/>
              </a:rPr>
              <a:t>RFdiffusion → ProteinMPNN</a:t>
            </a:r>
          </a:p>
        </p:txBody>
      </p:sp>
      <p:sp>
        <p:nvSpPr>
          <p:cNvPr id="47" name="or BindCraft"/>
          <p:cNvSpPr txBox="1"/>
          <p:nvPr/>
        </p:nvSpPr>
        <p:spPr>
          <a:xfrm>
            <a:off x="3251200" y="2860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or BindCraft</a:t>
            </a:r>
          </a:p>
        </p:txBody>
      </p:sp>
      <p:sp>
        <p:nvSpPr>
          <p:cNvPr id="48" name="Fab / VHH"/>
          <p:cNvSpPr txBox="1"/>
          <p:nvPr/>
        </p:nvSpPr>
        <p:spPr>
          <a:xfrm>
            <a:off x="4597400" y="2413000"/>
            <a:ext cx="127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Fab / VHH</a:t>
            </a:r>
          </a:p>
        </p:txBody>
      </p:sp>
      <p:sp>
        <p:nvSpPr>
          <p:cNvPr id="49" name="RFantibody (antibody route)"/>
          <p:cNvSpPr txBox="1"/>
          <p:nvPr/>
        </p:nvSpPr>
        <p:spPr>
          <a:xfrm>
            <a:off x="3187700" y="3119120"/>
            <a:ext cx="2870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17324D"/>
                </a:solidFill>
                <a:latin typeface="Arial"/>
              </a:rPr>
              <a:t>RFantibody (antibody route)</a:t>
            </a:r>
          </a:p>
        </p:txBody>
      </p:sp>
      <p:sp>
        <p:nvSpPr>
          <p:cNvPr id="50" name="Editable shape 50"/>
          <p:cNvSpPr/>
          <p:nvPr/>
        </p:nvSpPr>
        <p:spPr>
          <a:xfrm>
            <a:off x="6897624" y="2000504"/>
            <a:ext cx="329184" cy="329184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51" name="Editable shape 51"/>
          <p:cNvSpPr/>
          <p:nvPr/>
        </p:nvSpPr>
        <p:spPr>
          <a:xfrm>
            <a:off x="7089648" y="1959356"/>
            <a:ext cx="320040" cy="32004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52" name="Editable shape 52"/>
          <p:cNvSpPr/>
          <p:nvPr/>
        </p:nvSpPr>
        <p:spPr>
          <a:xfrm>
            <a:off x="7162800" y="2165096"/>
            <a:ext cx="274320" cy="27432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53" name="Editable shape 53"/>
          <p:cNvSpPr/>
          <p:nvPr/>
        </p:nvSpPr>
        <p:spPr>
          <a:xfrm>
            <a:off x="6966204" y="2192528"/>
            <a:ext cx="320040" cy="32004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54" name="Editable shape 54"/>
          <p:cNvSpPr/>
          <p:nvPr/>
        </p:nvSpPr>
        <p:spPr>
          <a:xfrm>
            <a:off x="7277100" y="2101088"/>
            <a:ext cx="118872" cy="11887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5" name="Editable vector 55"/>
          <p:cNvSpPr/>
          <p:nvPr/>
        </p:nvSpPr>
        <p:spPr>
          <a:xfrm>
            <a:off x="7412787" y="1964740"/>
            <a:ext cx="51142" cy="307238"/>
          </a:xfrm>
          <a:custGeom>
            <a:avLst/>
            <a:gdLst/>
            <a:ahLst/>
            <a:cxnLst/>
            <a:rect l="0" t="0" r="r" b="b"/>
            <a:pathLst>
              <a:path w="51142" h="307238" fill="none">
                <a:moveTo>
                  <a:pt x="25602" y="0"/>
                </a:moveTo>
                <a:lnTo>
                  <a:pt x="37877" y="7680"/>
                </a:lnTo>
                <a:lnTo>
                  <a:pt x="47147" y="15361"/>
                </a:lnTo>
                <a:lnTo>
                  <a:pt x="51142" y="23042"/>
                </a:lnTo>
                <a:lnTo>
                  <a:pt x="48883" y="30723"/>
                </a:lnTo>
                <a:lnTo>
                  <a:pt x="40925" y="38404"/>
                </a:lnTo>
                <a:lnTo>
                  <a:pt x="29216" y="46085"/>
                </a:lnTo>
                <a:lnTo>
                  <a:pt x="16621" y="53766"/>
                </a:lnTo>
                <a:lnTo>
                  <a:pt x="6226" y="61447"/>
                </a:lnTo>
                <a:lnTo>
                  <a:pt x="575" y="69128"/>
                </a:lnTo>
                <a:lnTo>
                  <a:pt x="1051" y="76809"/>
                </a:lnTo>
                <a:lnTo>
                  <a:pt x="7538" y="84490"/>
                </a:lnTo>
                <a:lnTo>
                  <a:pt x="18449" y="92171"/>
                </a:lnTo>
                <a:lnTo>
                  <a:pt x="31110" y="99852"/>
                </a:lnTo>
                <a:lnTo>
                  <a:pt x="42423" y="107533"/>
                </a:lnTo>
                <a:lnTo>
                  <a:pt x="49618" y="115214"/>
                </a:lnTo>
                <a:lnTo>
                  <a:pt x="50933" y="122895"/>
                </a:lnTo>
                <a:lnTo>
                  <a:pt x="46046" y="130576"/>
                </a:lnTo>
                <a:lnTo>
                  <a:pt x="36154" y="138257"/>
                </a:lnTo>
                <a:lnTo>
                  <a:pt x="23678" y="145938"/>
                </a:lnTo>
                <a:lnTo>
                  <a:pt x="11674" y="153619"/>
                </a:lnTo>
                <a:lnTo>
                  <a:pt x="3079" y="161300"/>
                </a:lnTo>
                <a:lnTo>
                  <a:pt x="0" y="168981"/>
                </a:lnTo>
                <a:lnTo>
                  <a:pt x="3188" y="176662"/>
                </a:lnTo>
                <a:lnTo>
                  <a:pt x="11864" y="184343"/>
                </a:lnTo>
                <a:lnTo>
                  <a:pt x="23904" y="192024"/>
                </a:lnTo>
                <a:lnTo>
                  <a:pt x="36360" y="199704"/>
                </a:lnTo>
                <a:lnTo>
                  <a:pt x="46182" y="207385"/>
                </a:lnTo>
                <a:lnTo>
                  <a:pt x="50965" y="215066"/>
                </a:lnTo>
                <a:lnTo>
                  <a:pt x="49539" y="222747"/>
                </a:lnTo>
                <a:lnTo>
                  <a:pt x="42252" y="230428"/>
                </a:lnTo>
                <a:lnTo>
                  <a:pt x="30889" y="238109"/>
                </a:lnTo>
                <a:lnTo>
                  <a:pt x="18231" y="245790"/>
                </a:lnTo>
                <a:lnTo>
                  <a:pt x="7378" y="253471"/>
                </a:lnTo>
                <a:lnTo>
                  <a:pt x="988" y="261152"/>
                </a:lnTo>
                <a:lnTo>
                  <a:pt x="623" y="268833"/>
                </a:lnTo>
                <a:lnTo>
                  <a:pt x="6375" y="276514"/>
                </a:lnTo>
                <a:lnTo>
                  <a:pt x="16834" y="284195"/>
                </a:lnTo>
                <a:lnTo>
                  <a:pt x="29440" y="291876"/>
                </a:lnTo>
                <a:lnTo>
                  <a:pt x="41106" y="299557"/>
                </a:lnTo>
                <a:lnTo>
                  <a:pt x="48977" y="307238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56" name="Editable vector 56"/>
          <p:cNvSpPr/>
          <p:nvPr/>
        </p:nvSpPr>
        <p:spPr>
          <a:xfrm>
            <a:off x="7492797" y="1964740"/>
            <a:ext cx="51142" cy="307238"/>
          </a:xfrm>
          <a:custGeom>
            <a:avLst/>
            <a:gdLst/>
            <a:ahLst/>
            <a:cxnLst/>
            <a:rect l="0" t="0" r="r" b="b"/>
            <a:pathLst>
              <a:path w="51142" h="307238" fill="none">
                <a:moveTo>
                  <a:pt x="25602" y="307238"/>
                </a:moveTo>
                <a:lnTo>
                  <a:pt x="37877" y="299557"/>
                </a:lnTo>
                <a:lnTo>
                  <a:pt x="47147" y="291876"/>
                </a:lnTo>
                <a:lnTo>
                  <a:pt x="51142" y="284195"/>
                </a:lnTo>
                <a:lnTo>
                  <a:pt x="48883" y="276514"/>
                </a:lnTo>
                <a:lnTo>
                  <a:pt x="40925" y="268833"/>
                </a:lnTo>
                <a:lnTo>
                  <a:pt x="29216" y="261152"/>
                </a:lnTo>
                <a:lnTo>
                  <a:pt x="16621" y="253471"/>
                </a:lnTo>
                <a:lnTo>
                  <a:pt x="6226" y="245790"/>
                </a:lnTo>
                <a:lnTo>
                  <a:pt x="575" y="238109"/>
                </a:lnTo>
                <a:lnTo>
                  <a:pt x="1051" y="230428"/>
                </a:lnTo>
                <a:lnTo>
                  <a:pt x="7538" y="222747"/>
                </a:lnTo>
                <a:lnTo>
                  <a:pt x="18449" y="215066"/>
                </a:lnTo>
                <a:lnTo>
                  <a:pt x="31110" y="207385"/>
                </a:lnTo>
                <a:lnTo>
                  <a:pt x="42423" y="199704"/>
                </a:lnTo>
                <a:lnTo>
                  <a:pt x="49618" y="192024"/>
                </a:lnTo>
                <a:lnTo>
                  <a:pt x="50933" y="184343"/>
                </a:lnTo>
                <a:lnTo>
                  <a:pt x="46046" y="176662"/>
                </a:lnTo>
                <a:lnTo>
                  <a:pt x="36154" y="168981"/>
                </a:lnTo>
                <a:lnTo>
                  <a:pt x="23678" y="161300"/>
                </a:lnTo>
                <a:lnTo>
                  <a:pt x="11674" y="153619"/>
                </a:lnTo>
                <a:lnTo>
                  <a:pt x="3079" y="145938"/>
                </a:lnTo>
                <a:lnTo>
                  <a:pt x="0" y="138257"/>
                </a:lnTo>
                <a:lnTo>
                  <a:pt x="3188" y="130576"/>
                </a:lnTo>
                <a:lnTo>
                  <a:pt x="11864" y="122895"/>
                </a:lnTo>
                <a:lnTo>
                  <a:pt x="23904" y="115214"/>
                </a:lnTo>
                <a:lnTo>
                  <a:pt x="36360" y="107533"/>
                </a:lnTo>
                <a:lnTo>
                  <a:pt x="46182" y="99852"/>
                </a:lnTo>
                <a:lnTo>
                  <a:pt x="50965" y="92171"/>
                </a:lnTo>
                <a:lnTo>
                  <a:pt x="49539" y="84490"/>
                </a:lnTo>
                <a:lnTo>
                  <a:pt x="42252" y="76809"/>
                </a:lnTo>
                <a:lnTo>
                  <a:pt x="30889" y="69128"/>
                </a:lnTo>
                <a:lnTo>
                  <a:pt x="18231" y="61447"/>
                </a:lnTo>
                <a:lnTo>
                  <a:pt x="7378" y="53766"/>
                </a:lnTo>
                <a:lnTo>
                  <a:pt x="988" y="46085"/>
                </a:lnTo>
                <a:lnTo>
                  <a:pt x="623" y="38404"/>
                </a:lnTo>
                <a:lnTo>
                  <a:pt x="6375" y="30723"/>
                </a:lnTo>
                <a:lnTo>
                  <a:pt x="16834" y="23042"/>
                </a:lnTo>
                <a:lnTo>
                  <a:pt x="29440" y="15361"/>
                </a:lnTo>
                <a:lnTo>
                  <a:pt x="41106" y="7680"/>
                </a:lnTo>
                <a:lnTo>
                  <a:pt x="48977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57" name="Editable vector 57"/>
          <p:cNvSpPr/>
          <p:nvPr/>
        </p:nvSpPr>
        <p:spPr>
          <a:xfrm>
            <a:off x="7572807" y="1964740"/>
            <a:ext cx="51142" cy="307238"/>
          </a:xfrm>
          <a:custGeom>
            <a:avLst/>
            <a:gdLst/>
            <a:ahLst/>
            <a:cxnLst/>
            <a:rect l="0" t="0" r="r" b="b"/>
            <a:pathLst>
              <a:path w="51142" h="307238" fill="none">
                <a:moveTo>
                  <a:pt x="25602" y="0"/>
                </a:moveTo>
                <a:lnTo>
                  <a:pt x="37877" y="7680"/>
                </a:lnTo>
                <a:lnTo>
                  <a:pt x="47147" y="15361"/>
                </a:lnTo>
                <a:lnTo>
                  <a:pt x="51142" y="23042"/>
                </a:lnTo>
                <a:lnTo>
                  <a:pt x="48883" y="30723"/>
                </a:lnTo>
                <a:lnTo>
                  <a:pt x="40925" y="38404"/>
                </a:lnTo>
                <a:lnTo>
                  <a:pt x="29216" y="46085"/>
                </a:lnTo>
                <a:lnTo>
                  <a:pt x="16621" y="53766"/>
                </a:lnTo>
                <a:lnTo>
                  <a:pt x="6226" y="61447"/>
                </a:lnTo>
                <a:lnTo>
                  <a:pt x="575" y="69128"/>
                </a:lnTo>
                <a:lnTo>
                  <a:pt x="1051" y="76809"/>
                </a:lnTo>
                <a:lnTo>
                  <a:pt x="7538" y="84490"/>
                </a:lnTo>
                <a:lnTo>
                  <a:pt x="18449" y="92171"/>
                </a:lnTo>
                <a:lnTo>
                  <a:pt x="31110" y="99852"/>
                </a:lnTo>
                <a:lnTo>
                  <a:pt x="42423" y="107533"/>
                </a:lnTo>
                <a:lnTo>
                  <a:pt x="49618" y="115214"/>
                </a:lnTo>
                <a:lnTo>
                  <a:pt x="50933" y="122895"/>
                </a:lnTo>
                <a:lnTo>
                  <a:pt x="46046" y="130576"/>
                </a:lnTo>
                <a:lnTo>
                  <a:pt x="36154" y="138257"/>
                </a:lnTo>
                <a:lnTo>
                  <a:pt x="23678" y="145938"/>
                </a:lnTo>
                <a:lnTo>
                  <a:pt x="11674" y="153619"/>
                </a:lnTo>
                <a:lnTo>
                  <a:pt x="3079" y="161300"/>
                </a:lnTo>
                <a:lnTo>
                  <a:pt x="0" y="168981"/>
                </a:lnTo>
                <a:lnTo>
                  <a:pt x="3188" y="176662"/>
                </a:lnTo>
                <a:lnTo>
                  <a:pt x="11864" y="184343"/>
                </a:lnTo>
                <a:lnTo>
                  <a:pt x="23904" y="192024"/>
                </a:lnTo>
                <a:lnTo>
                  <a:pt x="36360" y="199704"/>
                </a:lnTo>
                <a:lnTo>
                  <a:pt x="46182" y="207385"/>
                </a:lnTo>
                <a:lnTo>
                  <a:pt x="50965" y="215066"/>
                </a:lnTo>
                <a:lnTo>
                  <a:pt x="49539" y="222747"/>
                </a:lnTo>
                <a:lnTo>
                  <a:pt x="42252" y="230428"/>
                </a:lnTo>
                <a:lnTo>
                  <a:pt x="30889" y="238109"/>
                </a:lnTo>
                <a:lnTo>
                  <a:pt x="18231" y="245790"/>
                </a:lnTo>
                <a:lnTo>
                  <a:pt x="7378" y="253471"/>
                </a:lnTo>
                <a:lnTo>
                  <a:pt x="988" y="261152"/>
                </a:lnTo>
                <a:lnTo>
                  <a:pt x="623" y="268833"/>
                </a:lnTo>
                <a:lnTo>
                  <a:pt x="6375" y="276514"/>
                </a:lnTo>
                <a:lnTo>
                  <a:pt x="16834" y="284195"/>
                </a:lnTo>
                <a:lnTo>
                  <a:pt x="29440" y="291876"/>
                </a:lnTo>
                <a:lnTo>
                  <a:pt x="41106" y="299557"/>
                </a:lnTo>
                <a:lnTo>
                  <a:pt x="48977" y="307238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58" name="Editable vector 58"/>
          <p:cNvSpPr/>
          <p:nvPr/>
        </p:nvSpPr>
        <p:spPr>
          <a:xfrm>
            <a:off x="7438390" y="2271979"/>
            <a:ext cx="80010" cy="44805"/>
          </a:xfrm>
          <a:custGeom>
            <a:avLst/>
            <a:gdLst/>
            <a:ahLst/>
            <a:cxnLst/>
            <a:rect l="0" t="0" r="r" b="b"/>
            <a:pathLst>
              <a:path w="80010" h="44805" fill="none">
                <a:moveTo>
                  <a:pt x="0" y="0"/>
                </a:moveTo>
                <a:lnTo>
                  <a:pt x="38404" y="44805"/>
                </a:lnTo>
                <a:lnTo>
                  <a:pt x="8001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59" name="Editable vector 59"/>
          <p:cNvSpPr/>
          <p:nvPr/>
        </p:nvSpPr>
        <p:spPr>
          <a:xfrm>
            <a:off x="7518400" y="1919935"/>
            <a:ext cx="80010" cy="44805"/>
          </a:xfrm>
          <a:custGeom>
            <a:avLst/>
            <a:gdLst/>
            <a:ahLst/>
            <a:cxnLst/>
            <a:rect l="0" t="0" r="r" b="b"/>
            <a:pathLst>
              <a:path w="80010" h="44805" fill="none">
                <a:moveTo>
                  <a:pt x="0" y="44805"/>
                </a:moveTo>
                <a:lnTo>
                  <a:pt x="41605" y="0"/>
                </a:lnTo>
                <a:lnTo>
                  <a:pt x="80010" y="44805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60" name="Editable shape 60"/>
          <p:cNvSpPr/>
          <p:nvPr/>
        </p:nvSpPr>
        <p:spPr>
          <a:xfrm>
            <a:off x="7975600" y="198628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61" name="Editable shape 61"/>
          <p:cNvSpPr/>
          <p:nvPr/>
        </p:nvSpPr>
        <p:spPr>
          <a:xfrm>
            <a:off x="7975600" y="208280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62" name="Editable shape 62"/>
          <p:cNvSpPr/>
          <p:nvPr/>
        </p:nvSpPr>
        <p:spPr>
          <a:xfrm>
            <a:off x="7975600" y="217932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63" name="Editable shape 63"/>
          <p:cNvSpPr/>
          <p:nvPr/>
        </p:nvSpPr>
        <p:spPr>
          <a:xfrm>
            <a:off x="7975600" y="227584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64" name="Editable shape 64"/>
          <p:cNvSpPr/>
          <p:nvPr/>
        </p:nvSpPr>
        <p:spPr>
          <a:xfrm>
            <a:off x="7975600" y="237236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65" name="Editable shape 65"/>
          <p:cNvSpPr/>
          <p:nvPr/>
        </p:nvSpPr>
        <p:spPr>
          <a:xfrm>
            <a:off x="8072120" y="198628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66" name="Editable shape 66"/>
          <p:cNvSpPr/>
          <p:nvPr/>
        </p:nvSpPr>
        <p:spPr>
          <a:xfrm>
            <a:off x="8072120" y="208280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67" name="Editable shape 67"/>
          <p:cNvSpPr/>
          <p:nvPr/>
        </p:nvSpPr>
        <p:spPr>
          <a:xfrm>
            <a:off x="8072120" y="217932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68" name="Editable shape 68"/>
          <p:cNvSpPr/>
          <p:nvPr/>
        </p:nvSpPr>
        <p:spPr>
          <a:xfrm>
            <a:off x="8072120" y="227584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69" name="Editable shape 69"/>
          <p:cNvSpPr/>
          <p:nvPr/>
        </p:nvSpPr>
        <p:spPr>
          <a:xfrm>
            <a:off x="8072120" y="237236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70" name="Editable shape 70"/>
          <p:cNvSpPr/>
          <p:nvPr/>
        </p:nvSpPr>
        <p:spPr>
          <a:xfrm>
            <a:off x="8168640" y="198628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71" name="Editable shape 71"/>
          <p:cNvSpPr/>
          <p:nvPr/>
        </p:nvSpPr>
        <p:spPr>
          <a:xfrm>
            <a:off x="8168640" y="208280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72" name="Editable shape 72"/>
          <p:cNvSpPr/>
          <p:nvPr/>
        </p:nvSpPr>
        <p:spPr>
          <a:xfrm>
            <a:off x="8168640" y="217932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73" name="Editable shape 73"/>
          <p:cNvSpPr/>
          <p:nvPr/>
        </p:nvSpPr>
        <p:spPr>
          <a:xfrm>
            <a:off x="8168640" y="227584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74" name="Editable shape 74"/>
          <p:cNvSpPr/>
          <p:nvPr/>
        </p:nvSpPr>
        <p:spPr>
          <a:xfrm>
            <a:off x="8168640" y="237236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75" name="Editable shape 75"/>
          <p:cNvSpPr/>
          <p:nvPr/>
        </p:nvSpPr>
        <p:spPr>
          <a:xfrm>
            <a:off x="8265160" y="198628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76" name="Editable shape 76"/>
          <p:cNvSpPr/>
          <p:nvPr/>
        </p:nvSpPr>
        <p:spPr>
          <a:xfrm>
            <a:off x="8265160" y="208280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77" name="Editable shape 77"/>
          <p:cNvSpPr/>
          <p:nvPr/>
        </p:nvSpPr>
        <p:spPr>
          <a:xfrm>
            <a:off x="8265160" y="217932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78" name="Editable shape 78"/>
          <p:cNvSpPr/>
          <p:nvPr/>
        </p:nvSpPr>
        <p:spPr>
          <a:xfrm>
            <a:off x="8265160" y="227584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79" name="Editable shape 79"/>
          <p:cNvSpPr/>
          <p:nvPr/>
        </p:nvSpPr>
        <p:spPr>
          <a:xfrm>
            <a:off x="8265160" y="237236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80" name="Editable shape 80"/>
          <p:cNvSpPr/>
          <p:nvPr/>
        </p:nvSpPr>
        <p:spPr>
          <a:xfrm>
            <a:off x="8361680" y="198628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81" name="Editable shape 81"/>
          <p:cNvSpPr/>
          <p:nvPr/>
        </p:nvSpPr>
        <p:spPr>
          <a:xfrm>
            <a:off x="8361680" y="208280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82" name="Editable shape 82"/>
          <p:cNvSpPr/>
          <p:nvPr/>
        </p:nvSpPr>
        <p:spPr>
          <a:xfrm>
            <a:off x="8361680" y="2179320"/>
            <a:ext cx="81280" cy="81280"/>
          </a:xfrm>
          <a:prstGeom prst="rect">
            <a:avLst/>
          </a:prstGeom>
          <a:solidFill>
            <a:srgbClr val="D5E6F1"/>
          </a:solidFill>
          <a:ln>
            <a:noFill/>
          </a:ln>
        </p:spPr>
      </p:sp>
      <p:sp>
        <p:nvSpPr>
          <p:cNvPr id="83" name="Editable shape 83"/>
          <p:cNvSpPr/>
          <p:nvPr/>
        </p:nvSpPr>
        <p:spPr>
          <a:xfrm>
            <a:off x="8361680" y="227584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84" name="Editable shape 84"/>
          <p:cNvSpPr/>
          <p:nvPr/>
        </p:nvSpPr>
        <p:spPr>
          <a:xfrm>
            <a:off x="8361680" y="2372360"/>
            <a:ext cx="81280" cy="81280"/>
          </a:xfrm>
          <a:prstGeom prst="rect">
            <a:avLst/>
          </a:prstGeom>
          <a:solidFill>
            <a:srgbClr val="4D99C7"/>
          </a:solidFill>
          <a:ln>
            <a:noFill/>
          </a:ln>
        </p:spPr>
      </p:sp>
      <p:sp>
        <p:nvSpPr>
          <p:cNvPr id="85" name="AlphaFold2-Multimer / AF3"/>
          <p:cNvSpPr txBox="1"/>
          <p:nvPr/>
        </p:nvSpPr>
        <p:spPr>
          <a:xfrm>
            <a:off x="6134100" y="2895600"/>
            <a:ext cx="2870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17324D"/>
                </a:solidFill>
                <a:latin typeface="Arial"/>
              </a:rPr>
              <a:t>AlphaFold2-Multimer / AF3</a:t>
            </a:r>
          </a:p>
        </p:txBody>
      </p:sp>
      <p:sp>
        <p:nvSpPr>
          <p:cNvPr id="86" name="Fold · interface · epitope"/>
          <p:cNvSpPr txBox="1"/>
          <p:nvPr/>
        </p:nvSpPr>
        <p:spPr>
          <a:xfrm>
            <a:off x="6197600" y="311912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Fold · interface · epitope</a:t>
            </a:r>
          </a:p>
        </p:txBody>
      </p:sp>
      <p:sp>
        <p:nvSpPr>
          <p:cNvPr id="87" name="Editable shape 87"/>
          <p:cNvSpPr/>
          <p:nvPr/>
        </p:nvSpPr>
        <p:spPr>
          <a:xfrm>
            <a:off x="9906000" y="1925320"/>
            <a:ext cx="101600" cy="10160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88" name="Editable shape 88"/>
          <p:cNvSpPr/>
          <p:nvPr/>
        </p:nvSpPr>
        <p:spPr>
          <a:xfrm>
            <a:off x="10210800" y="1925320"/>
            <a:ext cx="101600" cy="101600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89" name="Editable shape 89"/>
          <p:cNvSpPr/>
          <p:nvPr/>
        </p:nvSpPr>
        <p:spPr>
          <a:xfrm>
            <a:off x="10515600" y="1925320"/>
            <a:ext cx="101600" cy="101600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90" name="Editable shape 90"/>
          <p:cNvSpPr/>
          <p:nvPr/>
        </p:nvSpPr>
        <p:spPr>
          <a:xfrm>
            <a:off x="10820400" y="1925320"/>
            <a:ext cx="101600" cy="101600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91" name="Editable vector 91"/>
          <p:cNvSpPr/>
          <p:nvPr/>
        </p:nvSpPr>
        <p:spPr>
          <a:xfrm>
            <a:off x="9804400" y="2098040"/>
            <a:ext cx="1219200" cy="269240"/>
          </a:xfrm>
          <a:custGeom>
            <a:avLst/>
            <a:gdLst/>
            <a:ahLst/>
            <a:cxnLst/>
            <a:rect l="0" t="0" r="r" b="b"/>
            <a:pathLst>
              <a:path w="1219200" h="269240" fill="none">
                <a:moveTo>
                  <a:pt x="0" y="0"/>
                </a:moveTo>
                <a:lnTo>
                  <a:pt x="1219200" y="0"/>
                </a:lnTo>
                <a:lnTo>
                  <a:pt x="955040" y="269240"/>
                </a:lnTo>
                <a:lnTo>
                  <a:pt x="264160" y="269240"/>
                </a:lnTo>
                <a:lnTo>
                  <a:pt x="0" y="0"/>
                </a:lnTo>
              </a:path>
            </a:pathLst>
          </a:custGeom>
          <a:noFill/>
          <a:ln w="15240" cap="rnd">
            <a:solidFill>
              <a:srgbClr val="617588"/>
            </a:solidFill>
          </a:ln>
        </p:spPr>
      </p:sp>
      <p:sp>
        <p:nvSpPr>
          <p:cNvPr id="92" name="Editable vector 92"/>
          <p:cNvSpPr/>
          <p:nvPr/>
        </p:nvSpPr>
        <p:spPr>
          <a:xfrm>
            <a:off x="10197896" y="2487980"/>
            <a:ext cx="30847" cy="185318"/>
          </a:xfrm>
          <a:custGeom>
            <a:avLst/>
            <a:gdLst/>
            <a:ahLst/>
            <a:cxnLst/>
            <a:rect l="0" t="0" r="r" b="b"/>
            <a:pathLst>
              <a:path w="30847" h="185318" fill="none">
                <a:moveTo>
                  <a:pt x="15443" y="0"/>
                </a:moveTo>
                <a:lnTo>
                  <a:pt x="22846" y="4632"/>
                </a:lnTo>
                <a:lnTo>
                  <a:pt x="28438" y="9265"/>
                </a:lnTo>
                <a:lnTo>
                  <a:pt x="30847" y="13898"/>
                </a:lnTo>
                <a:lnTo>
                  <a:pt x="29485" y="18531"/>
                </a:lnTo>
                <a:lnTo>
                  <a:pt x="24685" y="23164"/>
                </a:lnTo>
                <a:lnTo>
                  <a:pt x="17622" y="27797"/>
                </a:lnTo>
                <a:lnTo>
                  <a:pt x="10025" y="32430"/>
                </a:lnTo>
                <a:lnTo>
                  <a:pt x="3755" y="37063"/>
                </a:lnTo>
                <a:lnTo>
                  <a:pt x="346" y="41696"/>
                </a:lnTo>
                <a:lnTo>
                  <a:pt x="634" y="46329"/>
                </a:lnTo>
                <a:lnTo>
                  <a:pt x="4547" y="50962"/>
                </a:lnTo>
                <a:lnTo>
                  <a:pt x="11127" y="55595"/>
                </a:lnTo>
                <a:lnTo>
                  <a:pt x="18765" y="60228"/>
                </a:lnTo>
                <a:lnTo>
                  <a:pt x="25589" y="64861"/>
                </a:lnTo>
                <a:lnTo>
                  <a:pt x="29928" y="69494"/>
                </a:lnTo>
                <a:lnTo>
                  <a:pt x="30721" y="74127"/>
                </a:lnTo>
                <a:lnTo>
                  <a:pt x="27774" y="78760"/>
                </a:lnTo>
                <a:lnTo>
                  <a:pt x="21807" y="83393"/>
                </a:lnTo>
                <a:lnTo>
                  <a:pt x="14282" y="88026"/>
                </a:lnTo>
                <a:lnTo>
                  <a:pt x="7041" y="92659"/>
                </a:lnTo>
                <a:lnTo>
                  <a:pt x="1857" y="97292"/>
                </a:lnTo>
                <a:lnTo>
                  <a:pt x="0" y="101925"/>
                </a:lnTo>
                <a:lnTo>
                  <a:pt x="1923" y="106558"/>
                </a:lnTo>
                <a:lnTo>
                  <a:pt x="7156" y="111191"/>
                </a:lnTo>
                <a:lnTo>
                  <a:pt x="14418" y="115823"/>
                </a:lnTo>
                <a:lnTo>
                  <a:pt x="21931" y="120456"/>
                </a:lnTo>
                <a:lnTo>
                  <a:pt x="27856" y="125089"/>
                </a:lnTo>
                <a:lnTo>
                  <a:pt x="30741" y="129722"/>
                </a:lnTo>
                <a:lnTo>
                  <a:pt x="29880" y="134355"/>
                </a:lnTo>
                <a:lnTo>
                  <a:pt x="25485" y="138988"/>
                </a:lnTo>
                <a:lnTo>
                  <a:pt x="18631" y="143621"/>
                </a:lnTo>
                <a:lnTo>
                  <a:pt x="10996" y="148254"/>
                </a:lnTo>
                <a:lnTo>
                  <a:pt x="4450" y="152887"/>
                </a:lnTo>
                <a:lnTo>
                  <a:pt x="595" y="157520"/>
                </a:lnTo>
                <a:lnTo>
                  <a:pt x="376" y="162153"/>
                </a:lnTo>
                <a:lnTo>
                  <a:pt x="3845" y="166786"/>
                </a:lnTo>
                <a:lnTo>
                  <a:pt x="10154" y="171419"/>
                </a:lnTo>
                <a:lnTo>
                  <a:pt x="17757" y="176052"/>
                </a:lnTo>
                <a:lnTo>
                  <a:pt x="24794" y="180685"/>
                </a:lnTo>
                <a:lnTo>
                  <a:pt x="29541" y="185318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93" name="Editable vector 93"/>
          <p:cNvSpPr/>
          <p:nvPr/>
        </p:nvSpPr>
        <p:spPr>
          <a:xfrm>
            <a:off x="10246156" y="2487980"/>
            <a:ext cx="30847" cy="185318"/>
          </a:xfrm>
          <a:custGeom>
            <a:avLst/>
            <a:gdLst/>
            <a:ahLst/>
            <a:cxnLst/>
            <a:rect l="0" t="0" r="r" b="b"/>
            <a:pathLst>
              <a:path w="30847" h="185318" fill="none">
                <a:moveTo>
                  <a:pt x="15443" y="185318"/>
                </a:moveTo>
                <a:lnTo>
                  <a:pt x="22846" y="180685"/>
                </a:lnTo>
                <a:lnTo>
                  <a:pt x="28438" y="176052"/>
                </a:lnTo>
                <a:lnTo>
                  <a:pt x="30847" y="171419"/>
                </a:lnTo>
                <a:lnTo>
                  <a:pt x="29485" y="166786"/>
                </a:lnTo>
                <a:lnTo>
                  <a:pt x="24685" y="162153"/>
                </a:lnTo>
                <a:lnTo>
                  <a:pt x="17622" y="157520"/>
                </a:lnTo>
                <a:lnTo>
                  <a:pt x="10025" y="152887"/>
                </a:lnTo>
                <a:lnTo>
                  <a:pt x="3755" y="148254"/>
                </a:lnTo>
                <a:lnTo>
                  <a:pt x="346" y="143621"/>
                </a:lnTo>
                <a:lnTo>
                  <a:pt x="634" y="138988"/>
                </a:lnTo>
                <a:lnTo>
                  <a:pt x="4547" y="134355"/>
                </a:lnTo>
                <a:lnTo>
                  <a:pt x="11127" y="129722"/>
                </a:lnTo>
                <a:lnTo>
                  <a:pt x="18765" y="125089"/>
                </a:lnTo>
                <a:lnTo>
                  <a:pt x="25589" y="120456"/>
                </a:lnTo>
                <a:lnTo>
                  <a:pt x="29928" y="115823"/>
                </a:lnTo>
                <a:lnTo>
                  <a:pt x="30721" y="111191"/>
                </a:lnTo>
                <a:lnTo>
                  <a:pt x="27774" y="106558"/>
                </a:lnTo>
                <a:lnTo>
                  <a:pt x="21807" y="101925"/>
                </a:lnTo>
                <a:lnTo>
                  <a:pt x="14282" y="97292"/>
                </a:lnTo>
                <a:lnTo>
                  <a:pt x="7041" y="92659"/>
                </a:lnTo>
                <a:lnTo>
                  <a:pt x="1857" y="88026"/>
                </a:lnTo>
                <a:lnTo>
                  <a:pt x="0" y="83393"/>
                </a:lnTo>
                <a:lnTo>
                  <a:pt x="1923" y="78760"/>
                </a:lnTo>
                <a:lnTo>
                  <a:pt x="7156" y="74127"/>
                </a:lnTo>
                <a:lnTo>
                  <a:pt x="14418" y="69494"/>
                </a:lnTo>
                <a:lnTo>
                  <a:pt x="21931" y="64861"/>
                </a:lnTo>
                <a:lnTo>
                  <a:pt x="27856" y="60228"/>
                </a:lnTo>
                <a:lnTo>
                  <a:pt x="30741" y="55595"/>
                </a:lnTo>
                <a:lnTo>
                  <a:pt x="29880" y="50962"/>
                </a:lnTo>
                <a:lnTo>
                  <a:pt x="25485" y="46329"/>
                </a:lnTo>
                <a:lnTo>
                  <a:pt x="18631" y="41696"/>
                </a:lnTo>
                <a:lnTo>
                  <a:pt x="10996" y="37063"/>
                </a:lnTo>
                <a:lnTo>
                  <a:pt x="4450" y="32430"/>
                </a:lnTo>
                <a:lnTo>
                  <a:pt x="595" y="27797"/>
                </a:lnTo>
                <a:lnTo>
                  <a:pt x="376" y="23164"/>
                </a:lnTo>
                <a:lnTo>
                  <a:pt x="3845" y="18531"/>
                </a:lnTo>
                <a:lnTo>
                  <a:pt x="10154" y="13898"/>
                </a:lnTo>
                <a:lnTo>
                  <a:pt x="17757" y="9265"/>
                </a:lnTo>
                <a:lnTo>
                  <a:pt x="24794" y="4632"/>
                </a:lnTo>
                <a:lnTo>
                  <a:pt x="29541" y="0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94" name="Editable vector 94"/>
          <p:cNvSpPr/>
          <p:nvPr/>
        </p:nvSpPr>
        <p:spPr>
          <a:xfrm>
            <a:off x="10294416" y="2487980"/>
            <a:ext cx="30847" cy="185318"/>
          </a:xfrm>
          <a:custGeom>
            <a:avLst/>
            <a:gdLst/>
            <a:ahLst/>
            <a:cxnLst/>
            <a:rect l="0" t="0" r="r" b="b"/>
            <a:pathLst>
              <a:path w="30847" h="185318" fill="none">
                <a:moveTo>
                  <a:pt x="15443" y="0"/>
                </a:moveTo>
                <a:lnTo>
                  <a:pt x="22846" y="4632"/>
                </a:lnTo>
                <a:lnTo>
                  <a:pt x="28438" y="9265"/>
                </a:lnTo>
                <a:lnTo>
                  <a:pt x="30847" y="13898"/>
                </a:lnTo>
                <a:lnTo>
                  <a:pt x="29485" y="18531"/>
                </a:lnTo>
                <a:lnTo>
                  <a:pt x="24685" y="23164"/>
                </a:lnTo>
                <a:lnTo>
                  <a:pt x="17622" y="27797"/>
                </a:lnTo>
                <a:lnTo>
                  <a:pt x="10025" y="32430"/>
                </a:lnTo>
                <a:lnTo>
                  <a:pt x="3755" y="37063"/>
                </a:lnTo>
                <a:lnTo>
                  <a:pt x="346" y="41696"/>
                </a:lnTo>
                <a:lnTo>
                  <a:pt x="634" y="46329"/>
                </a:lnTo>
                <a:lnTo>
                  <a:pt x="4547" y="50962"/>
                </a:lnTo>
                <a:lnTo>
                  <a:pt x="11127" y="55595"/>
                </a:lnTo>
                <a:lnTo>
                  <a:pt x="18765" y="60228"/>
                </a:lnTo>
                <a:lnTo>
                  <a:pt x="25589" y="64861"/>
                </a:lnTo>
                <a:lnTo>
                  <a:pt x="29928" y="69494"/>
                </a:lnTo>
                <a:lnTo>
                  <a:pt x="30721" y="74127"/>
                </a:lnTo>
                <a:lnTo>
                  <a:pt x="27774" y="78760"/>
                </a:lnTo>
                <a:lnTo>
                  <a:pt x="21807" y="83393"/>
                </a:lnTo>
                <a:lnTo>
                  <a:pt x="14282" y="88026"/>
                </a:lnTo>
                <a:lnTo>
                  <a:pt x="7041" y="92659"/>
                </a:lnTo>
                <a:lnTo>
                  <a:pt x="1857" y="97292"/>
                </a:lnTo>
                <a:lnTo>
                  <a:pt x="0" y="101925"/>
                </a:lnTo>
                <a:lnTo>
                  <a:pt x="1923" y="106558"/>
                </a:lnTo>
                <a:lnTo>
                  <a:pt x="7156" y="111191"/>
                </a:lnTo>
                <a:lnTo>
                  <a:pt x="14418" y="115823"/>
                </a:lnTo>
                <a:lnTo>
                  <a:pt x="21931" y="120456"/>
                </a:lnTo>
                <a:lnTo>
                  <a:pt x="27856" y="125089"/>
                </a:lnTo>
                <a:lnTo>
                  <a:pt x="30741" y="129722"/>
                </a:lnTo>
                <a:lnTo>
                  <a:pt x="29880" y="134355"/>
                </a:lnTo>
                <a:lnTo>
                  <a:pt x="25485" y="138988"/>
                </a:lnTo>
                <a:lnTo>
                  <a:pt x="18631" y="143621"/>
                </a:lnTo>
                <a:lnTo>
                  <a:pt x="10996" y="148254"/>
                </a:lnTo>
                <a:lnTo>
                  <a:pt x="4450" y="152887"/>
                </a:lnTo>
                <a:lnTo>
                  <a:pt x="595" y="157520"/>
                </a:lnTo>
                <a:lnTo>
                  <a:pt x="376" y="162153"/>
                </a:lnTo>
                <a:lnTo>
                  <a:pt x="3845" y="166786"/>
                </a:lnTo>
                <a:lnTo>
                  <a:pt x="10154" y="171419"/>
                </a:lnTo>
                <a:lnTo>
                  <a:pt x="17757" y="176052"/>
                </a:lnTo>
                <a:lnTo>
                  <a:pt x="24794" y="180685"/>
                </a:lnTo>
                <a:lnTo>
                  <a:pt x="29541" y="185318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95" name="Editable vector 95"/>
          <p:cNvSpPr/>
          <p:nvPr/>
        </p:nvSpPr>
        <p:spPr>
          <a:xfrm>
            <a:off x="10213340" y="2673299"/>
            <a:ext cx="48260" cy="27025"/>
          </a:xfrm>
          <a:custGeom>
            <a:avLst/>
            <a:gdLst/>
            <a:ahLst/>
            <a:cxnLst/>
            <a:rect l="0" t="0" r="r" b="b"/>
            <a:pathLst>
              <a:path w="48260" h="27025" fill="none">
                <a:moveTo>
                  <a:pt x="0" y="0"/>
                </a:moveTo>
                <a:lnTo>
                  <a:pt x="23164" y="27025"/>
                </a:lnTo>
                <a:lnTo>
                  <a:pt x="4826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96" name="Editable vector 96"/>
          <p:cNvSpPr/>
          <p:nvPr/>
        </p:nvSpPr>
        <p:spPr>
          <a:xfrm>
            <a:off x="10261600" y="2460955"/>
            <a:ext cx="48260" cy="27025"/>
          </a:xfrm>
          <a:custGeom>
            <a:avLst/>
            <a:gdLst/>
            <a:ahLst/>
            <a:cxnLst/>
            <a:rect l="0" t="0" r="r" b="b"/>
            <a:pathLst>
              <a:path w="48260" h="27025" fill="none">
                <a:moveTo>
                  <a:pt x="0" y="27025"/>
                </a:moveTo>
                <a:lnTo>
                  <a:pt x="25095" y="0"/>
                </a:lnTo>
                <a:lnTo>
                  <a:pt x="48260" y="27025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97" name="Editable vector 97"/>
          <p:cNvSpPr/>
          <p:nvPr/>
        </p:nvSpPr>
        <p:spPr>
          <a:xfrm>
            <a:off x="10604296" y="2487980"/>
            <a:ext cx="30847" cy="185318"/>
          </a:xfrm>
          <a:custGeom>
            <a:avLst/>
            <a:gdLst/>
            <a:ahLst/>
            <a:cxnLst/>
            <a:rect l="0" t="0" r="r" b="b"/>
            <a:pathLst>
              <a:path w="30847" h="185318" fill="none">
                <a:moveTo>
                  <a:pt x="15443" y="0"/>
                </a:moveTo>
                <a:lnTo>
                  <a:pt x="22846" y="4632"/>
                </a:lnTo>
                <a:lnTo>
                  <a:pt x="28438" y="9265"/>
                </a:lnTo>
                <a:lnTo>
                  <a:pt x="30847" y="13898"/>
                </a:lnTo>
                <a:lnTo>
                  <a:pt x="29485" y="18531"/>
                </a:lnTo>
                <a:lnTo>
                  <a:pt x="24685" y="23164"/>
                </a:lnTo>
                <a:lnTo>
                  <a:pt x="17622" y="27797"/>
                </a:lnTo>
                <a:lnTo>
                  <a:pt x="10025" y="32430"/>
                </a:lnTo>
                <a:lnTo>
                  <a:pt x="3755" y="37063"/>
                </a:lnTo>
                <a:lnTo>
                  <a:pt x="346" y="41696"/>
                </a:lnTo>
                <a:lnTo>
                  <a:pt x="634" y="46329"/>
                </a:lnTo>
                <a:lnTo>
                  <a:pt x="4547" y="50962"/>
                </a:lnTo>
                <a:lnTo>
                  <a:pt x="11127" y="55595"/>
                </a:lnTo>
                <a:lnTo>
                  <a:pt x="18765" y="60228"/>
                </a:lnTo>
                <a:lnTo>
                  <a:pt x="25589" y="64861"/>
                </a:lnTo>
                <a:lnTo>
                  <a:pt x="29928" y="69494"/>
                </a:lnTo>
                <a:lnTo>
                  <a:pt x="30721" y="74127"/>
                </a:lnTo>
                <a:lnTo>
                  <a:pt x="27774" y="78760"/>
                </a:lnTo>
                <a:lnTo>
                  <a:pt x="21807" y="83393"/>
                </a:lnTo>
                <a:lnTo>
                  <a:pt x="14282" y="88026"/>
                </a:lnTo>
                <a:lnTo>
                  <a:pt x="7041" y="92659"/>
                </a:lnTo>
                <a:lnTo>
                  <a:pt x="1857" y="97292"/>
                </a:lnTo>
                <a:lnTo>
                  <a:pt x="0" y="101925"/>
                </a:lnTo>
                <a:lnTo>
                  <a:pt x="1923" y="106558"/>
                </a:lnTo>
                <a:lnTo>
                  <a:pt x="7156" y="111191"/>
                </a:lnTo>
                <a:lnTo>
                  <a:pt x="14418" y="115823"/>
                </a:lnTo>
                <a:lnTo>
                  <a:pt x="21931" y="120456"/>
                </a:lnTo>
                <a:lnTo>
                  <a:pt x="27856" y="125089"/>
                </a:lnTo>
                <a:lnTo>
                  <a:pt x="30741" y="129722"/>
                </a:lnTo>
                <a:lnTo>
                  <a:pt x="29880" y="134355"/>
                </a:lnTo>
                <a:lnTo>
                  <a:pt x="25485" y="138988"/>
                </a:lnTo>
                <a:lnTo>
                  <a:pt x="18631" y="143621"/>
                </a:lnTo>
                <a:lnTo>
                  <a:pt x="10996" y="148254"/>
                </a:lnTo>
                <a:lnTo>
                  <a:pt x="4450" y="152887"/>
                </a:lnTo>
                <a:lnTo>
                  <a:pt x="595" y="157520"/>
                </a:lnTo>
                <a:lnTo>
                  <a:pt x="376" y="162153"/>
                </a:lnTo>
                <a:lnTo>
                  <a:pt x="3845" y="166786"/>
                </a:lnTo>
                <a:lnTo>
                  <a:pt x="10154" y="171419"/>
                </a:lnTo>
                <a:lnTo>
                  <a:pt x="17757" y="176052"/>
                </a:lnTo>
                <a:lnTo>
                  <a:pt x="24794" y="180685"/>
                </a:lnTo>
                <a:lnTo>
                  <a:pt x="29541" y="185318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98" name="Editable vector 98"/>
          <p:cNvSpPr/>
          <p:nvPr/>
        </p:nvSpPr>
        <p:spPr>
          <a:xfrm>
            <a:off x="10652556" y="2487980"/>
            <a:ext cx="30847" cy="185318"/>
          </a:xfrm>
          <a:custGeom>
            <a:avLst/>
            <a:gdLst/>
            <a:ahLst/>
            <a:cxnLst/>
            <a:rect l="0" t="0" r="r" b="b"/>
            <a:pathLst>
              <a:path w="30847" h="185318" fill="none">
                <a:moveTo>
                  <a:pt x="15443" y="185318"/>
                </a:moveTo>
                <a:lnTo>
                  <a:pt x="22846" y="180685"/>
                </a:lnTo>
                <a:lnTo>
                  <a:pt x="28438" y="176052"/>
                </a:lnTo>
                <a:lnTo>
                  <a:pt x="30847" y="171419"/>
                </a:lnTo>
                <a:lnTo>
                  <a:pt x="29485" y="166786"/>
                </a:lnTo>
                <a:lnTo>
                  <a:pt x="24685" y="162153"/>
                </a:lnTo>
                <a:lnTo>
                  <a:pt x="17622" y="157520"/>
                </a:lnTo>
                <a:lnTo>
                  <a:pt x="10025" y="152887"/>
                </a:lnTo>
                <a:lnTo>
                  <a:pt x="3755" y="148254"/>
                </a:lnTo>
                <a:lnTo>
                  <a:pt x="346" y="143621"/>
                </a:lnTo>
                <a:lnTo>
                  <a:pt x="634" y="138988"/>
                </a:lnTo>
                <a:lnTo>
                  <a:pt x="4547" y="134355"/>
                </a:lnTo>
                <a:lnTo>
                  <a:pt x="11127" y="129722"/>
                </a:lnTo>
                <a:lnTo>
                  <a:pt x="18765" y="125089"/>
                </a:lnTo>
                <a:lnTo>
                  <a:pt x="25589" y="120456"/>
                </a:lnTo>
                <a:lnTo>
                  <a:pt x="29928" y="115823"/>
                </a:lnTo>
                <a:lnTo>
                  <a:pt x="30721" y="111191"/>
                </a:lnTo>
                <a:lnTo>
                  <a:pt x="27774" y="106558"/>
                </a:lnTo>
                <a:lnTo>
                  <a:pt x="21807" y="101925"/>
                </a:lnTo>
                <a:lnTo>
                  <a:pt x="14282" y="97292"/>
                </a:lnTo>
                <a:lnTo>
                  <a:pt x="7041" y="92659"/>
                </a:lnTo>
                <a:lnTo>
                  <a:pt x="1857" y="88026"/>
                </a:lnTo>
                <a:lnTo>
                  <a:pt x="0" y="83393"/>
                </a:lnTo>
                <a:lnTo>
                  <a:pt x="1923" y="78760"/>
                </a:lnTo>
                <a:lnTo>
                  <a:pt x="7156" y="74127"/>
                </a:lnTo>
                <a:lnTo>
                  <a:pt x="14418" y="69494"/>
                </a:lnTo>
                <a:lnTo>
                  <a:pt x="21931" y="64861"/>
                </a:lnTo>
                <a:lnTo>
                  <a:pt x="27856" y="60228"/>
                </a:lnTo>
                <a:lnTo>
                  <a:pt x="30741" y="55595"/>
                </a:lnTo>
                <a:lnTo>
                  <a:pt x="29880" y="50962"/>
                </a:lnTo>
                <a:lnTo>
                  <a:pt x="25485" y="46329"/>
                </a:lnTo>
                <a:lnTo>
                  <a:pt x="18631" y="41696"/>
                </a:lnTo>
                <a:lnTo>
                  <a:pt x="10996" y="37063"/>
                </a:lnTo>
                <a:lnTo>
                  <a:pt x="4450" y="32430"/>
                </a:lnTo>
                <a:lnTo>
                  <a:pt x="595" y="27797"/>
                </a:lnTo>
                <a:lnTo>
                  <a:pt x="376" y="23164"/>
                </a:lnTo>
                <a:lnTo>
                  <a:pt x="3845" y="18531"/>
                </a:lnTo>
                <a:lnTo>
                  <a:pt x="10154" y="13898"/>
                </a:lnTo>
                <a:lnTo>
                  <a:pt x="17757" y="9265"/>
                </a:lnTo>
                <a:lnTo>
                  <a:pt x="24794" y="4632"/>
                </a:lnTo>
                <a:lnTo>
                  <a:pt x="29541" y="0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99" name="Editable vector 99"/>
          <p:cNvSpPr/>
          <p:nvPr/>
        </p:nvSpPr>
        <p:spPr>
          <a:xfrm>
            <a:off x="10700816" y="2487980"/>
            <a:ext cx="30847" cy="185318"/>
          </a:xfrm>
          <a:custGeom>
            <a:avLst/>
            <a:gdLst/>
            <a:ahLst/>
            <a:cxnLst/>
            <a:rect l="0" t="0" r="r" b="b"/>
            <a:pathLst>
              <a:path w="30847" h="185318" fill="none">
                <a:moveTo>
                  <a:pt x="15443" y="0"/>
                </a:moveTo>
                <a:lnTo>
                  <a:pt x="22846" y="4632"/>
                </a:lnTo>
                <a:lnTo>
                  <a:pt x="28438" y="9265"/>
                </a:lnTo>
                <a:lnTo>
                  <a:pt x="30847" y="13898"/>
                </a:lnTo>
                <a:lnTo>
                  <a:pt x="29485" y="18531"/>
                </a:lnTo>
                <a:lnTo>
                  <a:pt x="24685" y="23164"/>
                </a:lnTo>
                <a:lnTo>
                  <a:pt x="17622" y="27797"/>
                </a:lnTo>
                <a:lnTo>
                  <a:pt x="10025" y="32430"/>
                </a:lnTo>
                <a:lnTo>
                  <a:pt x="3755" y="37063"/>
                </a:lnTo>
                <a:lnTo>
                  <a:pt x="346" y="41696"/>
                </a:lnTo>
                <a:lnTo>
                  <a:pt x="634" y="46329"/>
                </a:lnTo>
                <a:lnTo>
                  <a:pt x="4547" y="50962"/>
                </a:lnTo>
                <a:lnTo>
                  <a:pt x="11127" y="55595"/>
                </a:lnTo>
                <a:lnTo>
                  <a:pt x="18765" y="60228"/>
                </a:lnTo>
                <a:lnTo>
                  <a:pt x="25589" y="64861"/>
                </a:lnTo>
                <a:lnTo>
                  <a:pt x="29928" y="69494"/>
                </a:lnTo>
                <a:lnTo>
                  <a:pt x="30721" y="74127"/>
                </a:lnTo>
                <a:lnTo>
                  <a:pt x="27774" y="78760"/>
                </a:lnTo>
                <a:lnTo>
                  <a:pt x="21807" y="83393"/>
                </a:lnTo>
                <a:lnTo>
                  <a:pt x="14282" y="88026"/>
                </a:lnTo>
                <a:lnTo>
                  <a:pt x="7041" y="92659"/>
                </a:lnTo>
                <a:lnTo>
                  <a:pt x="1857" y="97292"/>
                </a:lnTo>
                <a:lnTo>
                  <a:pt x="0" y="101925"/>
                </a:lnTo>
                <a:lnTo>
                  <a:pt x="1923" y="106558"/>
                </a:lnTo>
                <a:lnTo>
                  <a:pt x="7156" y="111191"/>
                </a:lnTo>
                <a:lnTo>
                  <a:pt x="14418" y="115823"/>
                </a:lnTo>
                <a:lnTo>
                  <a:pt x="21931" y="120456"/>
                </a:lnTo>
                <a:lnTo>
                  <a:pt x="27856" y="125089"/>
                </a:lnTo>
                <a:lnTo>
                  <a:pt x="30741" y="129722"/>
                </a:lnTo>
                <a:lnTo>
                  <a:pt x="29880" y="134355"/>
                </a:lnTo>
                <a:lnTo>
                  <a:pt x="25485" y="138988"/>
                </a:lnTo>
                <a:lnTo>
                  <a:pt x="18631" y="143621"/>
                </a:lnTo>
                <a:lnTo>
                  <a:pt x="10996" y="148254"/>
                </a:lnTo>
                <a:lnTo>
                  <a:pt x="4450" y="152887"/>
                </a:lnTo>
                <a:lnTo>
                  <a:pt x="595" y="157520"/>
                </a:lnTo>
                <a:lnTo>
                  <a:pt x="376" y="162153"/>
                </a:lnTo>
                <a:lnTo>
                  <a:pt x="3845" y="166786"/>
                </a:lnTo>
                <a:lnTo>
                  <a:pt x="10154" y="171419"/>
                </a:lnTo>
                <a:lnTo>
                  <a:pt x="17757" y="176052"/>
                </a:lnTo>
                <a:lnTo>
                  <a:pt x="24794" y="180685"/>
                </a:lnTo>
                <a:lnTo>
                  <a:pt x="29541" y="185318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100" name="Editable vector 100"/>
          <p:cNvSpPr/>
          <p:nvPr/>
        </p:nvSpPr>
        <p:spPr>
          <a:xfrm>
            <a:off x="10619740" y="2673299"/>
            <a:ext cx="48260" cy="27025"/>
          </a:xfrm>
          <a:custGeom>
            <a:avLst/>
            <a:gdLst/>
            <a:ahLst/>
            <a:cxnLst/>
            <a:rect l="0" t="0" r="r" b="b"/>
            <a:pathLst>
              <a:path w="48260" h="27025" fill="none">
                <a:moveTo>
                  <a:pt x="0" y="0"/>
                </a:moveTo>
                <a:lnTo>
                  <a:pt x="23164" y="27025"/>
                </a:lnTo>
                <a:lnTo>
                  <a:pt x="48260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01" name="Editable vector 101"/>
          <p:cNvSpPr/>
          <p:nvPr/>
        </p:nvSpPr>
        <p:spPr>
          <a:xfrm>
            <a:off x="10668000" y="2460955"/>
            <a:ext cx="48260" cy="27025"/>
          </a:xfrm>
          <a:custGeom>
            <a:avLst/>
            <a:gdLst/>
            <a:ahLst/>
            <a:cxnLst/>
            <a:rect l="0" t="0" r="r" b="b"/>
            <a:pathLst>
              <a:path w="48260" h="27025" fill="none">
                <a:moveTo>
                  <a:pt x="0" y="27025"/>
                </a:moveTo>
                <a:lnTo>
                  <a:pt x="25095" y="0"/>
                </a:lnTo>
                <a:lnTo>
                  <a:pt x="48260" y="27025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02" name="Editable vector 102"/>
          <p:cNvSpPr/>
          <p:nvPr/>
        </p:nvSpPr>
        <p:spPr>
          <a:xfrm>
            <a:off x="11043920" y="2489200"/>
            <a:ext cx="193040" cy="157480"/>
          </a:xfrm>
          <a:custGeom>
            <a:avLst/>
            <a:gdLst/>
            <a:ahLst/>
            <a:cxnLst/>
            <a:rect l="0" t="0" r="r" b="b"/>
            <a:pathLst>
              <a:path w="193040" h="157480" fill="none">
                <a:moveTo>
                  <a:pt x="0" y="91440"/>
                </a:moveTo>
                <a:lnTo>
                  <a:pt x="66040" y="157480"/>
                </a:lnTo>
                <a:lnTo>
                  <a:pt x="193040" y="0"/>
                </a:lnTo>
              </a:path>
            </a:pathLst>
          </a:custGeom>
          <a:noFill/>
          <a:ln w="30480" cap="rnd">
            <a:solidFill>
              <a:srgbClr val="008577"/>
            </a:solidFill>
          </a:ln>
        </p:spPr>
      </p:sp>
      <p:sp>
        <p:nvSpPr>
          <p:cNvPr id="103" name="Diversity · developability"/>
          <p:cNvSpPr txBox="1"/>
          <p:nvPr/>
        </p:nvSpPr>
        <p:spPr>
          <a:xfrm>
            <a:off x="9144000" y="28956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Diversity · developability</a:t>
            </a:r>
          </a:p>
        </p:txBody>
      </p:sp>
      <p:sp>
        <p:nvSpPr>
          <p:cNvPr id="104" name="Binding + specificity"/>
          <p:cNvSpPr txBox="1"/>
          <p:nvPr/>
        </p:nvSpPr>
        <p:spPr>
          <a:xfrm>
            <a:off x="9144000" y="311912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8577"/>
                </a:solidFill>
                <a:latin typeface="Arial"/>
              </a:rPr>
              <a:t>Binding + specificity</a:t>
            </a:r>
          </a:p>
        </p:txBody>
      </p:sp>
      <p:sp>
        <p:nvSpPr>
          <p:cNvPr id="105" name="Editable vector 105"/>
          <p:cNvSpPr/>
          <p:nvPr/>
        </p:nvSpPr>
        <p:spPr>
          <a:xfrm>
            <a:off x="2819400" y="2286000"/>
            <a:ext cx="660400" cy="5080"/>
          </a:xfrm>
          <a:custGeom>
            <a:avLst/>
            <a:gdLst/>
            <a:ahLst/>
            <a:cxnLst/>
            <a:rect l="0" t="0" r="r" b="b"/>
            <a:pathLst>
              <a:path w="660400" h="5080" fill="none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06" name="Editable vector 106"/>
          <p:cNvSpPr/>
          <p:nvPr/>
        </p:nvSpPr>
        <p:spPr>
          <a:xfrm>
            <a:off x="3416909" y="22429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07" name="Editable vector 107"/>
          <p:cNvSpPr/>
          <p:nvPr/>
        </p:nvSpPr>
        <p:spPr>
          <a:xfrm>
            <a:off x="5765800" y="2286000"/>
            <a:ext cx="660400" cy="5080"/>
          </a:xfrm>
          <a:custGeom>
            <a:avLst/>
            <a:gdLst/>
            <a:ahLst/>
            <a:cxnLst/>
            <a:rect l="0" t="0" r="r" b="b"/>
            <a:pathLst>
              <a:path w="660400" h="5080" fill="none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08" name="Editable vector 108"/>
          <p:cNvSpPr/>
          <p:nvPr/>
        </p:nvSpPr>
        <p:spPr>
          <a:xfrm>
            <a:off x="6363309" y="22429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09" name="Editable vector 109"/>
          <p:cNvSpPr/>
          <p:nvPr/>
        </p:nvSpPr>
        <p:spPr>
          <a:xfrm>
            <a:off x="8712200" y="2286000"/>
            <a:ext cx="660400" cy="5080"/>
          </a:xfrm>
          <a:custGeom>
            <a:avLst/>
            <a:gdLst/>
            <a:ahLst/>
            <a:cxnLst/>
            <a:rect l="0" t="0" r="r" b="b"/>
            <a:pathLst>
              <a:path w="660400" h="5080" fill="none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10" name="Editable vector 110"/>
          <p:cNvSpPr/>
          <p:nvPr/>
        </p:nvSpPr>
        <p:spPr>
          <a:xfrm>
            <a:off x="9309709" y="22429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11" name="Editable vector 111"/>
          <p:cNvSpPr/>
          <p:nvPr/>
        </p:nvSpPr>
        <p:spPr>
          <a:xfrm>
            <a:off x="381000" y="3495040"/>
            <a:ext cx="11430000" cy="5080"/>
          </a:xfrm>
          <a:custGeom>
            <a:avLst/>
            <a:gdLst/>
            <a:ahLst/>
            <a:cxnLst/>
            <a:rect l="0" t="0" r="r" b="b"/>
            <a:pathLst>
              <a:path w="11430000" h="5080" fill="none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112" name="B   ENGINEER AND VALIDATE"/>
          <p:cNvSpPr txBox="1"/>
          <p:nvPr/>
        </p:nvSpPr>
        <p:spPr>
          <a:xfrm>
            <a:off x="396240" y="3677920"/>
            <a:ext cx="2559764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60" b="1" lang="en-US">
                <a:solidFill>
                  <a:srgbClr val="17324D"/>
                </a:solidFill>
                <a:latin typeface="Arial"/>
              </a:rPr>
              <a:t>B   ENGINEER AND VALIDATE</a:t>
            </a:r>
          </a:p>
        </p:txBody>
      </p:sp>
      <p:sp>
        <p:nvSpPr>
          <p:cNvPr id="113" name="Selected arms A + B"/>
          <p:cNvSpPr txBox="1"/>
          <p:nvPr/>
        </p:nvSpPr>
        <p:spPr>
          <a:xfrm>
            <a:off x="7366000" y="3677920"/>
            <a:ext cx="1559242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Selected arms A + B</a:t>
            </a:r>
          </a:p>
        </p:txBody>
      </p:sp>
      <p:sp>
        <p:nvSpPr>
          <p:cNvPr id="114" name="Editable vector 114"/>
          <p:cNvSpPr/>
          <p:nvPr/>
        </p:nvSpPr>
        <p:spPr>
          <a:xfrm>
            <a:off x="10515600" y="3357880"/>
            <a:ext cx="5080" cy="685800"/>
          </a:xfrm>
          <a:custGeom>
            <a:avLst/>
            <a:gdLst/>
            <a:ahLst/>
            <a:cxnLst/>
            <a:rect l="0" t="0" r="r" b="b"/>
            <a:pathLst>
              <a:path w="5080" h="685800" fill="none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15" name="Editable vector 115"/>
          <p:cNvSpPr/>
          <p:nvPr/>
        </p:nvSpPr>
        <p:spPr>
          <a:xfrm>
            <a:off x="10472574" y="3980789"/>
            <a:ext cx="86051" cy="62890"/>
          </a:xfrm>
          <a:custGeom>
            <a:avLst/>
            <a:gdLst/>
            <a:ahLst/>
            <a:cxnLst/>
            <a:rect l="0" t="0" r="r" b="b"/>
            <a:pathLst>
              <a:path w="86051" h="62890" fill="none">
                <a:moveTo>
                  <a:pt x="0" y="0"/>
                </a:moveTo>
                <a:lnTo>
                  <a:pt x="43025" y="62890"/>
                </a:lnTo>
                <a:lnTo>
                  <a:pt x="86051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16" name="8  Test dual function"/>
          <p:cNvSpPr txBox="1"/>
          <p:nvPr/>
        </p:nvSpPr>
        <p:spPr>
          <a:xfrm>
            <a:off x="279400" y="414020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8  Test dual function</a:t>
            </a:r>
          </a:p>
        </p:txBody>
      </p:sp>
      <p:sp>
        <p:nvSpPr>
          <p:cNvPr id="117" name="7  Produce + QC"/>
          <p:cNvSpPr txBox="1"/>
          <p:nvPr/>
        </p:nvSpPr>
        <p:spPr>
          <a:xfrm>
            <a:off x="3225800" y="414020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7  Produce + QC</a:t>
            </a:r>
          </a:p>
        </p:txBody>
      </p:sp>
      <p:sp>
        <p:nvSpPr>
          <p:cNvPr id="118" name="6  Assess construct"/>
          <p:cNvSpPr txBox="1"/>
          <p:nvPr/>
        </p:nvSpPr>
        <p:spPr>
          <a:xfrm>
            <a:off x="6172200" y="414020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6  Assess construct</a:t>
            </a:r>
          </a:p>
        </p:txBody>
      </p:sp>
      <p:sp>
        <p:nvSpPr>
          <p:cNvPr id="119" name="5  Combine arms"/>
          <p:cNvSpPr txBox="1"/>
          <p:nvPr/>
        </p:nvSpPr>
        <p:spPr>
          <a:xfrm>
            <a:off x="9118600" y="414020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440" b="1" lang="en-US">
                <a:solidFill>
                  <a:srgbClr val="17324D"/>
                </a:solidFill>
                <a:latin typeface="Arial"/>
              </a:rPr>
              <a:t>5  Combine arms</a:t>
            </a:r>
          </a:p>
        </p:txBody>
      </p:sp>
      <p:sp>
        <p:nvSpPr>
          <p:cNvPr id="120" name="Editable vector 120"/>
          <p:cNvSpPr/>
          <p:nvPr/>
        </p:nvSpPr>
        <p:spPr>
          <a:xfrm>
            <a:off x="9803892" y="4751832"/>
            <a:ext cx="56824" cy="341376"/>
          </a:xfrm>
          <a:custGeom>
            <a:avLst/>
            <a:gdLst/>
            <a:ahLst/>
            <a:cxnLst/>
            <a:rect l="0" t="0" r="r" b="b"/>
            <a:pathLst>
              <a:path w="56824" h="341376" fill="none">
                <a:moveTo>
                  <a:pt x="28447" y="0"/>
                </a:moveTo>
                <a:lnTo>
                  <a:pt x="42086" y="8534"/>
                </a:lnTo>
                <a:lnTo>
                  <a:pt x="52385" y="17068"/>
                </a:lnTo>
                <a:lnTo>
                  <a:pt x="56824" y="25603"/>
                </a:lnTo>
                <a:lnTo>
                  <a:pt x="54315" y="34137"/>
                </a:lnTo>
                <a:lnTo>
                  <a:pt x="45473" y="42671"/>
                </a:lnTo>
                <a:lnTo>
                  <a:pt x="32462" y="51206"/>
                </a:lnTo>
                <a:lnTo>
                  <a:pt x="18468" y="59740"/>
                </a:lnTo>
                <a:lnTo>
                  <a:pt x="6918" y="68275"/>
                </a:lnTo>
                <a:lnTo>
                  <a:pt x="638" y="76809"/>
                </a:lnTo>
                <a:lnTo>
                  <a:pt x="1168" y="85344"/>
                </a:lnTo>
                <a:lnTo>
                  <a:pt x="8376" y="93878"/>
                </a:lnTo>
                <a:lnTo>
                  <a:pt x="20498" y="102412"/>
                </a:lnTo>
                <a:lnTo>
                  <a:pt x="34567" y="110947"/>
                </a:lnTo>
                <a:lnTo>
                  <a:pt x="47137" y="119481"/>
                </a:lnTo>
                <a:lnTo>
                  <a:pt x="55131" y="128016"/>
                </a:lnTo>
                <a:lnTo>
                  <a:pt x="56592" y="136550"/>
                </a:lnTo>
                <a:lnTo>
                  <a:pt x="51163" y="145084"/>
                </a:lnTo>
                <a:lnTo>
                  <a:pt x="40171" y="153619"/>
                </a:lnTo>
                <a:lnTo>
                  <a:pt x="26309" y="162153"/>
                </a:lnTo>
                <a:lnTo>
                  <a:pt x="12971" y="170688"/>
                </a:lnTo>
                <a:lnTo>
                  <a:pt x="3422" y="179222"/>
                </a:lnTo>
                <a:lnTo>
                  <a:pt x="0" y="187756"/>
                </a:lnTo>
                <a:lnTo>
                  <a:pt x="3542" y="196291"/>
                </a:lnTo>
                <a:lnTo>
                  <a:pt x="13183" y="204825"/>
                </a:lnTo>
                <a:lnTo>
                  <a:pt x="26560" y="213360"/>
                </a:lnTo>
                <a:lnTo>
                  <a:pt x="40400" y="221894"/>
                </a:lnTo>
                <a:lnTo>
                  <a:pt x="51313" y="230428"/>
                </a:lnTo>
                <a:lnTo>
                  <a:pt x="56628" y="238963"/>
                </a:lnTo>
                <a:lnTo>
                  <a:pt x="55043" y="247497"/>
                </a:lnTo>
                <a:lnTo>
                  <a:pt x="46947" y="256031"/>
                </a:lnTo>
                <a:lnTo>
                  <a:pt x="34321" y="264566"/>
                </a:lnTo>
                <a:lnTo>
                  <a:pt x="20257" y="273100"/>
                </a:lnTo>
                <a:lnTo>
                  <a:pt x="8198" y="281635"/>
                </a:lnTo>
                <a:lnTo>
                  <a:pt x="1097" y="290169"/>
                </a:lnTo>
                <a:lnTo>
                  <a:pt x="693" y="298704"/>
                </a:lnTo>
                <a:lnTo>
                  <a:pt x="7083" y="307238"/>
                </a:lnTo>
                <a:lnTo>
                  <a:pt x="18704" y="315772"/>
                </a:lnTo>
                <a:lnTo>
                  <a:pt x="32711" y="324307"/>
                </a:lnTo>
                <a:lnTo>
                  <a:pt x="45674" y="332841"/>
                </a:lnTo>
                <a:lnTo>
                  <a:pt x="54419" y="341376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121" name="Editable vector 121"/>
          <p:cNvSpPr/>
          <p:nvPr/>
        </p:nvSpPr>
        <p:spPr>
          <a:xfrm>
            <a:off x="9892792" y="4751832"/>
            <a:ext cx="56824" cy="341376"/>
          </a:xfrm>
          <a:custGeom>
            <a:avLst/>
            <a:gdLst/>
            <a:ahLst/>
            <a:cxnLst/>
            <a:rect l="0" t="0" r="r" b="b"/>
            <a:pathLst>
              <a:path w="56824" h="341376" fill="none">
                <a:moveTo>
                  <a:pt x="28447" y="341376"/>
                </a:moveTo>
                <a:lnTo>
                  <a:pt x="42086" y="332841"/>
                </a:lnTo>
                <a:lnTo>
                  <a:pt x="52385" y="324307"/>
                </a:lnTo>
                <a:lnTo>
                  <a:pt x="56824" y="315772"/>
                </a:lnTo>
                <a:lnTo>
                  <a:pt x="54315" y="307238"/>
                </a:lnTo>
                <a:lnTo>
                  <a:pt x="45473" y="298704"/>
                </a:lnTo>
                <a:lnTo>
                  <a:pt x="32462" y="290169"/>
                </a:lnTo>
                <a:lnTo>
                  <a:pt x="18468" y="281635"/>
                </a:lnTo>
                <a:lnTo>
                  <a:pt x="6918" y="273100"/>
                </a:lnTo>
                <a:lnTo>
                  <a:pt x="638" y="264566"/>
                </a:lnTo>
                <a:lnTo>
                  <a:pt x="1168" y="256031"/>
                </a:lnTo>
                <a:lnTo>
                  <a:pt x="8376" y="247497"/>
                </a:lnTo>
                <a:lnTo>
                  <a:pt x="20498" y="238963"/>
                </a:lnTo>
                <a:lnTo>
                  <a:pt x="34567" y="230428"/>
                </a:lnTo>
                <a:lnTo>
                  <a:pt x="47137" y="221894"/>
                </a:lnTo>
                <a:lnTo>
                  <a:pt x="55131" y="213360"/>
                </a:lnTo>
                <a:lnTo>
                  <a:pt x="56592" y="204825"/>
                </a:lnTo>
                <a:lnTo>
                  <a:pt x="51163" y="196291"/>
                </a:lnTo>
                <a:lnTo>
                  <a:pt x="40171" y="187756"/>
                </a:lnTo>
                <a:lnTo>
                  <a:pt x="26309" y="179222"/>
                </a:lnTo>
                <a:lnTo>
                  <a:pt x="12971" y="170688"/>
                </a:lnTo>
                <a:lnTo>
                  <a:pt x="3422" y="162153"/>
                </a:lnTo>
                <a:lnTo>
                  <a:pt x="0" y="153619"/>
                </a:lnTo>
                <a:lnTo>
                  <a:pt x="3542" y="145084"/>
                </a:lnTo>
                <a:lnTo>
                  <a:pt x="13183" y="136550"/>
                </a:lnTo>
                <a:lnTo>
                  <a:pt x="26560" y="128016"/>
                </a:lnTo>
                <a:lnTo>
                  <a:pt x="40400" y="119481"/>
                </a:lnTo>
                <a:lnTo>
                  <a:pt x="51313" y="110947"/>
                </a:lnTo>
                <a:lnTo>
                  <a:pt x="56628" y="102412"/>
                </a:lnTo>
                <a:lnTo>
                  <a:pt x="55043" y="93878"/>
                </a:lnTo>
                <a:lnTo>
                  <a:pt x="46947" y="85344"/>
                </a:lnTo>
                <a:lnTo>
                  <a:pt x="34321" y="76809"/>
                </a:lnTo>
                <a:lnTo>
                  <a:pt x="20257" y="68275"/>
                </a:lnTo>
                <a:lnTo>
                  <a:pt x="8198" y="59740"/>
                </a:lnTo>
                <a:lnTo>
                  <a:pt x="1097" y="51206"/>
                </a:lnTo>
                <a:lnTo>
                  <a:pt x="693" y="42671"/>
                </a:lnTo>
                <a:lnTo>
                  <a:pt x="7083" y="34137"/>
                </a:lnTo>
                <a:lnTo>
                  <a:pt x="18704" y="25603"/>
                </a:lnTo>
                <a:lnTo>
                  <a:pt x="32711" y="17068"/>
                </a:lnTo>
                <a:lnTo>
                  <a:pt x="45674" y="8534"/>
                </a:lnTo>
                <a:lnTo>
                  <a:pt x="54419" y="0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122" name="Editable vector 122"/>
          <p:cNvSpPr/>
          <p:nvPr/>
        </p:nvSpPr>
        <p:spPr>
          <a:xfrm>
            <a:off x="9981692" y="4751832"/>
            <a:ext cx="56824" cy="341376"/>
          </a:xfrm>
          <a:custGeom>
            <a:avLst/>
            <a:gdLst/>
            <a:ahLst/>
            <a:cxnLst/>
            <a:rect l="0" t="0" r="r" b="b"/>
            <a:pathLst>
              <a:path w="56824" h="341376" fill="none">
                <a:moveTo>
                  <a:pt x="28447" y="0"/>
                </a:moveTo>
                <a:lnTo>
                  <a:pt x="42086" y="8534"/>
                </a:lnTo>
                <a:lnTo>
                  <a:pt x="52385" y="17068"/>
                </a:lnTo>
                <a:lnTo>
                  <a:pt x="56824" y="25603"/>
                </a:lnTo>
                <a:lnTo>
                  <a:pt x="54315" y="34137"/>
                </a:lnTo>
                <a:lnTo>
                  <a:pt x="45473" y="42671"/>
                </a:lnTo>
                <a:lnTo>
                  <a:pt x="32462" y="51206"/>
                </a:lnTo>
                <a:lnTo>
                  <a:pt x="18468" y="59740"/>
                </a:lnTo>
                <a:lnTo>
                  <a:pt x="6918" y="68275"/>
                </a:lnTo>
                <a:lnTo>
                  <a:pt x="638" y="76809"/>
                </a:lnTo>
                <a:lnTo>
                  <a:pt x="1168" y="85344"/>
                </a:lnTo>
                <a:lnTo>
                  <a:pt x="8376" y="93878"/>
                </a:lnTo>
                <a:lnTo>
                  <a:pt x="20498" y="102412"/>
                </a:lnTo>
                <a:lnTo>
                  <a:pt x="34567" y="110947"/>
                </a:lnTo>
                <a:lnTo>
                  <a:pt x="47137" y="119481"/>
                </a:lnTo>
                <a:lnTo>
                  <a:pt x="55131" y="128016"/>
                </a:lnTo>
                <a:lnTo>
                  <a:pt x="56592" y="136550"/>
                </a:lnTo>
                <a:lnTo>
                  <a:pt x="51163" y="145084"/>
                </a:lnTo>
                <a:lnTo>
                  <a:pt x="40171" y="153619"/>
                </a:lnTo>
                <a:lnTo>
                  <a:pt x="26309" y="162153"/>
                </a:lnTo>
                <a:lnTo>
                  <a:pt x="12971" y="170688"/>
                </a:lnTo>
                <a:lnTo>
                  <a:pt x="3422" y="179222"/>
                </a:lnTo>
                <a:lnTo>
                  <a:pt x="0" y="187756"/>
                </a:lnTo>
                <a:lnTo>
                  <a:pt x="3542" y="196291"/>
                </a:lnTo>
                <a:lnTo>
                  <a:pt x="13183" y="204825"/>
                </a:lnTo>
                <a:lnTo>
                  <a:pt x="26560" y="213360"/>
                </a:lnTo>
                <a:lnTo>
                  <a:pt x="40400" y="221894"/>
                </a:lnTo>
                <a:lnTo>
                  <a:pt x="51313" y="230428"/>
                </a:lnTo>
                <a:lnTo>
                  <a:pt x="56628" y="238963"/>
                </a:lnTo>
                <a:lnTo>
                  <a:pt x="55043" y="247497"/>
                </a:lnTo>
                <a:lnTo>
                  <a:pt x="46947" y="256031"/>
                </a:lnTo>
                <a:lnTo>
                  <a:pt x="34321" y="264566"/>
                </a:lnTo>
                <a:lnTo>
                  <a:pt x="20257" y="273100"/>
                </a:lnTo>
                <a:lnTo>
                  <a:pt x="8198" y="281635"/>
                </a:lnTo>
                <a:lnTo>
                  <a:pt x="1097" y="290169"/>
                </a:lnTo>
                <a:lnTo>
                  <a:pt x="693" y="298704"/>
                </a:lnTo>
                <a:lnTo>
                  <a:pt x="7083" y="307238"/>
                </a:lnTo>
                <a:lnTo>
                  <a:pt x="18704" y="315772"/>
                </a:lnTo>
                <a:lnTo>
                  <a:pt x="32711" y="324307"/>
                </a:lnTo>
                <a:lnTo>
                  <a:pt x="45674" y="332841"/>
                </a:lnTo>
                <a:lnTo>
                  <a:pt x="54419" y="341376"/>
                </a:lnTo>
              </a:path>
            </a:pathLst>
          </a:custGeom>
          <a:noFill/>
          <a:ln w="25400" cap="rnd">
            <a:solidFill>
              <a:srgbClr val="0072B2"/>
            </a:solidFill>
          </a:ln>
        </p:spPr>
      </p:sp>
      <p:sp>
        <p:nvSpPr>
          <p:cNvPr id="123" name="Editable vector 123"/>
          <p:cNvSpPr/>
          <p:nvPr/>
        </p:nvSpPr>
        <p:spPr>
          <a:xfrm>
            <a:off x="9832340" y="5093208"/>
            <a:ext cx="88900" cy="49783"/>
          </a:xfrm>
          <a:custGeom>
            <a:avLst/>
            <a:gdLst/>
            <a:ahLst/>
            <a:cxnLst/>
            <a:rect l="0" t="0" r="r" b="b"/>
            <a:pathLst>
              <a:path w="88900" h="49783" fill="none">
                <a:moveTo>
                  <a:pt x="0" y="0"/>
                </a:moveTo>
                <a:lnTo>
                  <a:pt x="42672" y="49783"/>
                </a:lnTo>
                <a:lnTo>
                  <a:pt x="8890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24" name="Editable vector 124"/>
          <p:cNvSpPr/>
          <p:nvPr/>
        </p:nvSpPr>
        <p:spPr>
          <a:xfrm>
            <a:off x="9921240" y="4702048"/>
            <a:ext cx="88900" cy="49783"/>
          </a:xfrm>
          <a:custGeom>
            <a:avLst/>
            <a:gdLst/>
            <a:ahLst/>
            <a:cxnLst/>
            <a:rect l="0" t="0" r="r" b="b"/>
            <a:pathLst>
              <a:path w="88900" h="49783" fill="none">
                <a:moveTo>
                  <a:pt x="0" y="49783"/>
                </a:moveTo>
                <a:lnTo>
                  <a:pt x="46227" y="0"/>
                </a:lnTo>
                <a:lnTo>
                  <a:pt x="88900" y="49783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25" name="Editable vector 125"/>
          <p:cNvSpPr/>
          <p:nvPr/>
        </p:nvSpPr>
        <p:spPr>
          <a:xfrm>
            <a:off x="10296652" y="4751832"/>
            <a:ext cx="56824" cy="341376"/>
          </a:xfrm>
          <a:custGeom>
            <a:avLst/>
            <a:gdLst/>
            <a:ahLst/>
            <a:cxnLst/>
            <a:rect l="0" t="0" r="r" b="b"/>
            <a:pathLst>
              <a:path w="56824" h="341376" fill="none">
                <a:moveTo>
                  <a:pt x="28447" y="0"/>
                </a:moveTo>
                <a:lnTo>
                  <a:pt x="42086" y="8534"/>
                </a:lnTo>
                <a:lnTo>
                  <a:pt x="52385" y="17068"/>
                </a:lnTo>
                <a:lnTo>
                  <a:pt x="56824" y="25603"/>
                </a:lnTo>
                <a:lnTo>
                  <a:pt x="54315" y="34137"/>
                </a:lnTo>
                <a:lnTo>
                  <a:pt x="45473" y="42671"/>
                </a:lnTo>
                <a:lnTo>
                  <a:pt x="32462" y="51206"/>
                </a:lnTo>
                <a:lnTo>
                  <a:pt x="18468" y="59740"/>
                </a:lnTo>
                <a:lnTo>
                  <a:pt x="6918" y="68275"/>
                </a:lnTo>
                <a:lnTo>
                  <a:pt x="638" y="76809"/>
                </a:lnTo>
                <a:lnTo>
                  <a:pt x="1168" y="85344"/>
                </a:lnTo>
                <a:lnTo>
                  <a:pt x="8376" y="93878"/>
                </a:lnTo>
                <a:lnTo>
                  <a:pt x="20498" y="102412"/>
                </a:lnTo>
                <a:lnTo>
                  <a:pt x="34567" y="110947"/>
                </a:lnTo>
                <a:lnTo>
                  <a:pt x="47137" y="119481"/>
                </a:lnTo>
                <a:lnTo>
                  <a:pt x="55131" y="128016"/>
                </a:lnTo>
                <a:lnTo>
                  <a:pt x="56592" y="136550"/>
                </a:lnTo>
                <a:lnTo>
                  <a:pt x="51163" y="145084"/>
                </a:lnTo>
                <a:lnTo>
                  <a:pt x="40171" y="153619"/>
                </a:lnTo>
                <a:lnTo>
                  <a:pt x="26309" y="162153"/>
                </a:lnTo>
                <a:lnTo>
                  <a:pt x="12971" y="170688"/>
                </a:lnTo>
                <a:lnTo>
                  <a:pt x="3422" y="179222"/>
                </a:lnTo>
                <a:lnTo>
                  <a:pt x="0" y="187756"/>
                </a:lnTo>
                <a:lnTo>
                  <a:pt x="3542" y="196291"/>
                </a:lnTo>
                <a:lnTo>
                  <a:pt x="13183" y="204825"/>
                </a:lnTo>
                <a:lnTo>
                  <a:pt x="26560" y="213360"/>
                </a:lnTo>
                <a:lnTo>
                  <a:pt x="40400" y="221894"/>
                </a:lnTo>
                <a:lnTo>
                  <a:pt x="51313" y="230428"/>
                </a:lnTo>
                <a:lnTo>
                  <a:pt x="56628" y="238963"/>
                </a:lnTo>
                <a:lnTo>
                  <a:pt x="55043" y="247497"/>
                </a:lnTo>
                <a:lnTo>
                  <a:pt x="46947" y="256031"/>
                </a:lnTo>
                <a:lnTo>
                  <a:pt x="34321" y="264566"/>
                </a:lnTo>
                <a:lnTo>
                  <a:pt x="20257" y="273100"/>
                </a:lnTo>
                <a:lnTo>
                  <a:pt x="8198" y="281635"/>
                </a:lnTo>
                <a:lnTo>
                  <a:pt x="1097" y="290169"/>
                </a:lnTo>
                <a:lnTo>
                  <a:pt x="693" y="298704"/>
                </a:lnTo>
                <a:lnTo>
                  <a:pt x="7083" y="307238"/>
                </a:lnTo>
                <a:lnTo>
                  <a:pt x="18704" y="315772"/>
                </a:lnTo>
                <a:lnTo>
                  <a:pt x="32711" y="324307"/>
                </a:lnTo>
                <a:lnTo>
                  <a:pt x="45674" y="332841"/>
                </a:lnTo>
                <a:lnTo>
                  <a:pt x="54419" y="341376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126" name="Editable vector 126"/>
          <p:cNvSpPr/>
          <p:nvPr/>
        </p:nvSpPr>
        <p:spPr>
          <a:xfrm>
            <a:off x="10385552" y="4751832"/>
            <a:ext cx="56824" cy="341376"/>
          </a:xfrm>
          <a:custGeom>
            <a:avLst/>
            <a:gdLst/>
            <a:ahLst/>
            <a:cxnLst/>
            <a:rect l="0" t="0" r="r" b="b"/>
            <a:pathLst>
              <a:path w="56824" h="341376" fill="none">
                <a:moveTo>
                  <a:pt x="28447" y="341376"/>
                </a:moveTo>
                <a:lnTo>
                  <a:pt x="42086" y="332841"/>
                </a:lnTo>
                <a:lnTo>
                  <a:pt x="52385" y="324307"/>
                </a:lnTo>
                <a:lnTo>
                  <a:pt x="56824" y="315772"/>
                </a:lnTo>
                <a:lnTo>
                  <a:pt x="54315" y="307238"/>
                </a:lnTo>
                <a:lnTo>
                  <a:pt x="45473" y="298704"/>
                </a:lnTo>
                <a:lnTo>
                  <a:pt x="32462" y="290169"/>
                </a:lnTo>
                <a:lnTo>
                  <a:pt x="18468" y="281635"/>
                </a:lnTo>
                <a:lnTo>
                  <a:pt x="6918" y="273100"/>
                </a:lnTo>
                <a:lnTo>
                  <a:pt x="638" y="264566"/>
                </a:lnTo>
                <a:lnTo>
                  <a:pt x="1168" y="256031"/>
                </a:lnTo>
                <a:lnTo>
                  <a:pt x="8376" y="247497"/>
                </a:lnTo>
                <a:lnTo>
                  <a:pt x="20498" y="238963"/>
                </a:lnTo>
                <a:lnTo>
                  <a:pt x="34567" y="230428"/>
                </a:lnTo>
                <a:lnTo>
                  <a:pt x="47137" y="221894"/>
                </a:lnTo>
                <a:lnTo>
                  <a:pt x="55131" y="213360"/>
                </a:lnTo>
                <a:lnTo>
                  <a:pt x="56592" y="204825"/>
                </a:lnTo>
                <a:lnTo>
                  <a:pt x="51163" y="196291"/>
                </a:lnTo>
                <a:lnTo>
                  <a:pt x="40171" y="187756"/>
                </a:lnTo>
                <a:lnTo>
                  <a:pt x="26309" y="179222"/>
                </a:lnTo>
                <a:lnTo>
                  <a:pt x="12971" y="170688"/>
                </a:lnTo>
                <a:lnTo>
                  <a:pt x="3422" y="162153"/>
                </a:lnTo>
                <a:lnTo>
                  <a:pt x="0" y="153619"/>
                </a:lnTo>
                <a:lnTo>
                  <a:pt x="3542" y="145084"/>
                </a:lnTo>
                <a:lnTo>
                  <a:pt x="13183" y="136550"/>
                </a:lnTo>
                <a:lnTo>
                  <a:pt x="26560" y="128016"/>
                </a:lnTo>
                <a:lnTo>
                  <a:pt x="40400" y="119481"/>
                </a:lnTo>
                <a:lnTo>
                  <a:pt x="51313" y="110947"/>
                </a:lnTo>
                <a:lnTo>
                  <a:pt x="56628" y="102412"/>
                </a:lnTo>
                <a:lnTo>
                  <a:pt x="55043" y="93878"/>
                </a:lnTo>
                <a:lnTo>
                  <a:pt x="46947" y="85344"/>
                </a:lnTo>
                <a:lnTo>
                  <a:pt x="34321" y="76809"/>
                </a:lnTo>
                <a:lnTo>
                  <a:pt x="20257" y="68275"/>
                </a:lnTo>
                <a:lnTo>
                  <a:pt x="8198" y="59740"/>
                </a:lnTo>
                <a:lnTo>
                  <a:pt x="1097" y="51206"/>
                </a:lnTo>
                <a:lnTo>
                  <a:pt x="693" y="42671"/>
                </a:lnTo>
                <a:lnTo>
                  <a:pt x="7083" y="34137"/>
                </a:lnTo>
                <a:lnTo>
                  <a:pt x="18704" y="25603"/>
                </a:lnTo>
                <a:lnTo>
                  <a:pt x="32711" y="17068"/>
                </a:lnTo>
                <a:lnTo>
                  <a:pt x="45674" y="8534"/>
                </a:lnTo>
                <a:lnTo>
                  <a:pt x="54419" y="0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127" name="Editable vector 127"/>
          <p:cNvSpPr/>
          <p:nvPr/>
        </p:nvSpPr>
        <p:spPr>
          <a:xfrm>
            <a:off x="10474452" y="4751832"/>
            <a:ext cx="56824" cy="341376"/>
          </a:xfrm>
          <a:custGeom>
            <a:avLst/>
            <a:gdLst/>
            <a:ahLst/>
            <a:cxnLst/>
            <a:rect l="0" t="0" r="r" b="b"/>
            <a:pathLst>
              <a:path w="56824" h="341376" fill="none">
                <a:moveTo>
                  <a:pt x="28447" y="0"/>
                </a:moveTo>
                <a:lnTo>
                  <a:pt x="42086" y="8534"/>
                </a:lnTo>
                <a:lnTo>
                  <a:pt x="52385" y="17068"/>
                </a:lnTo>
                <a:lnTo>
                  <a:pt x="56824" y="25603"/>
                </a:lnTo>
                <a:lnTo>
                  <a:pt x="54315" y="34137"/>
                </a:lnTo>
                <a:lnTo>
                  <a:pt x="45473" y="42671"/>
                </a:lnTo>
                <a:lnTo>
                  <a:pt x="32462" y="51206"/>
                </a:lnTo>
                <a:lnTo>
                  <a:pt x="18468" y="59740"/>
                </a:lnTo>
                <a:lnTo>
                  <a:pt x="6918" y="68275"/>
                </a:lnTo>
                <a:lnTo>
                  <a:pt x="638" y="76809"/>
                </a:lnTo>
                <a:lnTo>
                  <a:pt x="1168" y="85344"/>
                </a:lnTo>
                <a:lnTo>
                  <a:pt x="8376" y="93878"/>
                </a:lnTo>
                <a:lnTo>
                  <a:pt x="20498" y="102412"/>
                </a:lnTo>
                <a:lnTo>
                  <a:pt x="34567" y="110947"/>
                </a:lnTo>
                <a:lnTo>
                  <a:pt x="47137" y="119481"/>
                </a:lnTo>
                <a:lnTo>
                  <a:pt x="55131" y="128016"/>
                </a:lnTo>
                <a:lnTo>
                  <a:pt x="56592" y="136550"/>
                </a:lnTo>
                <a:lnTo>
                  <a:pt x="51163" y="145084"/>
                </a:lnTo>
                <a:lnTo>
                  <a:pt x="40171" y="153619"/>
                </a:lnTo>
                <a:lnTo>
                  <a:pt x="26309" y="162153"/>
                </a:lnTo>
                <a:lnTo>
                  <a:pt x="12971" y="170688"/>
                </a:lnTo>
                <a:lnTo>
                  <a:pt x="3422" y="179222"/>
                </a:lnTo>
                <a:lnTo>
                  <a:pt x="0" y="187756"/>
                </a:lnTo>
                <a:lnTo>
                  <a:pt x="3542" y="196291"/>
                </a:lnTo>
                <a:lnTo>
                  <a:pt x="13183" y="204825"/>
                </a:lnTo>
                <a:lnTo>
                  <a:pt x="26560" y="213360"/>
                </a:lnTo>
                <a:lnTo>
                  <a:pt x="40400" y="221894"/>
                </a:lnTo>
                <a:lnTo>
                  <a:pt x="51313" y="230428"/>
                </a:lnTo>
                <a:lnTo>
                  <a:pt x="56628" y="238963"/>
                </a:lnTo>
                <a:lnTo>
                  <a:pt x="55043" y="247497"/>
                </a:lnTo>
                <a:lnTo>
                  <a:pt x="46947" y="256031"/>
                </a:lnTo>
                <a:lnTo>
                  <a:pt x="34321" y="264566"/>
                </a:lnTo>
                <a:lnTo>
                  <a:pt x="20257" y="273100"/>
                </a:lnTo>
                <a:lnTo>
                  <a:pt x="8198" y="281635"/>
                </a:lnTo>
                <a:lnTo>
                  <a:pt x="1097" y="290169"/>
                </a:lnTo>
                <a:lnTo>
                  <a:pt x="693" y="298704"/>
                </a:lnTo>
                <a:lnTo>
                  <a:pt x="7083" y="307238"/>
                </a:lnTo>
                <a:lnTo>
                  <a:pt x="18704" y="315772"/>
                </a:lnTo>
                <a:lnTo>
                  <a:pt x="32711" y="324307"/>
                </a:lnTo>
                <a:lnTo>
                  <a:pt x="45674" y="332841"/>
                </a:lnTo>
                <a:lnTo>
                  <a:pt x="54419" y="341376"/>
                </a:lnTo>
              </a:path>
            </a:pathLst>
          </a:custGeom>
          <a:noFill/>
          <a:ln w="25400" cap="rnd">
            <a:solidFill>
              <a:srgbClr val="8056A8"/>
            </a:solidFill>
          </a:ln>
        </p:spPr>
      </p:sp>
      <p:sp>
        <p:nvSpPr>
          <p:cNvPr id="128" name="Editable vector 128"/>
          <p:cNvSpPr/>
          <p:nvPr/>
        </p:nvSpPr>
        <p:spPr>
          <a:xfrm>
            <a:off x="10325100" y="5093208"/>
            <a:ext cx="88900" cy="49783"/>
          </a:xfrm>
          <a:custGeom>
            <a:avLst/>
            <a:gdLst/>
            <a:ahLst/>
            <a:cxnLst/>
            <a:rect l="0" t="0" r="r" b="b"/>
            <a:pathLst>
              <a:path w="88900" h="49783" fill="none">
                <a:moveTo>
                  <a:pt x="0" y="0"/>
                </a:moveTo>
                <a:lnTo>
                  <a:pt x="42672" y="49783"/>
                </a:lnTo>
                <a:lnTo>
                  <a:pt x="88900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29" name="Editable vector 129"/>
          <p:cNvSpPr/>
          <p:nvPr/>
        </p:nvSpPr>
        <p:spPr>
          <a:xfrm>
            <a:off x="10414000" y="4702048"/>
            <a:ext cx="88900" cy="49783"/>
          </a:xfrm>
          <a:custGeom>
            <a:avLst/>
            <a:gdLst/>
            <a:ahLst/>
            <a:cxnLst/>
            <a:rect l="0" t="0" r="r" b="b"/>
            <a:pathLst>
              <a:path w="88900" h="49783" fill="none">
                <a:moveTo>
                  <a:pt x="0" y="49783"/>
                </a:moveTo>
                <a:lnTo>
                  <a:pt x="46227" y="0"/>
                </a:lnTo>
                <a:lnTo>
                  <a:pt x="88900" y="49783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30" name="Editable vector 130"/>
          <p:cNvSpPr/>
          <p:nvPr/>
        </p:nvSpPr>
        <p:spPr>
          <a:xfrm>
            <a:off x="9921240" y="5105400"/>
            <a:ext cx="492760" cy="127000"/>
          </a:xfrm>
          <a:custGeom>
            <a:avLst/>
            <a:gdLst/>
            <a:ahLst/>
            <a:cxnLst/>
            <a:rect l="0" t="0" r="r" b="b"/>
            <a:pathLst>
              <a:path w="492760" h="127000" fill="none">
                <a:moveTo>
                  <a:pt x="0" y="0"/>
                </a:moveTo>
                <a:lnTo>
                  <a:pt x="137160" y="127000"/>
                </a:lnTo>
                <a:lnTo>
                  <a:pt x="238760" y="25400"/>
                </a:lnTo>
                <a:lnTo>
                  <a:pt x="365760" y="127000"/>
                </a:lnTo>
                <a:lnTo>
                  <a:pt x="49276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31" name="Editable vector 131"/>
          <p:cNvSpPr/>
          <p:nvPr/>
        </p:nvSpPr>
        <p:spPr>
          <a:xfrm>
            <a:off x="11138509" y="5014468"/>
            <a:ext cx="5080" cy="237439"/>
          </a:xfrm>
          <a:custGeom>
            <a:avLst/>
            <a:gdLst/>
            <a:ahLst/>
            <a:cxnLst/>
            <a:rect l="0" t="0" r="r" b="b"/>
            <a:pathLst>
              <a:path w="5080" h="237439" fill="none">
                <a:moveTo>
                  <a:pt x="0" y="237439"/>
                </a:moveTo>
                <a:lnTo>
                  <a:pt x="0" y="0"/>
                </a:lnTo>
              </a:path>
            </a:pathLst>
          </a:custGeom>
          <a:noFill/>
          <a:ln w="49987" cap="rnd">
            <a:solidFill>
              <a:srgbClr val="8A9BAA"/>
            </a:solidFill>
          </a:ln>
        </p:spPr>
      </p:sp>
      <p:sp>
        <p:nvSpPr>
          <p:cNvPr id="132" name="Editable vector 132"/>
          <p:cNvSpPr/>
          <p:nvPr/>
        </p:nvSpPr>
        <p:spPr>
          <a:xfrm>
            <a:off x="11213490" y="5014468"/>
            <a:ext cx="5080" cy="237439"/>
          </a:xfrm>
          <a:custGeom>
            <a:avLst/>
            <a:gdLst/>
            <a:ahLst/>
            <a:cxnLst/>
            <a:rect l="0" t="0" r="r" b="b"/>
            <a:pathLst>
              <a:path w="5080" h="237439" fill="none">
                <a:moveTo>
                  <a:pt x="0" y="237439"/>
                </a:moveTo>
                <a:lnTo>
                  <a:pt x="0" y="0"/>
                </a:lnTo>
              </a:path>
            </a:pathLst>
          </a:custGeom>
          <a:noFill/>
          <a:ln w="49987" cap="rnd">
            <a:solidFill>
              <a:srgbClr val="8A9BAA"/>
            </a:solidFill>
          </a:ln>
        </p:spPr>
      </p:sp>
      <p:sp>
        <p:nvSpPr>
          <p:cNvPr id="133" name="Editable vector 133"/>
          <p:cNvSpPr/>
          <p:nvPr/>
        </p:nvSpPr>
        <p:spPr>
          <a:xfrm>
            <a:off x="10905236" y="4764532"/>
            <a:ext cx="270764" cy="249936"/>
          </a:xfrm>
          <a:custGeom>
            <a:avLst/>
            <a:gdLst/>
            <a:ahLst/>
            <a:cxnLst/>
            <a:rect l="0" t="0" r="r" b="b"/>
            <a:pathLst>
              <a:path w="270764" h="249936" fill="none">
                <a:moveTo>
                  <a:pt x="270764" y="249936"/>
                </a:moveTo>
                <a:lnTo>
                  <a:pt x="0" y="0"/>
                </a:lnTo>
              </a:path>
            </a:pathLst>
          </a:custGeom>
          <a:noFill/>
          <a:ln w="54152" cap="rnd">
            <a:solidFill>
              <a:srgbClr val="0072B2"/>
            </a:solidFill>
          </a:ln>
        </p:spPr>
      </p:sp>
      <p:sp>
        <p:nvSpPr>
          <p:cNvPr id="134" name="Editable vector 134"/>
          <p:cNvSpPr/>
          <p:nvPr/>
        </p:nvSpPr>
        <p:spPr>
          <a:xfrm>
            <a:off x="11176000" y="4764532"/>
            <a:ext cx="270764" cy="249936"/>
          </a:xfrm>
          <a:custGeom>
            <a:avLst/>
            <a:gdLst/>
            <a:ahLst/>
            <a:cxnLst/>
            <a:rect l="0" t="0" r="r" b="b"/>
            <a:pathLst>
              <a:path w="270764" h="249936" fill="none">
                <a:moveTo>
                  <a:pt x="0" y="249936"/>
                </a:moveTo>
                <a:lnTo>
                  <a:pt x="270764" y="0"/>
                </a:lnTo>
              </a:path>
            </a:pathLst>
          </a:custGeom>
          <a:noFill/>
          <a:ln w="54152" cap="rnd">
            <a:solidFill>
              <a:srgbClr val="8056A8"/>
            </a:solidFill>
          </a:ln>
        </p:spPr>
      </p:sp>
      <p:sp>
        <p:nvSpPr>
          <p:cNvPr id="135" name="Editable vector 135"/>
          <p:cNvSpPr/>
          <p:nvPr/>
        </p:nvSpPr>
        <p:spPr>
          <a:xfrm>
            <a:off x="10851083" y="4806188"/>
            <a:ext cx="266598" cy="220776"/>
          </a:xfrm>
          <a:custGeom>
            <a:avLst/>
            <a:gdLst/>
            <a:ahLst/>
            <a:cxnLst/>
            <a:rect l="0" t="0" r="r" b="b"/>
            <a:pathLst>
              <a:path w="266598" h="220776" fill="none">
                <a:moveTo>
                  <a:pt x="266598" y="220776"/>
                </a:moveTo>
                <a:lnTo>
                  <a:pt x="0" y="0"/>
                </a:lnTo>
              </a:path>
            </a:pathLst>
          </a:custGeom>
          <a:noFill/>
          <a:ln w="29159" cap="rnd">
            <a:solidFill>
              <a:srgbClr val="0072B2"/>
            </a:solidFill>
          </a:ln>
        </p:spPr>
      </p:sp>
      <p:sp>
        <p:nvSpPr>
          <p:cNvPr id="136" name="Editable vector 136"/>
          <p:cNvSpPr/>
          <p:nvPr/>
        </p:nvSpPr>
        <p:spPr>
          <a:xfrm>
            <a:off x="11234318" y="4806188"/>
            <a:ext cx="266598" cy="220776"/>
          </a:xfrm>
          <a:custGeom>
            <a:avLst/>
            <a:gdLst/>
            <a:ahLst/>
            <a:cxnLst/>
            <a:rect l="0" t="0" r="r" b="b"/>
            <a:pathLst>
              <a:path w="266598" h="220776" fill="none">
                <a:moveTo>
                  <a:pt x="0" y="220776"/>
                </a:moveTo>
                <a:lnTo>
                  <a:pt x="266598" y="0"/>
                </a:lnTo>
              </a:path>
            </a:pathLst>
          </a:custGeom>
          <a:noFill/>
          <a:ln w="29159" cap="rnd">
            <a:solidFill>
              <a:srgbClr val="8056A8"/>
            </a:solidFill>
          </a:ln>
        </p:spPr>
      </p:sp>
      <p:sp>
        <p:nvSpPr>
          <p:cNvPr id="137" name="Tandem"/>
          <p:cNvSpPr txBox="1"/>
          <p:nvPr/>
        </p:nvSpPr>
        <p:spPr>
          <a:xfrm>
            <a:off x="9423400" y="5405120"/>
            <a:ext cx="127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Tandem</a:t>
            </a:r>
          </a:p>
        </p:txBody>
      </p:sp>
      <p:sp>
        <p:nvSpPr>
          <p:cNvPr id="138" name="IgG-like"/>
          <p:cNvSpPr txBox="1"/>
          <p:nvPr/>
        </p:nvSpPr>
        <p:spPr>
          <a:xfrm>
            <a:off x="10541000" y="5405120"/>
            <a:ext cx="1270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IgG-like</a:t>
            </a:r>
          </a:p>
        </p:txBody>
      </p:sp>
      <p:sp>
        <p:nvSpPr>
          <p:cNvPr id="139" name="Linker · order · valency"/>
          <p:cNvSpPr txBox="1"/>
          <p:nvPr/>
        </p:nvSpPr>
        <p:spPr>
          <a:xfrm>
            <a:off x="9144000" y="57658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17324D"/>
                </a:solidFill>
                <a:latin typeface="Arial"/>
              </a:rPr>
              <a:t>Linker · order · valency</a:t>
            </a:r>
          </a:p>
        </p:txBody>
      </p:sp>
      <p:sp>
        <p:nvSpPr>
          <p:cNvPr id="140" name="IgG: chain pairing"/>
          <p:cNvSpPr txBox="1"/>
          <p:nvPr/>
        </p:nvSpPr>
        <p:spPr>
          <a:xfrm>
            <a:off x="9144000" y="59944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IgG: chain pairing</a:t>
            </a:r>
          </a:p>
        </p:txBody>
      </p:sp>
      <p:sp>
        <p:nvSpPr>
          <p:cNvPr id="141" name="Editable shape 141"/>
          <p:cNvSpPr/>
          <p:nvPr/>
        </p:nvSpPr>
        <p:spPr>
          <a:xfrm>
            <a:off x="6673088" y="4636008"/>
            <a:ext cx="292608" cy="292608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42" name="Editable shape 142"/>
          <p:cNvSpPr/>
          <p:nvPr/>
        </p:nvSpPr>
        <p:spPr>
          <a:xfrm>
            <a:off x="6843776" y="4599432"/>
            <a:ext cx="284480" cy="28448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43" name="Editable shape 143"/>
          <p:cNvSpPr/>
          <p:nvPr/>
        </p:nvSpPr>
        <p:spPr>
          <a:xfrm>
            <a:off x="6908800" y="4782312"/>
            <a:ext cx="243840" cy="24384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44" name="Editable shape 144"/>
          <p:cNvSpPr/>
          <p:nvPr/>
        </p:nvSpPr>
        <p:spPr>
          <a:xfrm>
            <a:off x="6734048" y="4806696"/>
            <a:ext cx="284480" cy="28448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45" name="Editable shape 145"/>
          <p:cNvSpPr/>
          <p:nvPr/>
        </p:nvSpPr>
        <p:spPr>
          <a:xfrm>
            <a:off x="7010400" y="4725416"/>
            <a:ext cx="105664" cy="105664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46" name="Editable shape 146"/>
          <p:cNvSpPr/>
          <p:nvPr/>
        </p:nvSpPr>
        <p:spPr>
          <a:xfrm>
            <a:off x="7968488" y="4636008"/>
            <a:ext cx="292608" cy="292608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47" name="Editable shape 147"/>
          <p:cNvSpPr/>
          <p:nvPr/>
        </p:nvSpPr>
        <p:spPr>
          <a:xfrm>
            <a:off x="8139176" y="4599432"/>
            <a:ext cx="284480" cy="28448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48" name="Editable shape 148"/>
          <p:cNvSpPr/>
          <p:nvPr/>
        </p:nvSpPr>
        <p:spPr>
          <a:xfrm>
            <a:off x="8204200" y="4782312"/>
            <a:ext cx="243840" cy="24384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49" name="Editable shape 149"/>
          <p:cNvSpPr/>
          <p:nvPr/>
        </p:nvSpPr>
        <p:spPr>
          <a:xfrm>
            <a:off x="8029448" y="4806696"/>
            <a:ext cx="284480" cy="28448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50" name="Editable shape 150"/>
          <p:cNvSpPr/>
          <p:nvPr/>
        </p:nvSpPr>
        <p:spPr>
          <a:xfrm>
            <a:off x="7996935" y="4725416"/>
            <a:ext cx="105664" cy="105664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151" name="Editable vector 151"/>
          <p:cNvSpPr/>
          <p:nvPr/>
        </p:nvSpPr>
        <p:spPr>
          <a:xfrm>
            <a:off x="7175551" y="4798364"/>
            <a:ext cx="43024" cy="258470"/>
          </a:xfrm>
          <a:custGeom>
            <a:avLst/>
            <a:gdLst/>
            <a:ahLst/>
            <a:cxnLst/>
            <a:rect l="0" t="0" r="r" b="b"/>
            <a:pathLst>
              <a:path w="43024" h="258470" fill="none">
                <a:moveTo>
                  <a:pt x="21538" y="0"/>
                </a:moveTo>
                <a:lnTo>
                  <a:pt x="31865" y="6461"/>
                </a:lnTo>
                <a:lnTo>
                  <a:pt x="39663" y="12923"/>
                </a:lnTo>
                <a:lnTo>
                  <a:pt x="43024" y="19385"/>
                </a:lnTo>
                <a:lnTo>
                  <a:pt x="41124" y="25847"/>
                </a:lnTo>
                <a:lnTo>
                  <a:pt x="34429" y="32308"/>
                </a:lnTo>
                <a:lnTo>
                  <a:pt x="24578" y="38770"/>
                </a:lnTo>
                <a:lnTo>
                  <a:pt x="13983" y="45232"/>
                </a:lnTo>
                <a:lnTo>
                  <a:pt x="5238" y="51694"/>
                </a:lnTo>
                <a:lnTo>
                  <a:pt x="483" y="58155"/>
                </a:lnTo>
                <a:lnTo>
                  <a:pt x="884" y="64617"/>
                </a:lnTo>
                <a:lnTo>
                  <a:pt x="6342" y="71079"/>
                </a:lnTo>
                <a:lnTo>
                  <a:pt x="15520" y="77541"/>
                </a:lnTo>
                <a:lnTo>
                  <a:pt x="26172" y="84002"/>
                </a:lnTo>
                <a:lnTo>
                  <a:pt x="35689" y="90464"/>
                </a:lnTo>
                <a:lnTo>
                  <a:pt x="41742" y="96926"/>
                </a:lnTo>
                <a:lnTo>
                  <a:pt x="42848" y="103388"/>
                </a:lnTo>
                <a:lnTo>
                  <a:pt x="38737" y="109849"/>
                </a:lnTo>
                <a:lnTo>
                  <a:pt x="30415" y="116311"/>
                </a:lnTo>
                <a:lnTo>
                  <a:pt x="19920" y="122773"/>
                </a:lnTo>
                <a:lnTo>
                  <a:pt x="9821" y="129235"/>
                </a:lnTo>
                <a:lnTo>
                  <a:pt x="2591" y="135696"/>
                </a:lnTo>
                <a:lnTo>
                  <a:pt x="0" y="142158"/>
                </a:lnTo>
                <a:lnTo>
                  <a:pt x="2682" y="148620"/>
                </a:lnTo>
                <a:lnTo>
                  <a:pt x="9981" y="155082"/>
                </a:lnTo>
                <a:lnTo>
                  <a:pt x="20110" y="161544"/>
                </a:lnTo>
                <a:lnTo>
                  <a:pt x="30589" y="168005"/>
                </a:lnTo>
                <a:lnTo>
                  <a:pt x="38851" y="174467"/>
                </a:lnTo>
                <a:lnTo>
                  <a:pt x="42875" y="180929"/>
                </a:lnTo>
                <a:lnTo>
                  <a:pt x="41675" y="187391"/>
                </a:lnTo>
                <a:lnTo>
                  <a:pt x="35545" y="193852"/>
                </a:lnTo>
                <a:lnTo>
                  <a:pt x="25986" y="200314"/>
                </a:lnTo>
                <a:lnTo>
                  <a:pt x="15337" y="206776"/>
                </a:lnTo>
                <a:lnTo>
                  <a:pt x="6207" y="213238"/>
                </a:lnTo>
                <a:lnTo>
                  <a:pt x="831" y="219699"/>
                </a:lnTo>
                <a:lnTo>
                  <a:pt x="524" y="226161"/>
                </a:lnTo>
                <a:lnTo>
                  <a:pt x="5363" y="232623"/>
                </a:lnTo>
                <a:lnTo>
                  <a:pt x="14162" y="239085"/>
                </a:lnTo>
                <a:lnTo>
                  <a:pt x="24767" y="245546"/>
                </a:lnTo>
                <a:lnTo>
                  <a:pt x="34581" y="252008"/>
                </a:lnTo>
                <a:lnTo>
                  <a:pt x="41203" y="25847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52" name="Editable vector 152"/>
          <p:cNvSpPr/>
          <p:nvPr/>
        </p:nvSpPr>
        <p:spPr>
          <a:xfrm>
            <a:off x="7242861" y="4798364"/>
            <a:ext cx="43024" cy="258470"/>
          </a:xfrm>
          <a:custGeom>
            <a:avLst/>
            <a:gdLst/>
            <a:ahLst/>
            <a:cxnLst/>
            <a:rect l="0" t="0" r="r" b="b"/>
            <a:pathLst>
              <a:path w="43024" h="258470" fill="none">
                <a:moveTo>
                  <a:pt x="21538" y="258470"/>
                </a:moveTo>
                <a:lnTo>
                  <a:pt x="31865" y="252008"/>
                </a:lnTo>
                <a:lnTo>
                  <a:pt x="39663" y="245546"/>
                </a:lnTo>
                <a:lnTo>
                  <a:pt x="43024" y="239085"/>
                </a:lnTo>
                <a:lnTo>
                  <a:pt x="41124" y="232623"/>
                </a:lnTo>
                <a:lnTo>
                  <a:pt x="34429" y="226161"/>
                </a:lnTo>
                <a:lnTo>
                  <a:pt x="24578" y="219699"/>
                </a:lnTo>
                <a:lnTo>
                  <a:pt x="13983" y="213238"/>
                </a:lnTo>
                <a:lnTo>
                  <a:pt x="5238" y="206776"/>
                </a:lnTo>
                <a:lnTo>
                  <a:pt x="483" y="200314"/>
                </a:lnTo>
                <a:lnTo>
                  <a:pt x="884" y="193852"/>
                </a:lnTo>
                <a:lnTo>
                  <a:pt x="6342" y="187391"/>
                </a:lnTo>
                <a:lnTo>
                  <a:pt x="15520" y="180929"/>
                </a:lnTo>
                <a:lnTo>
                  <a:pt x="26172" y="174467"/>
                </a:lnTo>
                <a:lnTo>
                  <a:pt x="35689" y="168005"/>
                </a:lnTo>
                <a:lnTo>
                  <a:pt x="41742" y="161544"/>
                </a:lnTo>
                <a:lnTo>
                  <a:pt x="42848" y="155082"/>
                </a:lnTo>
                <a:lnTo>
                  <a:pt x="38737" y="148620"/>
                </a:lnTo>
                <a:lnTo>
                  <a:pt x="30415" y="142158"/>
                </a:lnTo>
                <a:lnTo>
                  <a:pt x="19920" y="135696"/>
                </a:lnTo>
                <a:lnTo>
                  <a:pt x="9821" y="129235"/>
                </a:lnTo>
                <a:lnTo>
                  <a:pt x="2591" y="122773"/>
                </a:lnTo>
                <a:lnTo>
                  <a:pt x="0" y="116311"/>
                </a:lnTo>
                <a:lnTo>
                  <a:pt x="2682" y="109849"/>
                </a:lnTo>
                <a:lnTo>
                  <a:pt x="9981" y="103388"/>
                </a:lnTo>
                <a:lnTo>
                  <a:pt x="20110" y="96926"/>
                </a:lnTo>
                <a:lnTo>
                  <a:pt x="30589" y="90464"/>
                </a:lnTo>
                <a:lnTo>
                  <a:pt x="38851" y="84002"/>
                </a:lnTo>
                <a:lnTo>
                  <a:pt x="42875" y="77541"/>
                </a:lnTo>
                <a:lnTo>
                  <a:pt x="41675" y="71079"/>
                </a:lnTo>
                <a:lnTo>
                  <a:pt x="35545" y="64617"/>
                </a:lnTo>
                <a:lnTo>
                  <a:pt x="25986" y="58155"/>
                </a:lnTo>
                <a:lnTo>
                  <a:pt x="15337" y="51694"/>
                </a:lnTo>
                <a:lnTo>
                  <a:pt x="6207" y="45232"/>
                </a:lnTo>
                <a:lnTo>
                  <a:pt x="831" y="38770"/>
                </a:lnTo>
                <a:lnTo>
                  <a:pt x="524" y="32308"/>
                </a:lnTo>
                <a:lnTo>
                  <a:pt x="5363" y="25847"/>
                </a:lnTo>
                <a:lnTo>
                  <a:pt x="14162" y="19385"/>
                </a:lnTo>
                <a:lnTo>
                  <a:pt x="24767" y="12923"/>
                </a:lnTo>
                <a:lnTo>
                  <a:pt x="34581" y="6461"/>
                </a:lnTo>
                <a:lnTo>
                  <a:pt x="41203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53" name="Editable vector 153"/>
          <p:cNvSpPr/>
          <p:nvPr/>
        </p:nvSpPr>
        <p:spPr>
          <a:xfrm>
            <a:off x="7310171" y="4798364"/>
            <a:ext cx="43024" cy="258470"/>
          </a:xfrm>
          <a:custGeom>
            <a:avLst/>
            <a:gdLst/>
            <a:ahLst/>
            <a:cxnLst/>
            <a:rect l="0" t="0" r="r" b="b"/>
            <a:pathLst>
              <a:path w="43024" h="258470" fill="none">
                <a:moveTo>
                  <a:pt x="21538" y="0"/>
                </a:moveTo>
                <a:lnTo>
                  <a:pt x="31865" y="6461"/>
                </a:lnTo>
                <a:lnTo>
                  <a:pt x="39663" y="12923"/>
                </a:lnTo>
                <a:lnTo>
                  <a:pt x="43024" y="19385"/>
                </a:lnTo>
                <a:lnTo>
                  <a:pt x="41124" y="25847"/>
                </a:lnTo>
                <a:lnTo>
                  <a:pt x="34429" y="32308"/>
                </a:lnTo>
                <a:lnTo>
                  <a:pt x="24578" y="38770"/>
                </a:lnTo>
                <a:lnTo>
                  <a:pt x="13983" y="45232"/>
                </a:lnTo>
                <a:lnTo>
                  <a:pt x="5238" y="51694"/>
                </a:lnTo>
                <a:lnTo>
                  <a:pt x="483" y="58155"/>
                </a:lnTo>
                <a:lnTo>
                  <a:pt x="884" y="64617"/>
                </a:lnTo>
                <a:lnTo>
                  <a:pt x="6342" y="71079"/>
                </a:lnTo>
                <a:lnTo>
                  <a:pt x="15520" y="77541"/>
                </a:lnTo>
                <a:lnTo>
                  <a:pt x="26172" y="84002"/>
                </a:lnTo>
                <a:lnTo>
                  <a:pt x="35689" y="90464"/>
                </a:lnTo>
                <a:lnTo>
                  <a:pt x="41742" y="96926"/>
                </a:lnTo>
                <a:lnTo>
                  <a:pt x="42848" y="103388"/>
                </a:lnTo>
                <a:lnTo>
                  <a:pt x="38737" y="109849"/>
                </a:lnTo>
                <a:lnTo>
                  <a:pt x="30415" y="116311"/>
                </a:lnTo>
                <a:lnTo>
                  <a:pt x="19920" y="122773"/>
                </a:lnTo>
                <a:lnTo>
                  <a:pt x="9821" y="129235"/>
                </a:lnTo>
                <a:lnTo>
                  <a:pt x="2591" y="135696"/>
                </a:lnTo>
                <a:lnTo>
                  <a:pt x="0" y="142158"/>
                </a:lnTo>
                <a:lnTo>
                  <a:pt x="2682" y="148620"/>
                </a:lnTo>
                <a:lnTo>
                  <a:pt x="9981" y="155082"/>
                </a:lnTo>
                <a:lnTo>
                  <a:pt x="20110" y="161544"/>
                </a:lnTo>
                <a:lnTo>
                  <a:pt x="30589" y="168005"/>
                </a:lnTo>
                <a:lnTo>
                  <a:pt x="38851" y="174467"/>
                </a:lnTo>
                <a:lnTo>
                  <a:pt x="42875" y="180929"/>
                </a:lnTo>
                <a:lnTo>
                  <a:pt x="41675" y="187391"/>
                </a:lnTo>
                <a:lnTo>
                  <a:pt x="35545" y="193852"/>
                </a:lnTo>
                <a:lnTo>
                  <a:pt x="25986" y="200314"/>
                </a:lnTo>
                <a:lnTo>
                  <a:pt x="15337" y="206776"/>
                </a:lnTo>
                <a:lnTo>
                  <a:pt x="6207" y="213238"/>
                </a:lnTo>
                <a:lnTo>
                  <a:pt x="831" y="219699"/>
                </a:lnTo>
                <a:lnTo>
                  <a:pt x="524" y="226161"/>
                </a:lnTo>
                <a:lnTo>
                  <a:pt x="5363" y="232623"/>
                </a:lnTo>
                <a:lnTo>
                  <a:pt x="14162" y="239085"/>
                </a:lnTo>
                <a:lnTo>
                  <a:pt x="24767" y="245546"/>
                </a:lnTo>
                <a:lnTo>
                  <a:pt x="34581" y="252008"/>
                </a:lnTo>
                <a:lnTo>
                  <a:pt x="41203" y="25847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54" name="Editable vector 154"/>
          <p:cNvSpPr/>
          <p:nvPr/>
        </p:nvSpPr>
        <p:spPr>
          <a:xfrm>
            <a:off x="7197090" y="5056835"/>
            <a:ext cx="67310" cy="37693"/>
          </a:xfrm>
          <a:custGeom>
            <a:avLst/>
            <a:gdLst/>
            <a:ahLst/>
            <a:cxnLst/>
            <a:rect l="0" t="0" r="r" b="b"/>
            <a:pathLst>
              <a:path w="67310" h="37693" fill="none">
                <a:moveTo>
                  <a:pt x="0" y="0"/>
                </a:moveTo>
                <a:lnTo>
                  <a:pt x="32308" y="37693"/>
                </a:lnTo>
                <a:lnTo>
                  <a:pt x="6731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55" name="Editable vector 155"/>
          <p:cNvSpPr/>
          <p:nvPr/>
        </p:nvSpPr>
        <p:spPr>
          <a:xfrm>
            <a:off x="7264400" y="4760671"/>
            <a:ext cx="67310" cy="37693"/>
          </a:xfrm>
          <a:custGeom>
            <a:avLst/>
            <a:gdLst/>
            <a:ahLst/>
            <a:cxnLst/>
            <a:rect l="0" t="0" r="r" b="b"/>
            <a:pathLst>
              <a:path w="67310" h="37693" fill="none">
                <a:moveTo>
                  <a:pt x="0" y="37693"/>
                </a:moveTo>
                <a:lnTo>
                  <a:pt x="35001" y="0"/>
                </a:lnTo>
                <a:lnTo>
                  <a:pt x="67310" y="37693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56" name="Editable vector 156"/>
          <p:cNvSpPr/>
          <p:nvPr/>
        </p:nvSpPr>
        <p:spPr>
          <a:xfrm>
            <a:off x="7754671" y="4798364"/>
            <a:ext cx="43024" cy="258470"/>
          </a:xfrm>
          <a:custGeom>
            <a:avLst/>
            <a:gdLst/>
            <a:ahLst/>
            <a:cxnLst/>
            <a:rect l="0" t="0" r="r" b="b"/>
            <a:pathLst>
              <a:path w="43024" h="258470" fill="none">
                <a:moveTo>
                  <a:pt x="21538" y="0"/>
                </a:moveTo>
                <a:lnTo>
                  <a:pt x="31865" y="6461"/>
                </a:lnTo>
                <a:lnTo>
                  <a:pt x="39663" y="12923"/>
                </a:lnTo>
                <a:lnTo>
                  <a:pt x="43024" y="19385"/>
                </a:lnTo>
                <a:lnTo>
                  <a:pt x="41124" y="25847"/>
                </a:lnTo>
                <a:lnTo>
                  <a:pt x="34429" y="32308"/>
                </a:lnTo>
                <a:lnTo>
                  <a:pt x="24578" y="38770"/>
                </a:lnTo>
                <a:lnTo>
                  <a:pt x="13983" y="45232"/>
                </a:lnTo>
                <a:lnTo>
                  <a:pt x="5238" y="51694"/>
                </a:lnTo>
                <a:lnTo>
                  <a:pt x="483" y="58155"/>
                </a:lnTo>
                <a:lnTo>
                  <a:pt x="884" y="64617"/>
                </a:lnTo>
                <a:lnTo>
                  <a:pt x="6342" y="71079"/>
                </a:lnTo>
                <a:lnTo>
                  <a:pt x="15520" y="77541"/>
                </a:lnTo>
                <a:lnTo>
                  <a:pt x="26172" y="84002"/>
                </a:lnTo>
                <a:lnTo>
                  <a:pt x="35689" y="90464"/>
                </a:lnTo>
                <a:lnTo>
                  <a:pt x="41742" y="96926"/>
                </a:lnTo>
                <a:lnTo>
                  <a:pt x="42848" y="103388"/>
                </a:lnTo>
                <a:lnTo>
                  <a:pt x="38737" y="109849"/>
                </a:lnTo>
                <a:lnTo>
                  <a:pt x="30415" y="116311"/>
                </a:lnTo>
                <a:lnTo>
                  <a:pt x="19920" y="122773"/>
                </a:lnTo>
                <a:lnTo>
                  <a:pt x="9821" y="129235"/>
                </a:lnTo>
                <a:lnTo>
                  <a:pt x="2591" y="135696"/>
                </a:lnTo>
                <a:lnTo>
                  <a:pt x="0" y="142158"/>
                </a:lnTo>
                <a:lnTo>
                  <a:pt x="2682" y="148620"/>
                </a:lnTo>
                <a:lnTo>
                  <a:pt x="9981" y="155082"/>
                </a:lnTo>
                <a:lnTo>
                  <a:pt x="20110" y="161544"/>
                </a:lnTo>
                <a:lnTo>
                  <a:pt x="30589" y="168005"/>
                </a:lnTo>
                <a:lnTo>
                  <a:pt x="38851" y="174467"/>
                </a:lnTo>
                <a:lnTo>
                  <a:pt x="42875" y="180929"/>
                </a:lnTo>
                <a:lnTo>
                  <a:pt x="41675" y="187391"/>
                </a:lnTo>
                <a:lnTo>
                  <a:pt x="35545" y="193852"/>
                </a:lnTo>
                <a:lnTo>
                  <a:pt x="25986" y="200314"/>
                </a:lnTo>
                <a:lnTo>
                  <a:pt x="15337" y="206776"/>
                </a:lnTo>
                <a:lnTo>
                  <a:pt x="6207" y="213238"/>
                </a:lnTo>
                <a:lnTo>
                  <a:pt x="831" y="219699"/>
                </a:lnTo>
                <a:lnTo>
                  <a:pt x="524" y="226161"/>
                </a:lnTo>
                <a:lnTo>
                  <a:pt x="5363" y="232623"/>
                </a:lnTo>
                <a:lnTo>
                  <a:pt x="14162" y="239085"/>
                </a:lnTo>
                <a:lnTo>
                  <a:pt x="24767" y="245546"/>
                </a:lnTo>
                <a:lnTo>
                  <a:pt x="34581" y="252008"/>
                </a:lnTo>
                <a:lnTo>
                  <a:pt x="41203" y="25847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57" name="Editable vector 157"/>
          <p:cNvSpPr/>
          <p:nvPr/>
        </p:nvSpPr>
        <p:spPr>
          <a:xfrm>
            <a:off x="7821981" y="4798364"/>
            <a:ext cx="43024" cy="258470"/>
          </a:xfrm>
          <a:custGeom>
            <a:avLst/>
            <a:gdLst/>
            <a:ahLst/>
            <a:cxnLst/>
            <a:rect l="0" t="0" r="r" b="b"/>
            <a:pathLst>
              <a:path w="43024" h="258470" fill="none">
                <a:moveTo>
                  <a:pt x="21538" y="258470"/>
                </a:moveTo>
                <a:lnTo>
                  <a:pt x="31865" y="252008"/>
                </a:lnTo>
                <a:lnTo>
                  <a:pt x="39663" y="245546"/>
                </a:lnTo>
                <a:lnTo>
                  <a:pt x="43024" y="239085"/>
                </a:lnTo>
                <a:lnTo>
                  <a:pt x="41124" y="232623"/>
                </a:lnTo>
                <a:lnTo>
                  <a:pt x="34429" y="226161"/>
                </a:lnTo>
                <a:lnTo>
                  <a:pt x="24578" y="219699"/>
                </a:lnTo>
                <a:lnTo>
                  <a:pt x="13983" y="213238"/>
                </a:lnTo>
                <a:lnTo>
                  <a:pt x="5238" y="206776"/>
                </a:lnTo>
                <a:lnTo>
                  <a:pt x="483" y="200314"/>
                </a:lnTo>
                <a:lnTo>
                  <a:pt x="884" y="193852"/>
                </a:lnTo>
                <a:lnTo>
                  <a:pt x="6342" y="187391"/>
                </a:lnTo>
                <a:lnTo>
                  <a:pt x="15520" y="180929"/>
                </a:lnTo>
                <a:lnTo>
                  <a:pt x="26172" y="174467"/>
                </a:lnTo>
                <a:lnTo>
                  <a:pt x="35689" y="168005"/>
                </a:lnTo>
                <a:lnTo>
                  <a:pt x="41742" y="161544"/>
                </a:lnTo>
                <a:lnTo>
                  <a:pt x="42848" y="155082"/>
                </a:lnTo>
                <a:lnTo>
                  <a:pt x="38737" y="148620"/>
                </a:lnTo>
                <a:lnTo>
                  <a:pt x="30415" y="142158"/>
                </a:lnTo>
                <a:lnTo>
                  <a:pt x="19920" y="135696"/>
                </a:lnTo>
                <a:lnTo>
                  <a:pt x="9821" y="129235"/>
                </a:lnTo>
                <a:lnTo>
                  <a:pt x="2591" y="122773"/>
                </a:lnTo>
                <a:lnTo>
                  <a:pt x="0" y="116311"/>
                </a:lnTo>
                <a:lnTo>
                  <a:pt x="2682" y="109849"/>
                </a:lnTo>
                <a:lnTo>
                  <a:pt x="9981" y="103388"/>
                </a:lnTo>
                <a:lnTo>
                  <a:pt x="20110" y="96926"/>
                </a:lnTo>
                <a:lnTo>
                  <a:pt x="30589" y="90464"/>
                </a:lnTo>
                <a:lnTo>
                  <a:pt x="38851" y="84002"/>
                </a:lnTo>
                <a:lnTo>
                  <a:pt x="42875" y="77541"/>
                </a:lnTo>
                <a:lnTo>
                  <a:pt x="41675" y="71079"/>
                </a:lnTo>
                <a:lnTo>
                  <a:pt x="35545" y="64617"/>
                </a:lnTo>
                <a:lnTo>
                  <a:pt x="25986" y="58155"/>
                </a:lnTo>
                <a:lnTo>
                  <a:pt x="15337" y="51694"/>
                </a:lnTo>
                <a:lnTo>
                  <a:pt x="6207" y="45232"/>
                </a:lnTo>
                <a:lnTo>
                  <a:pt x="831" y="38770"/>
                </a:lnTo>
                <a:lnTo>
                  <a:pt x="524" y="32308"/>
                </a:lnTo>
                <a:lnTo>
                  <a:pt x="5363" y="25847"/>
                </a:lnTo>
                <a:lnTo>
                  <a:pt x="14162" y="19385"/>
                </a:lnTo>
                <a:lnTo>
                  <a:pt x="24767" y="12923"/>
                </a:lnTo>
                <a:lnTo>
                  <a:pt x="34581" y="6461"/>
                </a:lnTo>
                <a:lnTo>
                  <a:pt x="41203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58" name="Editable vector 158"/>
          <p:cNvSpPr/>
          <p:nvPr/>
        </p:nvSpPr>
        <p:spPr>
          <a:xfrm>
            <a:off x="7889291" y="4798364"/>
            <a:ext cx="43024" cy="258470"/>
          </a:xfrm>
          <a:custGeom>
            <a:avLst/>
            <a:gdLst/>
            <a:ahLst/>
            <a:cxnLst/>
            <a:rect l="0" t="0" r="r" b="b"/>
            <a:pathLst>
              <a:path w="43024" h="258470" fill="none">
                <a:moveTo>
                  <a:pt x="21538" y="0"/>
                </a:moveTo>
                <a:lnTo>
                  <a:pt x="31865" y="6461"/>
                </a:lnTo>
                <a:lnTo>
                  <a:pt x="39663" y="12923"/>
                </a:lnTo>
                <a:lnTo>
                  <a:pt x="43024" y="19385"/>
                </a:lnTo>
                <a:lnTo>
                  <a:pt x="41124" y="25847"/>
                </a:lnTo>
                <a:lnTo>
                  <a:pt x="34429" y="32308"/>
                </a:lnTo>
                <a:lnTo>
                  <a:pt x="24578" y="38770"/>
                </a:lnTo>
                <a:lnTo>
                  <a:pt x="13983" y="45232"/>
                </a:lnTo>
                <a:lnTo>
                  <a:pt x="5238" y="51694"/>
                </a:lnTo>
                <a:lnTo>
                  <a:pt x="483" y="58155"/>
                </a:lnTo>
                <a:lnTo>
                  <a:pt x="884" y="64617"/>
                </a:lnTo>
                <a:lnTo>
                  <a:pt x="6342" y="71079"/>
                </a:lnTo>
                <a:lnTo>
                  <a:pt x="15520" y="77541"/>
                </a:lnTo>
                <a:lnTo>
                  <a:pt x="26172" y="84002"/>
                </a:lnTo>
                <a:lnTo>
                  <a:pt x="35689" y="90464"/>
                </a:lnTo>
                <a:lnTo>
                  <a:pt x="41742" y="96926"/>
                </a:lnTo>
                <a:lnTo>
                  <a:pt x="42848" y="103388"/>
                </a:lnTo>
                <a:lnTo>
                  <a:pt x="38737" y="109849"/>
                </a:lnTo>
                <a:lnTo>
                  <a:pt x="30415" y="116311"/>
                </a:lnTo>
                <a:lnTo>
                  <a:pt x="19920" y="122773"/>
                </a:lnTo>
                <a:lnTo>
                  <a:pt x="9821" y="129235"/>
                </a:lnTo>
                <a:lnTo>
                  <a:pt x="2591" y="135696"/>
                </a:lnTo>
                <a:lnTo>
                  <a:pt x="0" y="142158"/>
                </a:lnTo>
                <a:lnTo>
                  <a:pt x="2682" y="148620"/>
                </a:lnTo>
                <a:lnTo>
                  <a:pt x="9981" y="155082"/>
                </a:lnTo>
                <a:lnTo>
                  <a:pt x="20110" y="161544"/>
                </a:lnTo>
                <a:lnTo>
                  <a:pt x="30589" y="168005"/>
                </a:lnTo>
                <a:lnTo>
                  <a:pt x="38851" y="174467"/>
                </a:lnTo>
                <a:lnTo>
                  <a:pt x="42875" y="180929"/>
                </a:lnTo>
                <a:lnTo>
                  <a:pt x="41675" y="187391"/>
                </a:lnTo>
                <a:lnTo>
                  <a:pt x="35545" y="193852"/>
                </a:lnTo>
                <a:lnTo>
                  <a:pt x="25986" y="200314"/>
                </a:lnTo>
                <a:lnTo>
                  <a:pt x="15337" y="206776"/>
                </a:lnTo>
                <a:lnTo>
                  <a:pt x="6207" y="213238"/>
                </a:lnTo>
                <a:lnTo>
                  <a:pt x="831" y="219699"/>
                </a:lnTo>
                <a:lnTo>
                  <a:pt x="524" y="226161"/>
                </a:lnTo>
                <a:lnTo>
                  <a:pt x="5363" y="232623"/>
                </a:lnTo>
                <a:lnTo>
                  <a:pt x="14162" y="239085"/>
                </a:lnTo>
                <a:lnTo>
                  <a:pt x="24767" y="245546"/>
                </a:lnTo>
                <a:lnTo>
                  <a:pt x="34581" y="252008"/>
                </a:lnTo>
                <a:lnTo>
                  <a:pt x="41203" y="25847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59" name="Editable vector 159"/>
          <p:cNvSpPr/>
          <p:nvPr/>
        </p:nvSpPr>
        <p:spPr>
          <a:xfrm>
            <a:off x="7776210" y="5056835"/>
            <a:ext cx="67310" cy="37693"/>
          </a:xfrm>
          <a:custGeom>
            <a:avLst/>
            <a:gdLst/>
            <a:ahLst/>
            <a:cxnLst/>
            <a:rect l="0" t="0" r="r" b="b"/>
            <a:pathLst>
              <a:path w="67310" h="37693" fill="none">
                <a:moveTo>
                  <a:pt x="0" y="0"/>
                </a:moveTo>
                <a:lnTo>
                  <a:pt x="32308" y="37693"/>
                </a:lnTo>
                <a:lnTo>
                  <a:pt x="67310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60" name="Editable vector 160"/>
          <p:cNvSpPr/>
          <p:nvPr/>
        </p:nvSpPr>
        <p:spPr>
          <a:xfrm>
            <a:off x="7843520" y="4760671"/>
            <a:ext cx="67310" cy="37693"/>
          </a:xfrm>
          <a:custGeom>
            <a:avLst/>
            <a:gdLst/>
            <a:ahLst/>
            <a:cxnLst/>
            <a:rect l="0" t="0" r="r" b="b"/>
            <a:pathLst>
              <a:path w="67310" h="37693" fill="none">
                <a:moveTo>
                  <a:pt x="0" y="37693"/>
                </a:moveTo>
                <a:lnTo>
                  <a:pt x="35001" y="0"/>
                </a:lnTo>
                <a:lnTo>
                  <a:pt x="67310" y="37693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61" name="Editable vector 161"/>
          <p:cNvSpPr/>
          <p:nvPr/>
        </p:nvSpPr>
        <p:spPr>
          <a:xfrm>
            <a:off x="7264400" y="5085080"/>
            <a:ext cx="579120" cy="121920"/>
          </a:xfrm>
          <a:custGeom>
            <a:avLst/>
            <a:gdLst/>
            <a:ahLst/>
            <a:cxnLst/>
            <a:rect l="0" t="0" r="r" b="b"/>
            <a:pathLst>
              <a:path w="579120" h="121920" fill="none">
                <a:moveTo>
                  <a:pt x="0" y="0"/>
                </a:moveTo>
                <a:lnTo>
                  <a:pt x="182880" y="121920"/>
                </a:lnTo>
                <a:lnTo>
                  <a:pt x="381000" y="40640"/>
                </a:lnTo>
                <a:lnTo>
                  <a:pt x="57912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62" name="AlphaFold2 / AF3"/>
          <p:cNvSpPr txBox="1"/>
          <p:nvPr/>
        </p:nvSpPr>
        <p:spPr>
          <a:xfrm>
            <a:off x="6197600" y="57658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17324D"/>
                </a:solidFill>
                <a:latin typeface="Arial"/>
              </a:rPr>
              <a:t>AlphaFold2 / AF3</a:t>
            </a:r>
          </a:p>
        </p:txBody>
      </p:sp>
      <p:sp>
        <p:nvSpPr>
          <p:cNvPr id="163" name="Clashes · target access"/>
          <p:cNvSpPr txBox="1"/>
          <p:nvPr/>
        </p:nvSpPr>
        <p:spPr>
          <a:xfrm>
            <a:off x="6197600" y="59944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Clashes · target access</a:t>
            </a:r>
          </a:p>
        </p:txBody>
      </p:sp>
      <p:sp>
        <p:nvSpPr>
          <p:cNvPr id="164" name="Editable vector 164"/>
          <p:cNvSpPr/>
          <p:nvPr/>
        </p:nvSpPr>
        <p:spPr>
          <a:xfrm>
            <a:off x="4013200" y="4612640"/>
            <a:ext cx="314960" cy="670560"/>
          </a:xfrm>
          <a:custGeom>
            <a:avLst/>
            <a:gdLst/>
            <a:ahLst/>
            <a:cxnLst/>
            <a:rect l="0" t="0" r="r" b="b"/>
            <a:pathLst>
              <a:path w="314960" h="670560" fill="none">
                <a:moveTo>
                  <a:pt x="0" y="0"/>
                </a:moveTo>
                <a:lnTo>
                  <a:pt x="0" y="543560"/>
                </a:lnTo>
                <a:lnTo>
                  <a:pt x="50800" y="670560"/>
                </a:lnTo>
                <a:lnTo>
                  <a:pt x="264160" y="670560"/>
                </a:lnTo>
                <a:lnTo>
                  <a:pt x="314960" y="543560"/>
                </a:lnTo>
                <a:lnTo>
                  <a:pt x="31496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165" name="Editable shape 165"/>
          <p:cNvSpPr/>
          <p:nvPr/>
        </p:nvSpPr>
        <p:spPr>
          <a:xfrm>
            <a:off x="3987800" y="4546600"/>
            <a:ext cx="365760" cy="86360"/>
          </a:xfrm>
          <a:prstGeom prst="rect">
            <a:avLst/>
          </a:prstGeom>
          <a:solidFill>
            <a:srgbClr val="BFCAD3"/>
          </a:solidFill>
          <a:ln>
            <a:noFill/>
          </a:ln>
        </p:spPr>
      </p:sp>
      <p:sp>
        <p:nvSpPr>
          <p:cNvPr id="166" name="Editable shape 166"/>
          <p:cNvSpPr/>
          <p:nvPr/>
        </p:nvSpPr>
        <p:spPr>
          <a:xfrm>
            <a:off x="4048760" y="4932680"/>
            <a:ext cx="243840" cy="213360"/>
          </a:xfrm>
          <a:prstGeom prst="rect">
            <a:avLst/>
          </a:prstGeom>
          <a:solidFill>
            <a:srgbClr val="E8F4F0"/>
          </a:solidFill>
          <a:ln>
            <a:noFill/>
          </a:ln>
        </p:spPr>
      </p:sp>
      <p:sp>
        <p:nvSpPr>
          <p:cNvPr id="167" name="Editable vector 167"/>
          <p:cNvSpPr/>
          <p:nvPr/>
        </p:nvSpPr>
        <p:spPr>
          <a:xfrm>
            <a:off x="4048760" y="4932680"/>
            <a:ext cx="243840" cy="5080"/>
          </a:xfrm>
          <a:custGeom>
            <a:avLst/>
            <a:gdLst/>
            <a:ahLst/>
            <a:cxnLst/>
            <a:rect l="0" t="0" r="r" b="b"/>
            <a:pathLst>
              <a:path w="243840" h="5080" fill="none">
                <a:moveTo>
                  <a:pt x="0" y="0"/>
                </a:moveTo>
                <a:lnTo>
                  <a:pt x="243840" y="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168" name="Editable vector 168"/>
          <p:cNvSpPr/>
          <p:nvPr/>
        </p:nvSpPr>
        <p:spPr>
          <a:xfrm>
            <a:off x="4622800" y="4775200"/>
            <a:ext cx="863600" cy="508000"/>
          </a:xfrm>
          <a:custGeom>
            <a:avLst/>
            <a:gdLst/>
            <a:ahLst/>
            <a:cxnLst/>
            <a:rect l="0" t="0" r="r" b="b"/>
            <a:pathLst>
              <a:path w="863600" h="508000" fill="none">
                <a:moveTo>
                  <a:pt x="0" y="0"/>
                </a:moveTo>
                <a:lnTo>
                  <a:pt x="0" y="508000"/>
                </a:lnTo>
                <a:lnTo>
                  <a:pt x="863600" y="5080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69" name="Editable vector 169"/>
          <p:cNvSpPr/>
          <p:nvPr/>
        </p:nvSpPr>
        <p:spPr>
          <a:xfrm>
            <a:off x="4622800" y="4826000"/>
            <a:ext cx="863600" cy="457199"/>
          </a:xfrm>
          <a:custGeom>
            <a:avLst/>
            <a:gdLst/>
            <a:ahLst/>
            <a:cxnLst/>
            <a:rect l="0" t="0" r="r" b="b"/>
            <a:pathLst>
              <a:path w="863600" h="457199" fill="none">
                <a:moveTo>
                  <a:pt x="0" y="457199"/>
                </a:moveTo>
                <a:lnTo>
                  <a:pt x="12337" y="457199"/>
                </a:lnTo>
                <a:lnTo>
                  <a:pt x="24674" y="457199"/>
                </a:lnTo>
                <a:lnTo>
                  <a:pt x="37011" y="457199"/>
                </a:lnTo>
                <a:lnTo>
                  <a:pt x="49348" y="457199"/>
                </a:lnTo>
                <a:lnTo>
                  <a:pt x="61685" y="457199"/>
                </a:lnTo>
                <a:lnTo>
                  <a:pt x="74022" y="457197"/>
                </a:lnTo>
                <a:lnTo>
                  <a:pt x="86360" y="457194"/>
                </a:lnTo>
                <a:lnTo>
                  <a:pt x="98697" y="457188"/>
                </a:lnTo>
                <a:lnTo>
                  <a:pt x="111034" y="457173"/>
                </a:lnTo>
                <a:lnTo>
                  <a:pt x="123371" y="457143"/>
                </a:lnTo>
                <a:lnTo>
                  <a:pt x="135708" y="457082"/>
                </a:lnTo>
                <a:lnTo>
                  <a:pt x="148045" y="456962"/>
                </a:lnTo>
                <a:lnTo>
                  <a:pt x="160382" y="456734"/>
                </a:lnTo>
                <a:lnTo>
                  <a:pt x="172720" y="456317"/>
                </a:lnTo>
                <a:lnTo>
                  <a:pt x="185057" y="455576"/>
                </a:lnTo>
                <a:lnTo>
                  <a:pt x="197394" y="454306"/>
                </a:lnTo>
                <a:lnTo>
                  <a:pt x="209731" y="452199"/>
                </a:lnTo>
                <a:lnTo>
                  <a:pt x="222068" y="448826"/>
                </a:lnTo>
                <a:lnTo>
                  <a:pt x="234405" y="443607"/>
                </a:lnTo>
                <a:lnTo>
                  <a:pt x="246742" y="435816"/>
                </a:lnTo>
                <a:lnTo>
                  <a:pt x="259080" y="424594"/>
                </a:lnTo>
                <a:lnTo>
                  <a:pt x="271417" y="409011"/>
                </a:lnTo>
                <a:lnTo>
                  <a:pt x="283754" y="388173"/>
                </a:lnTo>
                <a:lnTo>
                  <a:pt x="296091" y="361365"/>
                </a:lnTo>
                <a:lnTo>
                  <a:pt x="308428" y="328240"/>
                </a:lnTo>
                <a:lnTo>
                  <a:pt x="320765" y="289005"/>
                </a:lnTo>
                <a:lnTo>
                  <a:pt x="333102" y="244582"/>
                </a:lnTo>
                <a:lnTo>
                  <a:pt x="345440" y="196695"/>
                </a:lnTo>
                <a:lnTo>
                  <a:pt x="357777" y="147843"/>
                </a:lnTo>
                <a:lnTo>
                  <a:pt x="370114" y="101132"/>
                </a:lnTo>
                <a:lnTo>
                  <a:pt x="382451" y="59977"/>
                </a:lnTo>
                <a:lnTo>
                  <a:pt x="394788" y="27700"/>
                </a:lnTo>
                <a:lnTo>
                  <a:pt x="407125" y="7088"/>
                </a:lnTo>
                <a:lnTo>
                  <a:pt x="419462" y="0"/>
                </a:lnTo>
                <a:lnTo>
                  <a:pt x="431800" y="7088"/>
                </a:lnTo>
                <a:lnTo>
                  <a:pt x="444137" y="27700"/>
                </a:lnTo>
                <a:lnTo>
                  <a:pt x="456474" y="59977"/>
                </a:lnTo>
                <a:lnTo>
                  <a:pt x="468811" y="101132"/>
                </a:lnTo>
                <a:lnTo>
                  <a:pt x="481148" y="147843"/>
                </a:lnTo>
                <a:lnTo>
                  <a:pt x="493485" y="196695"/>
                </a:lnTo>
                <a:lnTo>
                  <a:pt x="505822" y="244582"/>
                </a:lnTo>
                <a:lnTo>
                  <a:pt x="518160" y="289005"/>
                </a:lnTo>
                <a:lnTo>
                  <a:pt x="530497" y="328240"/>
                </a:lnTo>
                <a:lnTo>
                  <a:pt x="542834" y="361365"/>
                </a:lnTo>
                <a:lnTo>
                  <a:pt x="555171" y="388173"/>
                </a:lnTo>
                <a:lnTo>
                  <a:pt x="567508" y="409011"/>
                </a:lnTo>
                <a:lnTo>
                  <a:pt x="579845" y="424594"/>
                </a:lnTo>
                <a:lnTo>
                  <a:pt x="592182" y="435816"/>
                </a:lnTo>
                <a:lnTo>
                  <a:pt x="604520" y="443607"/>
                </a:lnTo>
                <a:lnTo>
                  <a:pt x="616857" y="448826"/>
                </a:lnTo>
                <a:lnTo>
                  <a:pt x="629194" y="452199"/>
                </a:lnTo>
                <a:lnTo>
                  <a:pt x="641531" y="454306"/>
                </a:lnTo>
                <a:lnTo>
                  <a:pt x="653868" y="455576"/>
                </a:lnTo>
                <a:lnTo>
                  <a:pt x="666205" y="456317"/>
                </a:lnTo>
                <a:lnTo>
                  <a:pt x="678542" y="456734"/>
                </a:lnTo>
                <a:lnTo>
                  <a:pt x="690880" y="456962"/>
                </a:lnTo>
                <a:lnTo>
                  <a:pt x="703217" y="457082"/>
                </a:lnTo>
                <a:lnTo>
                  <a:pt x="715554" y="457143"/>
                </a:lnTo>
                <a:lnTo>
                  <a:pt x="727891" y="457173"/>
                </a:lnTo>
                <a:lnTo>
                  <a:pt x="740228" y="457188"/>
                </a:lnTo>
                <a:lnTo>
                  <a:pt x="752565" y="457194"/>
                </a:lnTo>
                <a:lnTo>
                  <a:pt x="764902" y="457197"/>
                </a:lnTo>
                <a:lnTo>
                  <a:pt x="777240" y="457199"/>
                </a:lnTo>
                <a:lnTo>
                  <a:pt x="789577" y="457199"/>
                </a:lnTo>
                <a:lnTo>
                  <a:pt x="801914" y="457199"/>
                </a:lnTo>
                <a:lnTo>
                  <a:pt x="814251" y="457199"/>
                </a:lnTo>
                <a:lnTo>
                  <a:pt x="826588" y="457199"/>
                </a:lnTo>
                <a:lnTo>
                  <a:pt x="838925" y="457199"/>
                </a:lnTo>
                <a:lnTo>
                  <a:pt x="851262" y="457199"/>
                </a:lnTo>
                <a:lnTo>
                  <a:pt x="863600" y="457199"/>
                </a:lnTo>
              </a:path>
            </a:pathLst>
          </a:custGeom>
          <a:noFill/>
          <a:ln w="20320" cap="rnd">
            <a:solidFill>
              <a:srgbClr val="008577"/>
            </a:solidFill>
          </a:ln>
        </p:spPr>
      </p:sp>
      <p:sp>
        <p:nvSpPr>
          <p:cNvPr id="170" name="Expression · purification"/>
          <p:cNvSpPr txBox="1"/>
          <p:nvPr/>
        </p:nvSpPr>
        <p:spPr>
          <a:xfrm>
            <a:off x="3251200" y="57658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008577"/>
                </a:solidFill>
                <a:latin typeface="Arial"/>
              </a:rPr>
              <a:t>Expression · purification</a:t>
            </a:r>
          </a:p>
        </p:txBody>
      </p:sp>
      <p:sp>
        <p:nvSpPr>
          <p:cNvPr id="171" name="SEC–MALS · stability"/>
          <p:cNvSpPr txBox="1"/>
          <p:nvPr/>
        </p:nvSpPr>
        <p:spPr>
          <a:xfrm>
            <a:off x="3251200" y="59944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SEC–MALS · stability</a:t>
            </a:r>
          </a:p>
        </p:txBody>
      </p:sp>
      <p:sp>
        <p:nvSpPr>
          <p:cNvPr id="172" name="Editable shape 172"/>
          <p:cNvSpPr/>
          <p:nvPr/>
        </p:nvSpPr>
        <p:spPr>
          <a:xfrm>
            <a:off x="921308" y="4557572"/>
            <a:ext cx="212140" cy="212140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73" name="Editable shape 173"/>
          <p:cNvSpPr/>
          <p:nvPr/>
        </p:nvSpPr>
        <p:spPr>
          <a:xfrm>
            <a:off x="1045057" y="4531055"/>
            <a:ext cx="206247" cy="206247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74" name="Editable shape 174"/>
          <p:cNvSpPr/>
          <p:nvPr/>
        </p:nvSpPr>
        <p:spPr>
          <a:xfrm>
            <a:off x="1092200" y="4663643"/>
            <a:ext cx="176784" cy="176784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75" name="Editable shape 175"/>
          <p:cNvSpPr/>
          <p:nvPr/>
        </p:nvSpPr>
        <p:spPr>
          <a:xfrm>
            <a:off x="965504" y="4681321"/>
            <a:ext cx="206247" cy="206247"/>
          </a:xfrm>
          <a:prstGeom prst="ellipse">
            <a:avLst/>
          </a:prstGeom>
          <a:solidFill>
            <a:srgbClr val="E2EFF8"/>
          </a:solidFill>
          <a:ln>
            <a:noFill/>
          </a:ln>
        </p:spPr>
      </p:sp>
      <p:sp>
        <p:nvSpPr>
          <p:cNvPr id="176" name="Editable shape 176"/>
          <p:cNvSpPr/>
          <p:nvPr/>
        </p:nvSpPr>
        <p:spPr>
          <a:xfrm>
            <a:off x="1165860" y="4622393"/>
            <a:ext cx="76606" cy="7660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77" name="Editable shape 177"/>
          <p:cNvSpPr/>
          <p:nvPr/>
        </p:nvSpPr>
        <p:spPr>
          <a:xfrm>
            <a:off x="1810308" y="4557572"/>
            <a:ext cx="212140" cy="212140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78" name="Editable shape 178"/>
          <p:cNvSpPr/>
          <p:nvPr/>
        </p:nvSpPr>
        <p:spPr>
          <a:xfrm>
            <a:off x="1934057" y="4531055"/>
            <a:ext cx="206247" cy="206247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79" name="Editable shape 179"/>
          <p:cNvSpPr/>
          <p:nvPr/>
        </p:nvSpPr>
        <p:spPr>
          <a:xfrm>
            <a:off x="1981200" y="4663643"/>
            <a:ext cx="176784" cy="176784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80" name="Editable shape 180"/>
          <p:cNvSpPr/>
          <p:nvPr/>
        </p:nvSpPr>
        <p:spPr>
          <a:xfrm>
            <a:off x="1854504" y="4681321"/>
            <a:ext cx="206247" cy="206247"/>
          </a:xfrm>
          <a:prstGeom prst="ellipse">
            <a:avLst/>
          </a:prstGeom>
          <a:solidFill>
            <a:srgbClr val="EEE7F5"/>
          </a:solidFill>
          <a:ln>
            <a:noFill/>
          </a:ln>
        </p:spPr>
      </p:sp>
      <p:sp>
        <p:nvSpPr>
          <p:cNvPr id="181" name="Editable shape 181"/>
          <p:cNvSpPr/>
          <p:nvPr/>
        </p:nvSpPr>
        <p:spPr>
          <a:xfrm>
            <a:off x="1830933" y="4622393"/>
            <a:ext cx="76606" cy="76606"/>
          </a:xfrm>
          <a:prstGeom prst="ellipse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182" name="Editable vector 182"/>
          <p:cNvSpPr/>
          <p:nvPr/>
        </p:nvSpPr>
        <p:spPr>
          <a:xfrm>
            <a:off x="1296009" y="4789017"/>
            <a:ext cx="29224" cy="175564"/>
          </a:xfrm>
          <a:custGeom>
            <a:avLst/>
            <a:gdLst/>
            <a:ahLst/>
            <a:cxnLst/>
            <a:rect l="0" t="0" r="r" b="b"/>
            <a:pathLst>
              <a:path w="29224" h="175564" fill="none">
                <a:moveTo>
                  <a:pt x="14630" y="0"/>
                </a:moveTo>
                <a:lnTo>
                  <a:pt x="21644" y="4389"/>
                </a:lnTo>
                <a:lnTo>
                  <a:pt x="26941" y="8778"/>
                </a:lnTo>
                <a:lnTo>
                  <a:pt x="29224" y="13167"/>
                </a:lnTo>
                <a:lnTo>
                  <a:pt x="27933" y="17556"/>
                </a:lnTo>
                <a:lnTo>
                  <a:pt x="23386" y="21945"/>
                </a:lnTo>
                <a:lnTo>
                  <a:pt x="16694" y="26334"/>
                </a:lnTo>
                <a:lnTo>
                  <a:pt x="9498" y="30723"/>
                </a:lnTo>
                <a:lnTo>
                  <a:pt x="3557" y="35112"/>
                </a:lnTo>
                <a:lnTo>
                  <a:pt x="328" y="39502"/>
                </a:lnTo>
                <a:lnTo>
                  <a:pt x="600" y="43891"/>
                </a:lnTo>
                <a:lnTo>
                  <a:pt x="4307" y="48280"/>
                </a:lnTo>
                <a:lnTo>
                  <a:pt x="10542" y="52669"/>
                </a:lnTo>
                <a:lnTo>
                  <a:pt x="17777" y="57058"/>
                </a:lnTo>
                <a:lnTo>
                  <a:pt x="24242" y="61447"/>
                </a:lnTo>
                <a:lnTo>
                  <a:pt x="28353" y="65836"/>
                </a:lnTo>
                <a:lnTo>
                  <a:pt x="29104" y="70225"/>
                </a:lnTo>
                <a:lnTo>
                  <a:pt x="26312" y="74615"/>
                </a:lnTo>
                <a:lnTo>
                  <a:pt x="20659" y="79004"/>
                </a:lnTo>
                <a:lnTo>
                  <a:pt x="13530" y="83393"/>
                </a:lnTo>
                <a:lnTo>
                  <a:pt x="6671" y="87782"/>
                </a:lnTo>
                <a:lnTo>
                  <a:pt x="1759" y="92171"/>
                </a:lnTo>
                <a:lnTo>
                  <a:pt x="0" y="96560"/>
                </a:lnTo>
                <a:lnTo>
                  <a:pt x="1822" y="100949"/>
                </a:lnTo>
                <a:lnTo>
                  <a:pt x="6779" y="105338"/>
                </a:lnTo>
                <a:lnTo>
                  <a:pt x="13659" y="109728"/>
                </a:lnTo>
                <a:lnTo>
                  <a:pt x="20777" y="114117"/>
                </a:lnTo>
                <a:lnTo>
                  <a:pt x="26389" y="118506"/>
                </a:lnTo>
                <a:lnTo>
                  <a:pt x="29123" y="122895"/>
                </a:lnTo>
                <a:lnTo>
                  <a:pt x="28308" y="127284"/>
                </a:lnTo>
                <a:lnTo>
                  <a:pt x="24144" y="131673"/>
                </a:lnTo>
                <a:lnTo>
                  <a:pt x="17650" y="136062"/>
                </a:lnTo>
                <a:lnTo>
                  <a:pt x="10418" y="140451"/>
                </a:lnTo>
                <a:lnTo>
                  <a:pt x="4216" y="144840"/>
                </a:lnTo>
                <a:lnTo>
                  <a:pt x="564" y="149230"/>
                </a:lnTo>
                <a:lnTo>
                  <a:pt x="356" y="153619"/>
                </a:lnTo>
                <a:lnTo>
                  <a:pt x="3643" y="158008"/>
                </a:lnTo>
                <a:lnTo>
                  <a:pt x="9619" y="162397"/>
                </a:lnTo>
                <a:lnTo>
                  <a:pt x="16823" y="166786"/>
                </a:lnTo>
                <a:lnTo>
                  <a:pt x="23489" y="171175"/>
                </a:lnTo>
                <a:lnTo>
                  <a:pt x="27987" y="175564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183" name="Editable vector 183"/>
          <p:cNvSpPr/>
          <p:nvPr/>
        </p:nvSpPr>
        <p:spPr>
          <a:xfrm>
            <a:off x="1341729" y="4789017"/>
            <a:ext cx="29224" cy="175564"/>
          </a:xfrm>
          <a:custGeom>
            <a:avLst/>
            <a:gdLst/>
            <a:ahLst/>
            <a:cxnLst/>
            <a:rect l="0" t="0" r="r" b="b"/>
            <a:pathLst>
              <a:path w="29224" h="175564" fill="none">
                <a:moveTo>
                  <a:pt x="14630" y="175564"/>
                </a:moveTo>
                <a:lnTo>
                  <a:pt x="21644" y="171175"/>
                </a:lnTo>
                <a:lnTo>
                  <a:pt x="26941" y="166786"/>
                </a:lnTo>
                <a:lnTo>
                  <a:pt x="29224" y="162397"/>
                </a:lnTo>
                <a:lnTo>
                  <a:pt x="27933" y="158008"/>
                </a:lnTo>
                <a:lnTo>
                  <a:pt x="23386" y="153619"/>
                </a:lnTo>
                <a:lnTo>
                  <a:pt x="16694" y="149230"/>
                </a:lnTo>
                <a:lnTo>
                  <a:pt x="9498" y="144840"/>
                </a:lnTo>
                <a:lnTo>
                  <a:pt x="3557" y="140451"/>
                </a:lnTo>
                <a:lnTo>
                  <a:pt x="328" y="136062"/>
                </a:lnTo>
                <a:lnTo>
                  <a:pt x="600" y="131673"/>
                </a:lnTo>
                <a:lnTo>
                  <a:pt x="4307" y="127284"/>
                </a:lnTo>
                <a:lnTo>
                  <a:pt x="10542" y="122895"/>
                </a:lnTo>
                <a:lnTo>
                  <a:pt x="17777" y="118506"/>
                </a:lnTo>
                <a:lnTo>
                  <a:pt x="24242" y="114117"/>
                </a:lnTo>
                <a:lnTo>
                  <a:pt x="28353" y="109728"/>
                </a:lnTo>
                <a:lnTo>
                  <a:pt x="29104" y="105338"/>
                </a:lnTo>
                <a:lnTo>
                  <a:pt x="26312" y="100949"/>
                </a:lnTo>
                <a:lnTo>
                  <a:pt x="20659" y="96560"/>
                </a:lnTo>
                <a:lnTo>
                  <a:pt x="13530" y="92171"/>
                </a:lnTo>
                <a:lnTo>
                  <a:pt x="6671" y="87782"/>
                </a:lnTo>
                <a:lnTo>
                  <a:pt x="1759" y="83393"/>
                </a:lnTo>
                <a:lnTo>
                  <a:pt x="0" y="79004"/>
                </a:lnTo>
                <a:lnTo>
                  <a:pt x="1822" y="74615"/>
                </a:lnTo>
                <a:lnTo>
                  <a:pt x="6779" y="70225"/>
                </a:lnTo>
                <a:lnTo>
                  <a:pt x="13659" y="65836"/>
                </a:lnTo>
                <a:lnTo>
                  <a:pt x="20777" y="61447"/>
                </a:lnTo>
                <a:lnTo>
                  <a:pt x="26389" y="57058"/>
                </a:lnTo>
                <a:lnTo>
                  <a:pt x="29123" y="52669"/>
                </a:lnTo>
                <a:lnTo>
                  <a:pt x="28308" y="48280"/>
                </a:lnTo>
                <a:lnTo>
                  <a:pt x="24144" y="43891"/>
                </a:lnTo>
                <a:lnTo>
                  <a:pt x="17650" y="39502"/>
                </a:lnTo>
                <a:lnTo>
                  <a:pt x="10418" y="35112"/>
                </a:lnTo>
                <a:lnTo>
                  <a:pt x="4216" y="30723"/>
                </a:lnTo>
                <a:lnTo>
                  <a:pt x="564" y="26334"/>
                </a:lnTo>
                <a:lnTo>
                  <a:pt x="356" y="21945"/>
                </a:lnTo>
                <a:lnTo>
                  <a:pt x="3643" y="17556"/>
                </a:lnTo>
                <a:lnTo>
                  <a:pt x="9619" y="13167"/>
                </a:lnTo>
                <a:lnTo>
                  <a:pt x="16823" y="8778"/>
                </a:lnTo>
                <a:lnTo>
                  <a:pt x="23489" y="4389"/>
                </a:lnTo>
                <a:lnTo>
                  <a:pt x="27987" y="0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184" name="Editable vector 184"/>
          <p:cNvSpPr/>
          <p:nvPr/>
        </p:nvSpPr>
        <p:spPr>
          <a:xfrm>
            <a:off x="1387449" y="4789017"/>
            <a:ext cx="29224" cy="175564"/>
          </a:xfrm>
          <a:custGeom>
            <a:avLst/>
            <a:gdLst/>
            <a:ahLst/>
            <a:cxnLst/>
            <a:rect l="0" t="0" r="r" b="b"/>
            <a:pathLst>
              <a:path w="29224" h="175564" fill="none">
                <a:moveTo>
                  <a:pt x="14630" y="0"/>
                </a:moveTo>
                <a:lnTo>
                  <a:pt x="21644" y="4389"/>
                </a:lnTo>
                <a:lnTo>
                  <a:pt x="26941" y="8778"/>
                </a:lnTo>
                <a:lnTo>
                  <a:pt x="29224" y="13167"/>
                </a:lnTo>
                <a:lnTo>
                  <a:pt x="27933" y="17556"/>
                </a:lnTo>
                <a:lnTo>
                  <a:pt x="23386" y="21945"/>
                </a:lnTo>
                <a:lnTo>
                  <a:pt x="16694" y="26334"/>
                </a:lnTo>
                <a:lnTo>
                  <a:pt x="9498" y="30723"/>
                </a:lnTo>
                <a:lnTo>
                  <a:pt x="3557" y="35112"/>
                </a:lnTo>
                <a:lnTo>
                  <a:pt x="328" y="39502"/>
                </a:lnTo>
                <a:lnTo>
                  <a:pt x="600" y="43891"/>
                </a:lnTo>
                <a:lnTo>
                  <a:pt x="4307" y="48280"/>
                </a:lnTo>
                <a:lnTo>
                  <a:pt x="10542" y="52669"/>
                </a:lnTo>
                <a:lnTo>
                  <a:pt x="17777" y="57058"/>
                </a:lnTo>
                <a:lnTo>
                  <a:pt x="24242" y="61447"/>
                </a:lnTo>
                <a:lnTo>
                  <a:pt x="28353" y="65836"/>
                </a:lnTo>
                <a:lnTo>
                  <a:pt x="29104" y="70225"/>
                </a:lnTo>
                <a:lnTo>
                  <a:pt x="26312" y="74615"/>
                </a:lnTo>
                <a:lnTo>
                  <a:pt x="20659" y="79004"/>
                </a:lnTo>
                <a:lnTo>
                  <a:pt x="13530" y="83393"/>
                </a:lnTo>
                <a:lnTo>
                  <a:pt x="6671" y="87782"/>
                </a:lnTo>
                <a:lnTo>
                  <a:pt x="1759" y="92171"/>
                </a:lnTo>
                <a:lnTo>
                  <a:pt x="0" y="96560"/>
                </a:lnTo>
                <a:lnTo>
                  <a:pt x="1822" y="100949"/>
                </a:lnTo>
                <a:lnTo>
                  <a:pt x="6779" y="105338"/>
                </a:lnTo>
                <a:lnTo>
                  <a:pt x="13659" y="109728"/>
                </a:lnTo>
                <a:lnTo>
                  <a:pt x="20777" y="114117"/>
                </a:lnTo>
                <a:lnTo>
                  <a:pt x="26389" y="118506"/>
                </a:lnTo>
                <a:lnTo>
                  <a:pt x="29123" y="122895"/>
                </a:lnTo>
                <a:lnTo>
                  <a:pt x="28308" y="127284"/>
                </a:lnTo>
                <a:lnTo>
                  <a:pt x="24144" y="131673"/>
                </a:lnTo>
                <a:lnTo>
                  <a:pt x="17650" y="136062"/>
                </a:lnTo>
                <a:lnTo>
                  <a:pt x="10418" y="140451"/>
                </a:lnTo>
                <a:lnTo>
                  <a:pt x="4216" y="144840"/>
                </a:lnTo>
                <a:lnTo>
                  <a:pt x="564" y="149230"/>
                </a:lnTo>
                <a:lnTo>
                  <a:pt x="356" y="153619"/>
                </a:lnTo>
                <a:lnTo>
                  <a:pt x="3643" y="158008"/>
                </a:lnTo>
                <a:lnTo>
                  <a:pt x="9619" y="162397"/>
                </a:lnTo>
                <a:lnTo>
                  <a:pt x="16823" y="166786"/>
                </a:lnTo>
                <a:lnTo>
                  <a:pt x="23489" y="171175"/>
                </a:lnTo>
                <a:lnTo>
                  <a:pt x="27987" y="175564"/>
                </a:lnTo>
              </a:path>
            </a:pathLst>
          </a:custGeom>
          <a:noFill/>
          <a:ln w="15240" cap="rnd">
            <a:solidFill>
              <a:srgbClr val="0072B2"/>
            </a:solidFill>
          </a:ln>
        </p:spPr>
      </p:sp>
      <p:sp>
        <p:nvSpPr>
          <p:cNvPr id="185" name="Editable vector 185"/>
          <p:cNvSpPr/>
          <p:nvPr/>
        </p:nvSpPr>
        <p:spPr>
          <a:xfrm>
            <a:off x="1310640" y="4964582"/>
            <a:ext cx="45720" cy="25603"/>
          </a:xfrm>
          <a:custGeom>
            <a:avLst/>
            <a:gdLst/>
            <a:ahLst/>
            <a:cxnLst/>
            <a:rect l="0" t="0" r="r" b="b"/>
            <a:pathLst>
              <a:path w="45720" h="25603" fill="none">
                <a:moveTo>
                  <a:pt x="0" y="0"/>
                </a:moveTo>
                <a:lnTo>
                  <a:pt x="21945" y="25603"/>
                </a:lnTo>
                <a:lnTo>
                  <a:pt x="4572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86" name="Editable vector 186"/>
          <p:cNvSpPr/>
          <p:nvPr/>
        </p:nvSpPr>
        <p:spPr>
          <a:xfrm>
            <a:off x="1356360" y="4763414"/>
            <a:ext cx="45720" cy="25603"/>
          </a:xfrm>
          <a:custGeom>
            <a:avLst/>
            <a:gdLst/>
            <a:ahLst/>
            <a:cxnLst/>
            <a:rect l="0" t="0" r="r" b="b"/>
            <a:pathLst>
              <a:path w="45720" h="25603" fill="none">
                <a:moveTo>
                  <a:pt x="0" y="25603"/>
                </a:moveTo>
                <a:lnTo>
                  <a:pt x="23774" y="0"/>
                </a:lnTo>
                <a:lnTo>
                  <a:pt x="45720" y="25603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187" name="Editable vector 187"/>
          <p:cNvSpPr/>
          <p:nvPr/>
        </p:nvSpPr>
        <p:spPr>
          <a:xfrm>
            <a:off x="1651609" y="4789017"/>
            <a:ext cx="29224" cy="175564"/>
          </a:xfrm>
          <a:custGeom>
            <a:avLst/>
            <a:gdLst/>
            <a:ahLst/>
            <a:cxnLst/>
            <a:rect l="0" t="0" r="r" b="b"/>
            <a:pathLst>
              <a:path w="29224" h="175564" fill="none">
                <a:moveTo>
                  <a:pt x="14630" y="0"/>
                </a:moveTo>
                <a:lnTo>
                  <a:pt x="21644" y="4389"/>
                </a:lnTo>
                <a:lnTo>
                  <a:pt x="26941" y="8778"/>
                </a:lnTo>
                <a:lnTo>
                  <a:pt x="29224" y="13167"/>
                </a:lnTo>
                <a:lnTo>
                  <a:pt x="27933" y="17556"/>
                </a:lnTo>
                <a:lnTo>
                  <a:pt x="23386" y="21945"/>
                </a:lnTo>
                <a:lnTo>
                  <a:pt x="16694" y="26334"/>
                </a:lnTo>
                <a:lnTo>
                  <a:pt x="9498" y="30723"/>
                </a:lnTo>
                <a:lnTo>
                  <a:pt x="3557" y="35112"/>
                </a:lnTo>
                <a:lnTo>
                  <a:pt x="328" y="39502"/>
                </a:lnTo>
                <a:lnTo>
                  <a:pt x="600" y="43891"/>
                </a:lnTo>
                <a:lnTo>
                  <a:pt x="4307" y="48280"/>
                </a:lnTo>
                <a:lnTo>
                  <a:pt x="10542" y="52669"/>
                </a:lnTo>
                <a:lnTo>
                  <a:pt x="17777" y="57058"/>
                </a:lnTo>
                <a:lnTo>
                  <a:pt x="24242" y="61447"/>
                </a:lnTo>
                <a:lnTo>
                  <a:pt x="28353" y="65836"/>
                </a:lnTo>
                <a:lnTo>
                  <a:pt x="29104" y="70225"/>
                </a:lnTo>
                <a:lnTo>
                  <a:pt x="26312" y="74615"/>
                </a:lnTo>
                <a:lnTo>
                  <a:pt x="20659" y="79004"/>
                </a:lnTo>
                <a:lnTo>
                  <a:pt x="13530" y="83393"/>
                </a:lnTo>
                <a:lnTo>
                  <a:pt x="6671" y="87782"/>
                </a:lnTo>
                <a:lnTo>
                  <a:pt x="1759" y="92171"/>
                </a:lnTo>
                <a:lnTo>
                  <a:pt x="0" y="96560"/>
                </a:lnTo>
                <a:lnTo>
                  <a:pt x="1822" y="100949"/>
                </a:lnTo>
                <a:lnTo>
                  <a:pt x="6779" y="105338"/>
                </a:lnTo>
                <a:lnTo>
                  <a:pt x="13659" y="109728"/>
                </a:lnTo>
                <a:lnTo>
                  <a:pt x="20777" y="114117"/>
                </a:lnTo>
                <a:lnTo>
                  <a:pt x="26389" y="118506"/>
                </a:lnTo>
                <a:lnTo>
                  <a:pt x="29123" y="122895"/>
                </a:lnTo>
                <a:lnTo>
                  <a:pt x="28308" y="127284"/>
                </a:lnTo>
                <a:lnTo>
                  <a:pt x="24144" y="131673"/>
                </a:lnTo>
                <a:lnTo>
                  <a:pt x="17650" y="136062"/>
                </a:lnTo>
                <a:lnTo>
                  <a:pt x="10418" y="140451"/>
                </a:lnTo>
                <a:lnTo>
                  <a:pt x="4216" y="144840"/>
                </a:lnTo>
                <a:lnTo>
                  <a:pt x="564" y="149230"/>
                </a:lnTo>
                <a:lnTo>
                  <a:pt x="356" y="153619"/>
                </a:lnTo>
                <a:lnTo>
                  <a:pt x="3643" y="158008"/>
                </a:lnTo>
                <a:lnTo>
                  <a:pt x="9619" y="162397"/>
                </a:lnTo>
                <a:lnTo>
                  <a:pt x="16823" y="166786"/>
                </a:lnTo>
                <a:lnTo>
                  <a:pt x="23489" y="171175"/>
                </a:lnTo>
                <a:lnTo>
                  <a:pt x="27987" y="175564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188" name="Editable vector 188"/>
          <p:cNvSpPr/>
          <p:nvPr/>
        </p:nvSpPr>
        <p:spPr>
          <a:xfrm>
            <a:off x="1697329" y="4789017"/>
            <a:ext cx="29224" cy="175564"/>
          </a:xfrm>
          <a:custGeom>
            <a:avLst/>
            <a:gdLst/>
            <a:ahLst/>
            <a:cxnLst/>
            <a:rect l="0" t="0" r="r" b="b"/>
            <a:pathLst>
              <a:path w="29224" h="175564" fill="none">
                <a:moveTo>
                  <a:pt x="14630" y="175564"/>
                </a:moveTo>
                <a:lnTo>
                  <a:pt x="21644" y="171175"/>
                </a:lnTo>
                <a:lnTo>
                  <a:pt x="26941" y="166786"/>
                </a:lnTo>
                <a:lnTo>
                  <a:pt x="29224" y="162397"/>
                </a:lnTo>
                <a:lnTo>
                  <a:pt x="27933" y="158008"/>
                </a:lnTo>
                <a:lnTo>
                  <a:pt x="23386" y="153619"/>
                </a:lnTo>
                <a:lnTo>
                  <a:pt x="16694" y="149230"/>
                </a:lnTo>
                <a:lnTo>
                  <a:pt x="9498" y="144840"/>
                </a:lnTo>
                <a:lnTo>
                  <a:pt x="3557" y="140451"/>
                </a:lnTo>
                <a:lnTo>
                  <a:pt x="328" y="136062"/>
                </a:lnTo>
                <a:lnTo>
                  <a:pt x="600" y="131673"/>
                </a:lnTo>
                <a:lnTo>
                  <a:pt x="4307" y="127284"/>
                </a:lnTo>
                <a:lnTo>
                  <a:pt x="10542" y="122895"/>
                </a:lnTo>
                <a:lnTo>
                  <a:pt x="17777" y="118506"/>
                </a:lnTo>
                <a:lnTo>
                  <a:pt x="24242" y="114117"/>
                </a:lnTo>
                <a:lnTo>
                  <a:pt x="28353" y="109728"/>
                </a:lnTo>
                <a:lnTo>
                  <a:pt x="29104" y="105338"/>
                </a:lnTo>
                <a:lnTo>
                  <a:pt x="26312" y="100949"/>
                </a:lnTo>
                <a:lnTo>
                  <a:pt x="20659" y="96560"/>
                </a:lnTo>
                <a:lnTo>
                  <a:pt x="13530" y="92171"/>
                </a:lnTo>
                <a:lnTo>
                  <a:pt x="6671" y="87782"/>
                </a:lnTo>
                <a:lnTo>
                  <a:pt x="1759" y="83393"/>
                </a:lnTo>
                <a:lnTo>
                  <a:pt x="0" y="79004"/>
                </a:lnTo>
                <a:lnTo>
                  <a:pt x="1822" y="74615"/>
                </a:lnTo>
                <a:lnTo>
                  <a:pt x="6779" y="70225"/>
                </a:lnTo>
                <a:lnTo>
                  <a:pt x="13659" y="65836"/>
                </a:lnTo>
                <a:lnTo>
                  <a:pt x="20777" y="61447"/>
                </a:lnTo>
                <a:lnTo>
                  <a:pt x="26389" y="57058"/>
                </a:lnTo>
                <a:lnTo>
                  <a:pt x="29123" y="52669"/>
                </a:lnTo>
                <a:lnTo>
                  <a:pt x="28308" y="48280"/>
                </a:lnTo>
                <a:lnTo>
                  <a:pt x="24144" y="43891"/>
                </a:lnTo>
                <a:lnTo>
                  <a:pt x="17650" y="39502"/>
                </a:lnTo>
                <a:lnTo>
                  <a:pt x="10418" y="35112"/>
                </a:lnTo>
                <a:lnTo>
                  <a:pt x="4216" y="30723"/>
                </a:lnTo>
                <a:lnTo>
                  <a:pt x="564" y="26334"/>
                </a:lnTo>
                <a:lnTo>
                  <a:pt x="356" y="21945"/>
                </a:lnTo>
                <a:lnTo>
                  <a:pt x="3643" y="17556"/>
                </a:lnTo>
                <a:lnTo>
                  <a:pt x="9619" y="13167"/>
                </a:lnTo>
                <a:lnTo>
                  <a:pt x="16823" y="8778"/>
                </a:lnTo>
                <a:lnTo>
                  <a:pt x="23489" y="4389"/>
                </a:lnTo>
                <a:lnTo>
                  <a:pt x="27987" y="0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189" name="Editable vector 189"/>
          <p:cNvSpPr/>
          <p:nvPr/>
        </p:nvSpPr>
        <p:spPr>
          <a:xfrm>
            <a:off x="1743049" y="4789017"/>
            <a:ext cx="29224" cy="175564"/>
          </a:xfrm>
          <a:custGeom>
            <a:avLst/>
            <a:gdLst/>
            <a:ahLst/>
            <a:cxnLst/>
            <a:rect l="0" t="0" r="r" b="b"/>
            <a:pathLst>
              <a:path w="29224" h="175564" fill="none">
                <a:moveTo>
                  <a:pt x="14630" y="0"/>
                </a:moveTo>
                <a:lnTo>
                  <a:pt x="21644" y="4389"/>
                </a:lnTo>
                <a:lnTo>
                  <a:pt x="26941" y="8778"/>
                </a:lnTo>
                <a:lnTo>
                  <a:pt x="29224" y="13167"/>
                </a:lnTo>
                <a:lnTo>
                  <a:pt x="27933" y="17556"/>
                </a:lnTo>
                <a:lnTo>
                  <a:pt x="23386" y="21945"/>
                </a:lnTo>
                <a:lnTo>
                  <a:pt x="16694" y="26334"/>
                </a:lnTo>
                <a:lnTo>
                  <a:pt x="9498" y="30723"/>
                </a:lnTo>
                <a:lnTo>
                  <a:pt x="3557" y="35112"/>
                </a:lnTo>
                <a:lnTo>
                  <a:pt x="328" y="39502"/>
                </a:lnTo>
                <a:lnTo>
                  <a:pt x="600" y="43891"/>
                </a:lnTo>
                <a:lnTo>
                  <a:pt x="4307" y="48280"/>
                </a:lnTo>
                <a:lnTo>
                  <a:pt x="10542" y="52669"/>
                </a:lnTo>
                <a:lnTo>
                  <a:pt x="17777" y="57058"/>
                </a:lnTo>
                <a:lnTo>
                  <a:pt x="24242" y="61447"/>
                </a:lnTo>
                <a:lnTo>
                  <a:pt x="28353" y="65836"/>
                </a:lnTo>
                <a:lnTo>
                  <a:pt x="29104" y="70225"/>
                </a:lnTo>
                <a:lnTo>
                  <a:pt x="26312" y="74615"/>
                </a:lnTo>
                <a:lnTo>
                  <a:pt x="20659" y="79004"/>
                </a:lnTo>
                <a:lnTo>
                  <a:pt x="13530" y="83393"/>
                </a:lnTo>
                <a:lnTo>
                  <a:pt x="6671" y="87782"/>
                </a:lnTo>
                <a:lnTo>
                  <a:pt x="1759" y="92171"/>
                </a:lnTo>
                <a:lnTo>
                  <a:pt x="0" y="96560"/>
                </a:lnTo>
                <a:lnTo>
                  <a:pt x="1822" y="100949"/>
                </a:lnTo>
                <a:lnTo>
                  <a:pt x="6779" y="105338"/>
                </a:lnTo>
                <a:lnTo>
                  <a:pt x="13659" y="109728"/>
                </a:lnTo>
                <a:lnTo>
                  <a:pt x="20777" y="114117"/>
                </a:lnTo>
                <a:lnTo>
                  <a:pt x="26389" y="118506"/>
                </a:lnTo>
                <a:lnTo>
                  <a:pt x="29123" y="122895"/>
                </a:lnTo>
                <a:lnTo>
                  <a:pt x="28308" y="127284"/>
                </a:lnTo>
                <a:lnTo>
                  <a:pt x="24144" y="131673"/>
                </a:lnTo>
                <a:lnTo>
                  <a:pt x="17650" y="136062"/>
                </a:lnTo>
                <a:lnTo>
                  <a:pt x="10418" y="140451"/>
                </a:lnTo>
                <a:lnTo>
                  <a:pt x="4216" y="144840"/>
                </a:lnTo>
                <a:lnTo>
                  <a:pt x="564" y="149230"/>
                </a:lnTo>
                <a:lnTo>
                  <a:pt x="356" y="153619"/>
                </a:lnTo>
                <a:lnTo>
                  <a:pt x="3643" y="158008"/>
                </a:lnTo>
                <a:lnTo>
                  <a:pt x="9619" y="162397"/>
                </a:lnTo>
                <a:lnTo>
                  <a:pt x="16823" y="166786"/>
                </a:lnTo>
                <a:lnTo>
                  <a:pt x="23489" y="171175"/>
                </a:lnTo>
                <a:lnTo>
                  <a:pt x="27987" y="175564"/>
                </a:lnTo>
              </a:path>
            </a:pathLst>
          </a:custGeom>
          <a:noFill/>
          <a:ln w="15240" cap="rnd">
            <a:solidFill>
              <a:srgbClr val="8056A8"/>
            </a:solidFill>
          </a:ln>
        </p:spPr>
      </p:sp>
      <p:sp>
        <p:nvSpPr>
          <p:cNvPr id="190" name="Editable vector 190"/>
          <p:cNvSpPr/>
          <p:nvPr/>
        </p:nvSpPr>
        <p:spPr>
          <a:xfrm>
            <a:off x="1666240" y="4964582"/>
            <a:ext cx="45720" cy="25603"/>
          </a:xfrm>
          <a:custGeom>
            <a:avLst/>
            <a:gdLst/>
            <a:ahLst/>
            <a:cxnLst/>
            <a:rect l="0" t="0" r="r" b="b"/>
            <a:pathLst>
              <a:path w="45720" h="25603" fill="none">
                <a:moveTo>
                  <a:pt x="0" y="0"/>
                </a:moveTo>
                <a:lnTo>
                  <a:pt x="21945" y="25603"/>
                </a:lnTo>
                <a:lnTo>
                  <a:pt x="45720" y="0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91" name="Editable vector 191"/>
          <p:cNvSpPr/>
          <p:nvPr/>
        </p:nvSpPr>
        <p:spPr>
          <a:xfrm>
            <a:off x="1711960" y="4763414"/>
            <a:ext cx="45720" cy="25603"/>
          </a:xfrm>
          <a:custGeom>
            <a:avLst/>
            <a:gdLst/>
            <a:ahLst/>
            <a:cxnLst/>
            <a:rect l="0" t="0" r="r" b="b"/>
            <a:pathLst>
              <a:path w="45720" h="25603" fill="none">
                <a:moveTo>
                  <a:pt x="0" y="25603"/>
                </a:moveTo>
                <a:lnTo>
                  <a:pt x="23774" y="0"/>
                </a:lnTo>
                <a:lnTo>
                  <a:pt x="45720" y="25603"/>
                </a:lnTo>
              </a:path>
            </a:pathLst>
          </a:custGeom>
          <a:noFill/>
          <a:ln w="20320" cap="rnd">
            <a:solidFill>
              <a:srgbClr val="8056A8"/>
            </a:solidFill>
          </a:ln>
        </p:spPr>
      </p:sp>
      <p:sp>
        <p:nvSpPr>
          <p:cNvPr id="192" name="Editable vector 192"/>
          <p:cNvSpPr/>
          <p:nvPr/>
        </p:nvSpPr>
        <p:spPr>
          <a:xfrm>
            <a:off x="1356360" y="4993640"/>
            <a:ext cx="355600" cy="76200"/>
          </a:xfrm>
          <a:custGeom>
            <a:avLst/>
            <a:gdLst/>
            <a:ahLst/>
            <a:cxnLst/>
            <a:rect l="0" t="0" r="r" b="b"/>
            <a:pathLst>
              <a:path w="355600" h="76200" fill="none">
                <a:moveTo>
                  <a:pt x="0" y="0"/>
                </a:moveTo>
                <a:lnTo>
                  <a:pt x="121920" y="76200"/>
                </a:lnTo>
                <a:lnTo>
                  <a:pt x="238760" y="35560"/>
                </a:lnTo>
                <a:lnTo>
                  <a:pt x="355600" y="0"/>
                </a:lnTo>
              </a:path>
            </a:pathLst>
          </a:custGeom>
          <a:noFill/>
          <a:ln w="15240" cap="rnd">
            <a:solidFill>
              <a:srgbClr val="617588"/>
            </a:solidFill>
          </a:ln>
        </p:spPr>
      </p:sp>
      <p:sp>
        <p:nvSpPr>
          <p:cNvPr id="193" name="Editable vector 193"/>
          <p:cNvSpPr/>
          <p:nvPr/>
        </p:nvSpPr>
        <p:spPr>
          <a:xfrm>
            <a:off x="1117600" y="5217160"/>
            <a:ext cx="812800" cy="330200"/>
          </a:xfrm>
          <a:custGeom>
            <a:avLst/>
            <a:gdLst/>
            <a:ahLst/>
            <a:cxnLst/>
            <a:rect l="0" t="0" r="r" b="b"/>
            <a:pathLst>
              <a:path w="812800" h="330200" fill="none">
                <a:moveTo>
                  <a:pt x="0" y="0"/>
                </a:moveTo>
                <a:lnTo>
                  <a:pt x="0" y="330200"/>
                </a:lnTo>
                <a:lnTo>
                  <a:pt x="812800" y="330200"/>
                </a:lnTo>
              </a:path>
            </a:pathLst>
          </a:custGeom>
          <a:noFill/>
          <a:ln w="10160" cap="rnd">
            <a:solidFill>
              <a:srgbClr val="617588"/>
            </a:solidFill>
          </a:ln>
        </p:spPr>
      </p:sp>
      <p:sp>
        <p:nvSpPr>
          <p:cNvPr id="194" name="Editable vector 194"/>
          <p:cNvSpPr/>
          <p:nvPr/>
        </p:nvSpPr>
        <p:spPr>
          <a:xfrm>
            <a:off x="1117600" y="5286134"/>
            <a:ext cx="812800" cy="261225"/>
          </a:xfrm>
          <a:custGeom>
            <a:avLst/>
            <a:gdLst/>
            <a:ahLst/>
            <a:cxnLst/>
            <a:rect l="0" t="0" r="r" b="b"/>
            <a:pathLst>
              <a:path w="812800" h="261225" fill="none">
                <a:moveTo>
                  <a:pt x="0" y="261225"/>
                </a:moveTo>
                <a:lnTo>
                  <a:pt x="11611" y="261225"/>
                </a:lnTo>
                <a:lnTo>
                  <a:pt x="23222" y="261225"/>
                </a:lnTo>
                <a:lnTo>
                  <a:pt x="34834" y="261225"/>
                </a:lnTo>
                <a:lnTo>
                  <a:pt x="46445" y="261225"/>
                </a:lnTo>
                <a:lnTo>
                  <a:pt x="58057" y="261225"/>
                </a:lnTo>
                <a:lnTo>
                  <a:pt x="69668" y="261225"/>
                </a:lnTo>
                <a:lnTo>
                  <a:pt x="81280" y="261225"/>
                </a:lnTo>
                <a:lnTo>
                  <a:pt x="92891" y="261225"/>
                </a:lnTo>
                <a:lnTo>
                  <a:pt x="104502" y="261225"/>
                </a:lnTo>
                <a:lnTo>
                  <a:pt x="116114" y="261225"/>
                </a:lnTo>
                <a:lnTo>
                  <a:pt x="127725" y="230185"/>
                </a:lnTo>
                <a:lnTo>
                  <a:pt x="139337" y="202793"/>
                </a:lnTo>
                <a:lnTo>
                  <a:pt x="150948" y="178619"/>
                </a:lnTo>
                <a:lnTo>
                  <a:pt x="162560" y="157286"/>
                </a:lnTo>
                <a:lnTo>
                  <a:pt x="174171" y="138460"/>
                </a:lnTo>
                <a:lnTo>
                  <a:pt x="185782" y="121845"/>
                </a:lnTo>
                <a:lnTo>
                  <a:pt x="197394" y="107183"/>
                </a:lnTo>
                <a:lnTo>
                  <a:pt x="209005" y="94244"/>
                </a:lnTo>
                <a:lnTo>
                  <a:pt x="220617" y="82825"/>
                </a:lnTo>
                <a:lnTo>
                  <a:pt x="232228" y="72748"/>
                </a:lnTo>
                <a:lnTo>
                  <a:pt x="243840" y="63855"/>
                </a:lnTo>
                <a:lnTo>
                  <a:pt x="255451" y="56007"/>
                </a:lnTo>
                <a:lnTo>
                  <a:pt x="267062" y="49081"/>
                </a:lnTo>
                <a:lnTo>
                  <a:pt x="278674" y="42969"/>
                </a:lnTo>
                <a:lnTo>
                  <a:pt x="290285" y="37575"/>
                </a:lnTo>
                <a:lnTo>
                  <a:pt x="301897" y="32815"/>
                </a:lnTo>
                <a:lnTo>
                  <a:pt x="313508" y="28614"/>
                </a:lnTo>
                <a:lnTo>
                  <a:pt x="325120" y="24907"/>
                </a:lnTo>
                <a:lnTo>
                  <a:pt x="336731" y="21636"/>
                </a:lnTo>
                <a:lnTo>
                  <a:pt x="348342" y="18749"/>
                </a:lnTo>
                <a:lnTo>
                  <a:pt x="359954" y="16201"/>
                </a:lnTo>
                <a:lnTo>
                  <a:pt x="371565" y="13952"/>
                </a:lnTo>
                <a:lnTo>
                  <a:pt x="383177" y="11968"/>
                </a:lnTo>
                <a:lnTo>
                  <a:pt x="394788" y="10217"/>
                </a:lnTo>
                <a:lnTo>
                  <a:pt x="406400" y="8671"/>
                </a:lnTo>
                <a:lnTo>
                  <a:pt x="418011" y="7308"/>
                </a:lnTo>
                <a:lnTo>
                  <a:pt x="429622" y="6104"/>
                </a:lnTo>
                <a:lnTo>
                  <a:pt x="441234" y="5042"/>
                </a:lnTo>
                <a:lnTo>
                  <a:pt x="452845" y="4105"/>
                </a:lnTo>
                <a:lnTo>
                  <a:pt x="464457" y="3277"/>
                </a:lnTo>
                <a:lnTo>
                  <a:pt x="476068" y="2547"/>
                </a:lnTo>
                <a:lnTo>
                  <a:pt x="487680" y="1903"/>
                </a:lnTo>
                <a:lnTo>
                  <a:pt x="499291" y="1335"/>
                </a:lnTo>
                <a:lnTo>
                  <a:pt x="510902" y="833"/>
                </a:lnTo>
                <a:lnTo>
                  <a:pt x="522514" y="390"/>
                </a:lnTo>
                <a:lnTo>
                  <a:pt x="534125" y="0"/>
                </a:lnTo>
                <a:lnTo>
                  <a:pt x="545737" y="367"/>
                </a:lnTo>
                <a:lnTo>
                  <a:pt x="557348" y="4679"/>
                </a:lnTo>
                <a:lnTo>
                  <a:pt x="568960" y="8919"/>
                </a:lnTo>
                <a:lnTo>
                  <a:pt x="580571" y="13089"/>
                </a:lnTo>
                <a:lnTo>
                  <a:pt x="592182" y="17190"/>
                </a:lnTo>
                <a:lnTo>
                  <a:pt x="603794" y="21224"/>
                </a:lnTo>
                <a:lnTo>
                  <a:pt x="615405" y="25191"/>
                </a:lnTo>
                <a:lnTo>
                  <a:pt x="627017" y="29092"/>
                </a:lnTo>
                <a:lnTo>
                  <a:pt x="638628" y="32929"/>
                </a:lnTo>
                <a:lnTo>
                  <a:pt x="650240" y="36702"/>
                </a:lnTo>
                <a:lnTo>
                  <a:pt x="661851" y="40413"/>
                </a:lnTo>
                <a:lnTo>
                  <a:pt x="673462" y="44063"/>
                </a:lnTo>
                <a:lnTo>
                  <a:pt x="685074" y="47652"/>
                </a:lnTo>
                <a:lnTo>
                  <a:pt x="696685" y="51183"/>
                </a:lnTo>
                <a:lnTo>
                  <a:pt x="708297" y="54654"/>
                </a:lnTo>
                <a:lnTo>
                  <a:pt x="719908" y="58069"/>
                </a:lnTo>
                <a:lnTo>
                  <a:pt x="731520" y="61426"/>
                </a:lnTo>
                <a:lnTo>
                  <a:pt x="743131" y="64729"/>
                </a:lnTo>
                <a:lnTo>
                  <a:pt x="754742" y="67977"/>
                </a:lnTo>
                <a:lnTo>
                  <a:pt x="766354" y="71171"/>
                </a:lnTo>
                <a:lnTo>
                  <a:pt x="777965" y="74312"/>
                </a:lnTo>
                <a:lnTo>
                  <a:pt x="789577" y="77401"/>
                </a:lnTo>
                <a:lnTo>
                  <a:pt x="801188" y="80440"/>
                </a:lnTo>
                <a:lnTo>
                  <a:pt x="812800" y="83428"/>
                </a:lnTo>
              </a:path>
            </a:pathLst>
          </a:custGeom>
          <a:noFill/>
          <a:ln w="20320" cap="rnd">
            <a:solidFill>
              <a:srgbClr val="008577"/>
            </a:solidFill>
          </a:ln>
        </p:spPr>
      </p:sp>
      <p:sp>
        <p:nvSpPr>
          <p:cNvPr id="195" name="Editable shape 195"/>
          <p:cNvSpPr/>
          <p:nvPr/>
        </p:nvSpPr>
        <p:spPr>
          <a:xfrm>
            <a:off x="2133600" y="5019040"/>
            <a:ext cx="406400" cy="406400"/>
          </a:xfrm>
          <a:prstGeom prst="ellipse">
            <a:avLst/>
          </a:prstGeom>
          <a:solidFill>
            <a:srgbClr val="E8F4F0"/>
          </a:solidFill>
          <a:ln w="12700">
            <a:solidFill>
              <a:srgbClr val="008577"/>
            </a:solidFill>
          </a:ln>
        </p:spPr>
      </p:sp>
      <p:sp>
        <p:nvSpPr>
          <p:cNvPr id="196" name="Editable vector 196"/>
          <p:cNvSpPr/>
          <p:nvPr/>
        </p:nvSpPr>
        <p:spPr>
          <a:xfrm>
            <a:off x="2255520" y="5130800"/>
            <a:ext cx="193040" cy="157480"/>
          </a:xfrm>
          <a:custGeom>
            <a:avLst/>
            <a:gdLst/>
            <a:ahLst/>
            <a:cxnLst/>
            <a:rect l="0" t="0" r="r" b="b"/>
            <a:pathLst>
              <a:path w="193040" h="157480" fill="none">
                <a:moveTo>
                  <a:pt x="0" y="91440"/>
                </a:moveTo>
                <a:lnTo>
                  <a:pt x="66040" y="157480"/>
                </a:lnTo>
                <a:lnTo>
                  <a:pt x="193040" y="0"/>
                </a:lnTo>
              </a:path>
            </a:pathLst>
          </a:custGeom>
          <a:noFill/>
          <a:ln w="30480" cap="rnd">
            <a:solidFill>
              <a:srgbClr val="008577"/>
            </a:solidFill>
          </a:ln>
        </p:spPr>
      </p:sp>
      <p:sp>
        <p:nvSpPr>
          <p:cNvPr id="197" name="SPR / BLI · simultaneous binding"/>
          <p:cNvSpPr txBox="1"/>
          <p:nvPr/>
        </p:nvSpPr>
        <p:spPr>
          <a:xfrm>
            <a:off x="241300" y="5765800"/>
            <a:ext cx="2870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008577"/>
                </a:solidFill>
                <a:latin typeface="Arial"/>
              </a:rPr>
              <a:t>SPR / BLI · simultaneous binding</a:t>
            </a:r>
          </a:p>
        </p:txBody>
      </p:sp>
      <p:sp>
        <p:nvSpPr>
          <p:cNvPr id="198" name="Specificity · cellular function"/>
          <p:cNvSpPr txBox="1"/>
          <p:nvPr/>
        </p:nvSpPr>
        <p:spPr>
          <a:xfrm>
            <a:off x="304800" y="599440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0" lang="en-US">
                <a:solidFill>
                  <a:srgbClr val="617588"/>
                </a:solidFill>
                <a:latin typeface="Arial"/>
              </a:rPr>
              <a:t>Specificity · cellular function</a:t>
            </a:r>
          </a:p>
        </p:txBody>
      </p:sp>
      <p:sp>
        <p:nvSpPr>
          <p:cNvPr id="199" name="Editable vector 199"/>
          <p:cNvSpPr/>
          <p:nvPr/>
        </p:nvSpPr>
        <p:spPr>
          <a:xfrm>
            <a:off x="8712200" y="4988560"/>
            <a:ext cx="660400" cy="5080"/>
          </a:xfrm>
          <a:custGeom>
            <a:avLst/>
            <a:gdLst/>
            <a:ahLst/>
            <a:cxnLst/>
            <a:rect l="0" t="0" r="r" b="b"/>
            <a:pathLst>
              <a:path w="660400" h="5080" fill="none">
                <a:moveTo>
                  <a:pt x="660400" y="0"/>
                </a:move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200" name="Editable vector 200"/>
          <p:cNvSpPr/>
          <p:nvPr/>
        </p:nvSpPr>
        <p:spPr>
          <a:xfrm>
            <a:off x="8712200" y="494553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62890" y="0"/>
                </a:moveTo>
                <a:lnTo>
                  <a:pt x="0" y="43025"/>
                </a:lnTo>
                <a:lnTo>
                  <a:pt x="62890" y="86051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201" name="Editable vector 201"/>
          <p:cNvSpPr/>
          <p:nvPr/>
        </p:nvSpPr>
        <p:spPr>
          <a:xfrm>
            <a:off x="5765800" y="4988560"/>
            <a:ext cx="660400" cy="5080"/>
          </a:xfrm>
          <a:custGeom>
            <a:avLst/>
            <a:gdLst/>
            <a:ahLst/>
            <a:cxnLst/>
            <a:rect l="0" t="0" r="r" b="b"/>
            <a:pathLst>
              <a:path w="660400" h="5080" fill="none">
                <a:moveTo>
                  <a:pt x="660400" y="0"/>
                </a:move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202" name="Editable vector 202"/>
          <p:cNvSpPr/>
          <p:nvPr/>
        </p:nvSpPr>
        <p:spPr>
          <a:xfrm>
            <a:off x="5765800" y="494553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62890" y="0"/>
                </a:moveTo>
                <a:lnTo>
                  <a:pt x="0" y="43025"/>
                </a:lnTo>
                <a:lnTo>
                  <a:pt x="62890" y="86051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203" name="Editable vector 203"/>
          <p:cNvSpPr/>
          <p:nvPr/>
        </p:nvSpPr>
        <p:spPr>
          <a:xfrm>
            <a:off x="2819400" y="4988560"/>
            <a:ext cx="660400" cy="5080"/>
          </a:xfrm>
          <a:custGeom>
            <a:avLst/>
            <a:gdLst/>
            <a:ahLst/>
            <a:cxnLst/>
            <a:rect l="0" t="0" r="r" b="b"/>
            <a:pathLst>
              <a:path w="660400" h="5080" fill="none">
                <a:moveTo>
                  <a:pt x="660400" y="0"/>
                </a:move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204" name="Editable vector 204"/>
          <p:cNvSpPr/>
          <p:nvPr/>
        </p:nvSpPr>
        <p:spPr>
          <a:xfrm>
            <a:off x="2819400" y="494553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62890" y="0"/>
                </a:moveTo>
                <a:lnTo>
                  <a:pt x="0" y="43025"/>
                </a:lnTo>
                <a:lnTo>
                  <a:pt x="62890" y="86051"/>
                </a:lnTo>
              </a:path>
            </a:pathLst>
          </a:custGeom>
          <a:noFill/>
          <a:ln w="20320" cap="rnd">
            <a:solidFill>
              <a:srgbClr val="617588"/>
            </a:solidFill>
          </a:ln>
        </p:spPr>
      </p:sp>
      <p:sp>
        <p:nvSpPr>
          <p:cNvPr id="205" name="Editable vector 205"/>
          <p:cNvSpPr/>
          <p:nvPr/>
        </p:nvSpPr>
        <p:spPr>
          <a:xfrm>
            <a:off x="1676400" y="6223000"/>
            <a:ext cx="8839200" cy="203200"/>
          </a:xfrm>
          <a:custGeom>
            <a:avLst/>
            <a:gdLst/>
            <a:ahLst/>
            <a:cxnLst/>
            <a:rect l="0" t="0" r="r" b="b"/>
            <a:pathLst>
              <a:path w="8839200" h="203200" fill="none">
                <a:moveTo>
                  <a:pt x="0" y="0"/>
                </a:moveTo>
                <a:lnTo>
                  <a:pt x="0" y="203200"/>
                </a:lnTo>
                <a:lnTo>
                  <a:pt x="8839200" y="20320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206" name="Editable vector 206"/>
          <p:cNvSpPr/>
          <p:nvPr/>
        </p:nvSpPr>
        <p:spPr>
          <a:xfrm>
            <a:off x="10515600" y="6223000"/>
            <a:ext cx="5080" cy="203200"/>
          </a:xfrm>
          <a:custGeom>
            <a:avLst/>
            <a:gdLst/>
            <a:ahLst/>
            <a:cxnLst/>
            <a:rect l="0" t="0" r="r" b="b"/>
            <a:pathLst>
              <a:path w="5080" h="203200" fill="none">
                <a:moveTo>
                  <a:pt x="0" y="203200"/>
                </a:moveTo>
                <a:lnTo>
                  <a:pt x="0" y="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207" name="Editable vector 207"/>
          <p:cNvSpPr/>
          <p:nvPr/>
        </p:nvSpPr>
        <p:spPr>
          <a:xfrm>
            <a:off x="10472574" y="6223000"/>
            <a:ext cx="86051" cy="62890"/>
          </a:xfrm>
          <a:custGeom>
            <a:avLst/>
            <a:gdLst/>
            <a:ahLst/>
            <a:cxnLst/>
            <a:rect l="0" t="0" r="r" b="b"/>
            <a:pathLst>
              <a:path w="86051" h="62890" fill="none">
                <a:moveTo>
                  <a:pt x="86051" y="62890"/>
                </a:moveTo>
                <a:lnTo>
                  <a:pt x="43025" y="0"/>
                </a:lnTo>
                <a:lnTo>
                  <a:pt x="0" y="6289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208" name="Editable shape 208"/>
          <p:cNvSpPr/>
          <p:nvPr/>
        </p:nvSpPr>
        <p:spPr>
          <a:xfrm>
            <a:off x="4419600" y="6278880"/>
            <a:ext cx="33528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9" name="Assay-guided redesign"/>
          <p:cNvSpPr txBox="1"/>
          <p:nvPr/>
        </p:nvSpPr>
        <p:spPr>
          <a:xfrm>
            <a:off x="4445000" y="6309360"/>
            <a:ext cx="33020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8577"/>
                </a:solidFill>
                <a:latin typeface="Arial"/>
              </a:rPr>
              <a:t>Assay-guided redesign</a:t>
            </a:r>
          </a:p>
        </p:txBody>
      </p:sp>
      <p:sp>
        <p:nvSpPr>
          <p:cNvPr id="210" name="Conceptual schematics; curves illustrate assays, not measured results."/>
          <p:cNvSpPr txBox="1"/>
          <p:nvPr/>
        </p:nvSpPr>
        <p:spPr>
          <a:xfrm>
            <a:off x="396240" y="6619240"/>
            <a:ext cx="527304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617588"/>
                </a:solidFill>
                <a:latin typeface="Arial"/>
              </a:rPr>
              <a:t>Conceptual schematics; curves illustrate assays, not measured results.</a:t>
            </a:r>
          </a:p>
        </p:txBody>
      </p:sp>
      <p:sp>
        <p:nvSpPr>
          <p:cNvPr id="211" name="Green: experimental assessment"/>
          <p:cNvSpPr txBox="1"/>
          <p:nvPr/>
        </p:nvSpPr>
        <p:spPr>
          <a:xfrm>
            <a:off x="8102600" y="6619240"/>
            <a:ext cx="247904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20" b="0" lang="en-US">
                <a:solidFill>
                  <a:srgbClr val="008577"/>
                </a:solidFill>
                <a:latin typeface="Arial"/>
              </a:rPr>
              <a:t>Green: experimental assessment</a:t>
            </a:r>
          </a:p>
        </p:txBody>
      </p:sp>
    </p:spTree>
  </p:cSld>
  <p:clrMapOvr>
    <a:masterClrMapping/>
  </p:clrMapOvr>
</p:sld>
</file>