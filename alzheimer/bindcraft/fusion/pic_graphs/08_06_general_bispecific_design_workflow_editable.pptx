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tructure-guided design of bispecific proteins"/>
          <p:cNvSpPr txBox="1"/>
          <p:nvPr/>
        </p:nvSpPr>
        <p:spPr>
          <a:xfrm>
            <a:off x="355600" y="269240"/>
            <a:ext cx="6913880" cy="4724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2480" b="1" lang="en-US">
                <a:solidFill>
                  <a:srgbClr val="17324D"/>
                </a:solidFill>
                <a:latin typeface="Arial"/>
              </a:rPr>
              <a:t>Structure-guided design of bispecific proteins</a:t>
            </a:r>
          </a:p>
        </p:txBody>
      </p:sp>
      <p:sp>
        <p:nvSpPr>
          <p:cNvPr id="4" name="Target-specific arm discovery, format engineering and experimental validation"/>
          <p:cNvSpPr txBox="1"/>
          <p:nvPr/>
        </p:nvSpPr>
        <p:spPr>
          <a:xfrm>
            <a:off x="370840" y="685800"/>
            <a:ext cx="5689123" cy="2438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280" b="0" lang="en-US">
                <a:solidFill>
                  <a:srgbClr val="617588"/>
                </a:solidFill>
                <a:latin typeface="Arial"/>
              </a:rPr>
              <a:t>Target-specific arm discovery, format engineering and experimental validation</a:t>
            </a:r>
          </a:p>
        </p:txBody>
      </p:sp>
      <p:sp>
        <p:nvSpPr>
          <p:cNvPr id="5" name="Editable vector 5"/>
          <p:cNvSpPr/>
          <p:nvPr/>
        </p:nvSpPr>
        <p:spPr>
          <a:xfrm>
            <a:off x="355600" y="1051560"/>
            <a:ext cx="11480800" cy="5080"/>
          </a:xfrm>
          <a:custGeom>
            <a:avLst/>
            <a:gdLst/>
            <a:ahLst/>
            <a:cxnLst/>
            <a:rect l="0" t="0" r="r" b="b"/>
            <a:pathLst>
              <a:path w="11480800" h="5080" fill="none">
                <a:moveTo>
                  <a:pt x="0" y="0"/>
                </a:moveTo>
                <a:lnTo>
                  <a:pt x="11480800" y="0"/>
                </a:lnTo>
              </a:path>
            </a:pathLst>
          </a:custGeom>
          <a:noFill/>
          <a:ln w="10160" cap="rnd">
            <a:solidFill>
              <a:srgbClr val="E3EAF1"/>
            </a:solidFill>
          </a:ln>
        </p:spPr>
      </p:sp>
      <p:sp>
        <p:nvSpPr>
          <p:cNvPr id="6" name="A   TARGET-SPECIFIC ARM DISCOVERY"/>
          <p:cNvSpPr txBox="1"/>
          <p:nvPr/>
        </p:nvSpPr>
        <p:spPr>
          <a:xfrm>
            <a:off x="355600" y="1229360"/>
            <a:ext cx="2884884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60" b="1" lang="en-US">
                <a:solidFill>
                  <a:srgbClr val="0072B2"/>
                </a:solidFill>
                <a:latin typeface="Arial"/>
              </a:rPr>
              <a:t>A   TARGET-SPECIFIC ARM DISCOVERY</a:t>
            </a:r>
          </a:p>
        </p:txBody>
      </p:sp>
      <p:sp>
        <p:nvSpPr>
          <p:cNvPr id="7" name="Repeat independently for arm A and arm B"/>
          <p:cNvSpPr txBox="1"/>
          <p:nvPr/>
        </p:nvSpPr>
        <p:spPr>
          <a:xfrm>
            <a:off x="6858000" y="1239520"/>
            <a:ext cx="2788602" cy="213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20" b="0" lang="en-US">
                <a:solidFill>
                  <a:srgbClr val="617588"/>
                </a:solidFill>
                <a:latin typeface="Arial"/>
              </a:rPr>
              <a:t>Repeat independently for arm A and arm B</a:t>
            </a:r>
          </a:p>
        </p:txBody>
      </p:sp>
      <p:sp>
        <p:nvSpPr>
          <p:cNvPr id="8" name="Editable shape 8"/>
          <p:cNvSpPr/>
          <p:nvPr/>
        </p:nvSpPr>
        <p:spPr>
          <a:xfrm>
            <a:off x="355600" y="1625600"/>
            <a:ext cx="2717800" cy="167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1CD"/>
            </a:solidFill>
          </a:ln>
        </p:spPr>
      </p:sp>
      <p:sp>
        <p:nvSpPr>
          <p:cNvPr id="9" name="Editable shape 9"/>
          <p:cNvSpPr/>
          <p:nvPr/>
        </p:nvSpPr>
        <p:spPr>
          <a:xfrm>
            <a:off x="355600" y="1625600"/>
            <a:ext cx="2717800" cy="3048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0" name="1  Target definition"/>
          <p:cNvSpPr txBox="1"/>
          <p:nvPr/>
        </p:nvSpPr>
        <p:spPr>
          <a:xfrm>
            <a:off x="487680" y="1757680"/>
            <a:ext cx="2463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400" b="1" lang="en-US">
                <a:solidFill>
                  <a:srgbClr val="17324D"/>
                </a:solidFill>
                <a:latin typeface="Arial"/>
              </a:rPr>
              <a:t>1  Target definition</a:t>
            </a:r>
          </a:p>
        </p:txBody>
      </p:sp>
      <p:sp>
        <p:nvSpPr>
          <p:cNvPr id="11" name="Structure + epitope"/>
          <p:cNvSpPr txBox="1"/>
          <p:nvPr/>
        </p:nvSpPr>
        <p:spPr>
          <a:xfrm>
            <a:off x="487680" y="2260600"/>
            <a:ext cx="2463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360" b="0" lang="en-US">
                <a:solidFill>
                  <a:srgbClr val="17324D"/>
                </a:solidFill>
                <a:latin typeface="Arial"/>
              </a:rPr>
              <a:t>Structure + epitope</a:t>
            </a:r>
          </a:p>
        </p:txBody>
      </p:sp>
      <p:sp>
        <p:nvSpPr>
          <p:cNvPr id="12" name="Accessibility · native context"/>
          <p:cNvSpPr txBox="1"/>
          <p:nvPr/>
        </p:nvSpPr>
        <p:spPr>
          <a:xfrm>
            <a:off x="487680" y="2555240"/>
            <a:ext cx="246380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60" b="0" lang="en-US">
                <a:solidFill>
                  <a:srgbClr val="617588"/>
                </a:solidFill>
                <a:latin typeface="Arial"/>
              </a:rPr>
              <a:t>Accessibility · native context</a:t>
            </a:r>
          </a:p>
        </p:txBody>
      </p:sp>
      <p:sp>
        <p:nvSpPr>
          <p:cNvPr id="13" name="Counter-target panel"/>
          <p:cNvSpPr txBox="1"/>
          <p:nvPr/>
        </p:nvSpPr>
        <p:spPr>
          <a:xfrm>
            <a:off x="487680" y="282956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200" b="0" lang="en-US">
                <a:solidFill>
                  <a:srgbClr val="617588"/>
                </a:solidFill>
                <a:latin typeface="Arial"/>
              </a:rPr>
              <a:t>Counter-target panel</a:t>
            </a:r>
          </a:p>
        </p:txBody>
      </p:sp>
      <p:sp>
        <p:nvSpPr>
          <p:cNvPr id="14" name="Editable shape 14"/>
          <p:cNvSpPr/>
          <p:nvPr/>
        </p:nvSpPr>
        <p:spPr>
          <a:xfrm>
            <a:off x="3276600" y="1625600"/>
            <a:ext cx="2717800" cy="167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1CD"/>
            </a:solidFill>
          </a:ln>
        </p:spPr>
      </p:sp>
      <p:sp>
        <p:nvSpPr>
          <p:cNvPr id="15" name="Editable shape 15"/>
          <p:cNvSpPr/>
          <p:nvPr/>
        </p:nvSpPr>
        <p:spPr>
          <a:xfrm>
            <a:off x="3276600" y="1625600"/>
            <a:ext cx="2717800" cy="3048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6" name="2  Arm generation"/>
          <p:cNvSpPr txBox="1"/>
          <p:nvPr/>
        </p:nvSpPr>
        <p:spPr>
          <a:xfrm>
            <a:off x="3408680" y="1757680"/>
            <a:ext cx="2463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400" b="1" lang="en-US">
                <a:solidFill>
                  <a:srgbClr val="17324D"/>
                </a:solidFill>
                <a:latin typeface="Arial"/>
              </a:rPr>
              <a:t>2  Arm generation</a:t>
            </a:r>
          </a:p>
        </p:txBody>
      </p:sp>
      <p:sp>
        <p:nvSpPr>
          <p:cNvPr id="17" name="MINIPROTEIN"/>
          <p:cNvSpPr txBox="1"/>
          <p:nvPr/>
        </p:nvSpPr>
        <p:spPr>
          <a:xfrm>
            <a:off x="3408680" y="2087880"/>
            <a:ext cx="24638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920" b="1" lang="en-US">
                <a:solidFill>
                  <a:srgbClr val="0072B2"/>
                </a:solidFill>
                <a:latin typeface="Arial"/>
              </a:rPr>
              <a:t>MINIPROTEIN</a:t>
            </a:r>
          </a:p>
        </p:txBody>
      </p:sp>
      <p:sp>
        <p:nvSpPr>
          <p:cNvPr id="18" name="RFdiffusion → ProteinMPNN"/>
          <p:cNvSpPr txBox="1"/>
          <p:nvPr/>
        </p:nvSpPr>
        <p:spPr>
          <a:xfrm>
            <a:off x="3408680" y="227076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200" b="0" lang="en-US">
                <a:solidFill>
                  <a:srgbClr val="17324D"/>
                </a:solidFill>
                <a:latin typeface="Arial"/>
              </a:rPr>
              <a:t>RFdiffusion → ProteinMPNN</a:t>
            </a:r>
          </a:p>
        </p:txBody>
      </p:sp>
      <p:sp>
        <p:nvSpPr>
          <p:cNvPr id="19" name="or BindCraft"/>
          <p:cNvSpPr txBox="1"/>
          <p:nvPr/>
        </p:nvSpPr>
        <p:spPr>
          <a:xfrm>
            <a:off x="3408680" y="2479040"/>
            <a:ext cx="246380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60" b="0" lang="en-US">
                <a:solidFill>
                  <a:srgbClr val="617588"/>
                </a:solidFill>
                <a:latin typeface="Arial"/>
              </a:rPr>
              <a:t>or BindCraft</a:t>
            </a:r>
          </a:p>
        </p:txBody>
      </p:sp>
      <p:sp>
        <p:nvSpPr>
          <p:cNvPr id="20" name="ANTIBODY / VHH"/>
          <p:cNvSpPr txBox="1"/>
          <p:nvPr/>
        </p:nvSpPr>
        <p:spPr>
          <a:xfrm>
            <a:off x="3408680" y="2778760"/>
            <a:ext cx="2463800" cy="1752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920" b="1" lang="en-US">
                <a:solidFill>
                  <a:srgbClr val="0072B2"/>
                </a:solidFill>
                <a:latin typeface="Arial"/>
              </a:rPr>
              <a:t>ANTIBODY / VHH</a:t>
            </a:r>
          </a:p>
        </p:txBody>
      </p:sp>
      <p:sp>
        <p:nvSpPr>
          <p:cNvPr id="21" name="RFantibody¹"/>
          <p:cNvSpPr txBox="1"/>
          <p:nvPr/>
        </p:nvSpPr>
        <p:spPr>
          <a:xfrm>
            <a:off x="3408680" y="2971800"/>
            <a:ext cx="2463800" cy="2438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280" b="0" lang="en-US">
                <a:solidFill>
                  <a:srgbClr val="17324D"/>
                </a:solidFill>
                <a:latin typeface="Arial"/>
              </a:rPr>
              <a:t>RFantibody¹</a:t>
            </a:r>
          </a:p>
        </p:txBody>
      </p:sp>
      <p:sp>
        <p:nvSpPr>
          <p:cNvPr id="22" name="Editable vector 22"/>
          <p:cNvSpPr/>
          <p:nvPr/>
        </p:nvSpPr>
        <p:spPr>
          <a:xfrm>
            <a:off x="3403600" y="2702560"/>
            <a:ext cx="2463800" cy="5080"/>
          </a:xfrm>
          <a:custGeom>
            <a:avLst/>
            <a:gdLst/>
            <a:ahLst/>
            <a:cxnLst/>
            <a:rect l="0" t="0" r="r" b="b"/>
            <a:pathLst>
              <a:path w="2463800" h="5080" fill="none">
                <a:moveTo>
                  <a:pt x="0" y="0"/>
                </a:moveTo>
                <a:lnTo>
                  <a:pt x="2463800" y="0"/>
                </a:lnTo>
              </a:path>
            </a:pathLst>
          </a:custGeom>
          <a:noFill/>
          <a:ln w="10160" cap="rnd">
            <a:solidFill>
              <a:srgbClr val="E3EAF1"/>
            </a:solidFill>
          </a:ln>
        </p:spPr>
      </p:sp>
      <p:sp>
        <p:nvSpPr>
          <p:cNvPr id="23" name="Editable shape 23"/>
          <p:cNvSpPr/>
          <p:nvPr/>
        </p:nvSpPr>
        <p:spPr>
          <a:xfrm>
            <a:off x="6197600" y="1625600"/>
            <a:ext cx="2717800" cy="167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1CD"/>
            </a:solidFill>
          </a:ln>
        </p:spPr>
      </p:sp>
      <p:sp>
        <p:nvSpPr>
          <p:cNvPr id="24" name="Editable shape 24"/>
          <p:cNvSpPr/>
          <p:nvPr/>
        </p:nvSpPr>
        <p:spPr>
          <a:xfrm>
            <a:off x="6197600" y="1625600"/>
            <a:ext cx="2717800" cy="3048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5" name="3  Complex prediction"/>
          <p:cNvSpPr txBox="1"/>
          <p:nvPr/>
        </p:nvSpPr>
        <p:spPr>
          <a:xfrm>
            <a:off x="6329680" y="1757680"/>
            <a:ext cx="2463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400" b="1" lang="en-US">
                <a:solidFill>
                  <a:srgbClr val="17324D"/>
                </a:solidFill>
                <a:latin typeface="Arial"/>
              </a:rPr>
              <a:t>3  Complex prediction</a:t>
            </a:r>
          </a:p>
        </p:txBody>
      </p:sp>
      <p:sp>
        <p:nvSpPr>
          <p:cNvPr id="26" name="AlphaFold2-Multimer / AlphaFold3"/>
          <p:cNvSpPr txBox="1"/>
          <p:nvPr/>
        </p:nvSpPr>
        <p:spPr>
          <a:xfrm>
            <a:off x="6329680" y="2153920"/>
            <a:ext cx="246380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60" b="0" lang="en-US">
                <a:solidFill>
                  <a:srgbClr val="17324D"/>
                </a:solidFill>
                <a:latin typeface="Arial"/>
              </a:rPr>
              <a:t>AlphaFold2-Multimer / AlphaFold3</a:t>
            </a:r>
          </a:p>
        </p:txBody>
      </p:sp>
      <p:sp>
        <p:nvSpPr>
          <p:cNvPr id="27" name="Antibody-tuned RF2"/>
          <p:cNvSpPr txBox="1"/>
          <p:nvPr/>
        </p:nvSpPr>
        <p:spPr>
          <a:xfrm>
            <a:off x="6329680" y="242824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200" b="0" lang="en-US">
                <a:solidFill>
                  <a:srgbClr val="17324D"/>
                </a:solidFill>
                <a:latin typeface="Arial"/>
              </a:rPr>
              <a:t>Antibody-tuned RF2</a:t>
            </a:r>
          </a:p>
        </p:txBody>
      </p:sp>
      <p:sp>
        <p:nvSpPr>
          <p:cNvPr id="28" name="Fold · interface · epitope recovery"/>
          <p:cNvSpPr txBox="1"/>
          <p:nvPr/>
        </p:nvSpPr>
        <p:spPr>
          <a:xfrm>
            <a:off x="6329680" y="2814320"/>
            <a:ext cx="2463800" cy="213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20" b="0" lang="en-US">
                <a:solidFill>
                  <a:srgbClr val="617588"/>
                </a:solidFill>
                <a:latin typeface="Arial"/>
              </a:rPr>
              <a:t>Fold · interface · epitope recovery</a:t>
            </a:r>
          </a:p>
        </p:txBody>
      </p:sp>
      <p:sp>
        <p:nvSpPr>
          <p:cNvPr id="29" name="Editable shape 29"/>
          <p:cNvSpPr/>
          <p:nvPr/>
        </p:nvSpPr>
        <p:spPr>
          <a:xfrm>
            <a:off x="9118600" y="1625600"/>
            <a:ext cx="2717800" cy="167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1CD"/>
            </a:solidFill>
          </a:ln>
        </p:spPr>
      </p:sp>
      <p:sp>
        <p:nvSpPr>
          <p:cNvPr id="30" name="Editable shape 30"/>
          <p:cNvSpPr/>
          <p:nvPr/>
        </p:nvSpPr>
        <p:spPr>
          <a:xfrm>
            <a:off x="9118600" y="1625600"/>
            <a:ext cx="2717800" cy="3048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1" name="4  Arm selection"/>
          <p:cNvSpPr txBox="1"/>
          <p:nvPr/>
        </p:nvSpPr>
        <p:spPr>
          <a:xfrm>
            <a:off x="9250680" y="1757680"/>
            <a:ext cx="2463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400" b="1" lang="en-US">
                <a:solidFill>
                  <a:srgbClr val="17324D"/>
                </a:solidFill>
                <a:latin typeface="Arial"/>
              </a:rPr>
              <a:t>4  Arm selection</a:t>
            </a:r>
          </a:p>
        </p:txBody>
      </p:sp>
      <p:sp>
        <p:nvSpPr>
          <p:cNvPr id="32" name="Confidence + developability"/>
          <p:cNvSpPr txBox="1"/>
          <p:nvPr/>
        </p:nvSpPr>
        <p:spPr>
          <a:xfrm>
            <a:off x="9250680" y="2174240"/>
            <a:ext cx="246380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240" b="0" lang="en-US">
                <a:solidFill>
                  <a:srgbClr val="17324D"/>
                </a:solidFill>
                <a:latin typeface="Arial"/>
              </a:rPr>
              <a:t>Confidence + developability</a:t>
            </a:r>
          </a:p>
        </p:txBody>
      </p:sp>
      <p:sp>
        <p:nvSpPr>
          <p:cNvPr id="33" name="Selectivity controls"/>
          <p:cNvSpPr txBox="1"/>
          <p:nvPr/>
        </p:nvSpPr>
        <p:spPr>
          <a:xfrm>
            <a:off x="9250680" y="248920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200" b="0" lang="en-US">
                <a:solidFill>
                  <a:srgbClr val="617588"/>
                </a:solidFill>
                <a:latin typeface="Arial"/>
              </a:rPr>
              <a:t>Selectivity controls</a:t>
            </a:r>
          </a:p>
        </p:txBody>
      </p:sp>
      <p:sp>
        <p:nvSpPr>
          <p:cNvPr id="34" name="Sequence + scaffold diversity"/>
          <p:cNvSpPr txBox="1"/>
          <p:nvPr/>
        </p:nvSpPr>
        <p:spPr>
          <a:xfrm>
            <a:off x="9250680" y="2804160"/>
            <a:ext cx="246380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60" b="0" lang="en-US">
                <a:solidFill>
                  <a:srgbClr val="617588"/>
                </a:solidFill>
                <a:latin typeface="Arial"/>
              </a:rPr>
              <a:t>Sequence + scaffold diversity</a:t>
            </a:r>
          </a:p>
        </p:txBody>
      </p:sp>
      <p:sp>
        <p:nvSpPr>
          <p:cNvPr id="35" name="Editable vector 35"/>
          <p:cNvSpPr/>
          <p:nvPr/>
        </p:nvSpPr>
        <p:spPr>
          <a:xfrm>
            <a:off x="3114040" y="2463800"/>
            <a:ext cx="127000" cy="5080"/>
          </a:xfrm>
          <a:custGeom>
            <a:avLst/>
            <a:gdLst/>
            <a:ahLst/>
            <a:cxnLst/>
            <a:rect l="0" t="0" r="r" b="b"/>
            <a:pathLst>
              <a:path w="127000" h="5080" fill="none">
                <a:moveTo>
                  <a:pt x="0" y="0"/>
                </a:moveTo>
                <a:lnTo>
                  <a:pt x="12700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36" name="Editable vector 36"/>
          <p:cNvSpPr/>
          <p:nvPr/>
        </p:nvSpPr>
        <p:spPr>
          <a:xfrm>
            <a:off x="3178149" y="24207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37" name="Editable vector 37"/>
          <p:cNvSpPr/>
          <p:nvPr/>
        </p:nvSpPr>
        <p:spPr>
          <a:xfrm>
            <a:off x="6035040" y="2463800"/>
            <a:ext cx="127000" cy="5080"/>
          </a:xfrm>
          <a:custGeom>
            <a:avLst/>
            <a:gdLst/>
            <a:ahLst/>
            <a:cxnLst/>
            <a:rect l="0" t="0" r="r" b="b"/>
            <a:pathLst>
              <a:path w="127000" h="5080" fill="none">
                <a:moveTo>
                  <a:pt x="0" y="0"/>
                </a:moveTo>
                <a:lnTo>
                  <a:pt x="12700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38" name="Editable vector 38"/>
          <p:cNvSpPr/>
          <p:nvPr/>
        </p:nvSpPr>
        <p:spPr>
          <a:xfrm>
            <a:off x="6099149" y="24207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39" name="Editable vector 39"/>
          <p:cNvSpPr/>
          <p:nvPr/>
        </p:nvSpPr>
        <p:spPr>
          <a:xfrm>
            <a:off x="8956040" y="2463800"/>
            <a:ext cx="127000" cy="5080"/>
          </a:xfrm>
          <a:custGeom>
            <a:avLst/>
            <a:gdLst/>
            <a:ahLst/>
            <a:cxnLst/>
            <a:rect l="0" t="0" r="r" b="b"/>
            <a:pathLst>
              <a:path w="127000" h="5080" fill="none">
                <a:moveTo>
                  <a:pt x="0" y="0"/>
                </a:moveTo>
                <a:lnTo>
                  <a:pt x="12700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40" name="Editable vector 40"/>
          <p:cNvSpPr/>
          <p:nvPr/>
        </p:nvSpPr>
        <p:spPr>
          <a:xfrm>
            <a:off x="9020149" y="24207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41" name="Editable vector 41"/>
          <p:cNvSpPr/>
          <p:nvPr/>
        </p:nvSpPr>
        <p:spPr>
          <a:xfrm>
            <a:off x="2844800" y="3302000"/>
            <a:ext cx="7630160" cy="533400"/>
          </a:xfrm>
          <a:custGeom>
            <a:avLst/>
            <a:gdLst/>
            <a:ahLst/>
            <a:cxnLst/>
            <a:rect l="0" t="0" r="r" b="b"/>
            <a:pathLst>
              <a:path w="7630160" h="533400" fill="none">
                <a:moveTo>
                  <a:pt x="7630160" y="0"/>
                </a:moveTo>
                <a:lnTo>
                  <a:pt x="7630160" y="533400"/>
                </a:lnTo>
                <a:lnTo>
                  <a:pt x="0" y="53340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42" name="Editable vector 42"/>
          <p:cNvSpPr/>
          <p:nvPr/>
        </p:nvSpPr>
        <p:spPr>
          <a:xfrm>
            <a:off x="2844800" y="3835400"/>
            <a:ext cx="5080" cy="650240"/>
          </a:xfrm>
          <a:custGeom>
            <a:avLst/>
            <a:gdLst/>
            <a:ahLst/>
            <a:cxnLst/>
            <a:rect l="0" t="0" r="r" b="b"/>
            <a:pathLst>
              <a:path w="5080" h="650240" fill="none">
                <a:moveTo>
                  <a:pt x="0" y="0"/>
                </a:moveTo>
                <a:lnTo>
                  <a:pt x="0" y="65024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43" name="Editable vector 43"/>
          <p:cNvSpPr/>
          <p:nvPr/>
        </p:nvSpPr>
        <p:spPr>
          <a:xfrm>
            <a:off x="2801774" y="4422749"/>
            <a:ext cx="86051" cy="62890"/>
          </a:xfrm>
          <a:custGeom>
            <a:avLst/>
            <a:gdLst/>
            <a:ahLst/>
            <a:cxnLst/>
            <a:rect l="0" t="0" r="r" b="b"/>
            <a:pathLst>
              <a:path w="86051" h="62890" fill="none">
                <a:moveTo>
                  <a:pt x="0" y="0"/>
                </a:moveTo>
                <a:lnTo>
                  <a:pt x="43025" y="62890"/>
                </a:lnTo>
                <a:lnTo>
                  <a:pt x="86051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44" name="Editable shape 44"/>
          <p:cNvSpPr/>
          <p:nvPr/>
        </p:nvSpPr>
        <p:spPr>
          <a:xfrm>
            <a:off x="3606800" y="3672840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Selected arm A + arm B"/>
          <p:cNvSpPr txBox="1"/>
          <p:nvPr/>
        </p:nvSpPr>
        <p:spPr>
          <a:xfrm>
            <a:off x="3733800" y="3703320"/>
            <a:ext cx="4775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320" b="1" lang="en-US">
                <a:solidFill>
                  <a:srgbClr val="0072B2"/>
                </a:solidFill>
                <a:latin typeface="Arial"/>
              </a:rPr>
              <a:t>Selected arm A + arm B</a:t>
            </a:r>
          </a:p>
        </p:txBody>
      </p:sp>
      <p:sp>
        <p:nvSpPr>
          <p:cNvPr id="46" name="B   BISPECIFIC ENGINEERING"/>
          <p:cNvSpPr txBox="1"/>
          <p:nvPr/>
        </p:nvSpPr>
        <p:spPr>
          <a:xfrm>
            <a:off x="355600" y="4221480"/>
            <a:ext cx="216408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60" b="1" lang="en-US">
                <a:solidFill>
                  <a:srgbClr val="0072B2"/>
                </a:solidFill>
                <a:latin typeface="Arial"/>
              </a:rPr>
              <a:t>B   BISPECIFIC ENGINEERING</a:t>
            </a:r>
          </a:p>
        </p:txBody>
      </p:sp>
      <p:sp>
        <p:nvSpPr>
          <p:cNvPr id="47" name="C   EXPERIMENTAL VALIDATION"/>
          <p:cNvSpPr txBox="1"/>
          <p:nvPr/>
        </p:nvSpPr>
        <p:spPr>
          <a:xfrm>
            <a:off x="6197600" y="4221480"/>
            <a:ext cx="2361644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60" b="1" lang="en-US">
                <a:solidFill>
                  <a:srgbClr val="008577"/>
                </a:solidFill>
                <a:latin typeface="Arial"/>
              </a:rPr>
              <a:t>C   EXPERIMENTAL VALIDATION</a:t>
            </a:r>
          </a:p>
        </p:txBody>
      </p:sp>
      <p:sp>
        <p:nvSpPr>
          <p:cNvPr id="48" name="Editable shape 48"/>
          <p:cNvSpPr/>
          <p:nvPr/>
        </p:nvSpPr>
        <p:spPr>
          <a:xfrm>
            <a:off x="355600" y="4521200"/>
            <a:ext cx="2717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1CD"/>
            </a:solidFill>
          </a:ln>
        </p:spPr>
      </p:sp>
      <p:sp>
        <p:nvSpPr>
          <p:cNvPr id="49" name="Editable shape 49"/>
          <p:cNvSpPr/>
          <p:nvPr/>
        </p:nvSpPr>
        <p:spPr>
          <a:xfrm>
            <a:off x="355600" y="4521200"/>
            <a:ext cx="2717800" cy="3048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50" name="5  Bispecific assembly"/>
          <p:cNvSpPr txBox="1"/>
          <p:nvPr/>
        </p:nvSpPr>
        <p:spPr>
          <a:xfrm>
            <a:off x="487680" y="4653280"/>
            <a:ext cx="2463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400" b="1" lang="en-US">
                <a:solidFill>
                  <a:srgbClr val="17324D"/>
                </a:solidFill>
                <a:latin typeface="Arial"/>
              </a:rPr>
              <a:t>5  Bispecific assembly</a:t>
            </a:r>
          </a:p>
        </p:txBody>
      </p:sp>
      <p:sp>
        <p:nvSpPr>
          <p:cNvPr id="51" name="Arm pairs · linkers · domain order"/>
          <p:cNvSpPr txBox="1"/>
          <p:nvPr/>
        </p:nvSpPr>
        <p:spPr>
          <a:xfrm>
            <a:off x="487680" y="4993640"/>
            <a:ext cx="2463800" cy="213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20" b="0" lang="en-US">
                <a:solidFill>
                  <a:srgbClr val="17324D"/>
                </a:solidFill>
                <a:latin typeface="Arial"/>
              </a:rPr>
              <a:t>Arm pairs · linkers · domain order</a:t>
            </a:r>
          </a:p>
        </p:txBody>
      </p:sp>
      <p:sp>
        <p:nvSpPr>
          <p:cNvPr id="52" name="Valency · Fc / chain pairing"/>
          <p:cNvSpPr txBox="1"/>
          <p:nvPr/>
        </p:nvSpPr>
        <p:spPr>
          <a:xfrm>
            <a:off x="487680" y="5283200"/>
            <a:ext cx="246380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60" b="0" lang="en-US">
                <a:solidFill>
                  <a:srgbClr val="617588"/>
                </a:solidFill>
                <a:latin typeface="Arial"/>
              </a:rPr>
              <a:t>Valency · Fc / chain pairing</a:t>
            </a:r>
          </a:p>
        </p:txBody>
      </p:sp>
      <p:sp>
        <p:nvSpPr>
          <p:cNvPr id="53" name="Editable shape 53"/>
          <p:cNvSpPr/>
          <p:nvPr/>
        </p:nvSpPr>
        <p:spPr>
          <a:xfrm>
            <a:off x="3276600" y="4521200"/>
            <a:ext cx="2717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1CD"/>
            </a:solidFill>
          </a:ln>
        </p:spPr>
      </p:sp>
      <p:sp>
        <p:nvSpPr>
          <p:cNvPr id="54" name="Editable shape 54"/>
          <p:cNvSpPr/>
          <p:nvPr/>
        </p:nvSpPr>
        <p:spPr>
          <a:xfrm>
            <a:off x="3276600" y="4521200"/>
            <a:ext cx="2717800" cy="3048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55" name="6  Construct evaluation"/>
          <p:cNvSpPr txBox="1"/>
          <p:nvPr/>
        </p:nvSpPr>
        <p:spPr>
          <a:xfrm>
            <a:off x="3408680" y="4653280"/>
            <a:ext cx="2463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400" b="1" lang="en-US">
                <a:solidFill>
                  <a:srgbClr val="17324D"/>
                </a:solidFill>
                <a:latin typeface="Arial"/>
              </a:rPr>
              <a:t>6  Construct evaluation</a:t>
            </a:r>
          </a:p>
        </p:txBody>
      </p:sp>
      <p:sp>
        <p:nvSpPr>
          <p:cNvPr id="56" name="AlphaFold2 / AlphaFold3"/>
          <p:cNvSpPr txBox="1"/>
          <p:nvPr/>
        </p:nvSpPr>
        <p:spPr>
          <a:xfrm>
            <a:off x="3408680" y="4993640"/>
            <a:ext cx="246380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240" b="0" lang="en-US">
                <a:solidFill>
                  <a:srgbClr val="17324D"/>
                </a:solidFill>
                <a:latin typeface="Arial"/>
              </a:rPr>
              <a:t>AlphaFold2 / AlphaFold3</a:t>
            </a:r>
          </a:p>
        </p:txBody>
      </p:sp>
      <p:sp>
        <p:nvSpPr>
          <p:cNvPr id="57" name="Folds · accessibility · steric clashes"/>
          <p:cNvSpPr txBox="1"/>
          <p:nvPr/>
        </p:nvSpPr>
        <p:spPr>
          <a:xfrm>
            <a:off x="3408680" y="5283200"/>
            <a:ext cx="24638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080" b="0" lang="en-US">
                <a:solidFill>
                  <a:srgbClr val="617588"/>
                </a:solidFill>
                <a:latin typeface="Arial"/>
              </a:rPr>
              <a:t>Folds · accessibility · steric clashes</a:t>
            </a:r>
          </a:p>
        </p:txBody>
      </p:sp>
      <p:sp>
        <p:nvSpPr>
          <p:cNvPr id="58" name="Editable shape 58"/>
          <p:cNvSpPr/>
          <p:nvPr/>
        </p:nvSpPr>
        <p:spPr>
          <a:xfrm>
            <a:off x="6197600" y="4521200"/>
            <a:ext cx="2717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1CD"/>
            </a:solidFill>
          </a:ln>
        </p:spPr>
      </p:sp>
      <p:sp>
        <p:nvSpPr>
          <p:cNvPr id="59" name="Editable shape 59"/>
          <p:cNvSpPr/>
          <p:nvPr/>
        </p:nvSpPr>
        <p:spPr>
          <a:xfrm>
            <a:off x="6197600" y="4521200"/>
            <a:ext cx="2717800" cy="30480"/>
          </a:xfrm>
          <a:prstGeom prst="rect">
            <a:avLst/>
          </a:prstGeom>
          <a:solidFill>
            <a:srgbClr val="008577"/>
          </a:solidFill>
          <a:ln>
            <a:noFill/>
          </a:ln>
        </p:spPr>
      </p:sp>
      <p:sp>
        <p:nvSpPr>
          <p:cNvPr id="60" name="7  Expression &amp; QC"/>
          <p:cNvSpPr txBox="1"/>
          <p:nvPr/>
        </p:nvSpPr>
        <p:spPr>
          <a:xfrm>
            <a:off x="6329680" y="4653280"/>
            <a:ext cx="2463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400" b="1" lang="en-US">
                <a:solidFill>
                  <a:srgbClr val="17324D"/>
                </a:solidFill>
                <a:latin typeface="Arial"/>
              </a:rPr>
              <a:t>7  Expression &amp; QC</a:t>
            </a:r>
          </a:p>
        </p:txBody>
      </p:sp>
      <p:sp>
        <p:nvSpPr>
          <p:cNvPr id="61" name="Gene synthesis · production"/>
          <p:cNvSpPr txBox="1"/>
          <p:nvPr/>
        </p:nvSpPr>
        <p:spPr>
          <a:xfrm>
            <a:off x="6329680" y="4993640"/>
            <a:ext cx="2463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200" b="0" lang="en-US">
                <a:solidFill>
                  <a:srgbClr val="17324D"/>
                </a:solidFill>
                <a:latin typeface="Arial"/>
              </a:rPr>
              <a:t>Gene synthesis · production</a:t>
            </a:r>
          </a:p>
        </p:txBody>
      </p:sp>
      <p:sp>
        <p:nvSpPr>
          <p:cNvPr id="62" name="SEC–MALS · DSF"/>
          <p:cNvSpPr txBox="1"/>
          <p:nvPr/>
        </p:nvSpPr>
        <p:spPr>
          <a:xfrm>
            <a:off x="6329680" y="5283200"/>
            <a:ext cx="246380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240" b="0" lang="en-US">
                <a:solidFill>
                  <a:srgbClr val="617588"/>
                </a:solidFill>
                <a:latin typeface="Arial"/>
              </a:rPr>
              <a:t>SEC–MALS · DSF</a:t>
            </a:r>
          </a:p>
        </p:txBody>
      </p:sp>
      <p:sp>
        <p:nvSpPr>
          <p:cNvPr id="63" name="Editable shape 63"/>
          <p:cNvSpPr/>
          <p:nvPr/>
        </p:nvSpPr>
        <p:spPr>
          <a:xfrm>
            <a:off x="9118600" y="4521200"/>
            <a:ext cx="2717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1CD"/>
            </a:solidFill>
          </a:ln>
        </p:spPr>
      </p:sp>
      <p:sp>
        <p:nvSpPr>
          <p:cNvPr id="64" name="Editable shape 64"/>
          <p:cNvSpPr/>
          <p:nvPr/>
        </p:nvSpPr>
        <p:spPr>
          <a:xfrm>
            <a:off x="9118600" y="4521200"/>
            <a:ext cx="2717800" cy="30480"/>
          </a:xfrm>
          <a:prstGeom prst="rect">
            <a:avLst/>
          </a:prstGeom>
          <a:solidFill>
            <a:srgbClr val="008577"/>
          </a:solidFill>
          <a:ln>
            <a:noFill/>
          </a:ln>
        </p:spPr>
      </p:sp>
      <p:sp>
        <p:nvSpPr>
          <p:cNvPr id="65" name="8  Functional validation"/>
          <p:cNvSpPr txBox="1"/>
          <p:nvPr/>
        </p:nvSpPr>
        <p:spPr>
          <a:xfrm>
            <a:off x="9250680" y="4653280"/>
            <a:ext cx="2463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400" b="1" lang="en-US">
                <a:solidFill>
                  <a:srgbClr val="17324D"/>
                </a:solidFill>
                <a:latin typeface="Arial"/>
              </a:rPr>
              <a:t>8  Functional validation</a:t>
            </a:r>
          </a:p>
        </p:txBody>
      </p:sp>
      <p:sp>
        <p:nvSpPr>
          <p:cNvPr id="66" name="SPR / BLI · simultaneous binding"/>
          <p:cNvSpPr txBox="1"/>
          <p:nvPr/>
        </p:nvSpPr>
        <p:spPr>
          <a:xfrm>
            <a:off x="9250680" y="4993640"/>
            <a:ext cx="2463800" cy="213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20" b="0" lang="en-US">
                <a:solidFill>
                  <a:srgbClr val="17324D"/>
                </a:solidFill>
                <a:latin typeface="Arial"/>
              </a:rPr>
              <a:t>SPR / BLI · simultaneous binding</a:t>
            </a:r>
          </a:p>
        </p:txBody>
      </p:sp>
      <p:sp>
        <p:nvSpPr>
          <p:cNvPr id="67" name="Specificity · application assays"/>
          <p:cNvSpPr txBox="1"/>
          <p:nvPr/>
        </p:nvSpPr>
        <p:spPr>
          <a:xfrm>
            <a:off x="9250680" y="5283200"/>
            <a:ext cx="246380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160" b="0" lang="en-US">
                <a:solidFill>
                  <a:srgbClr val="617588"/>
                </a:solidFill>
                <a:latin typeface="Arial"/>
              </a:rPr>
              <a:t>Specificity · application assays</a:t>
            </a:r>
          </a:p>
        </p:txBody>
      </p:sp>
      <p:sp>
        <p:nvSpPr>
          <p:cNvPr id="68" name="Editable vector 68"/>
          <p:cNvSpPr/>
          <p:nvPr/>
        </p:nvSpPr>
        <p:spPr>
          <a:xfrm>
            <a:off x="3114040" y="5130800"/>
            <a:ext cx="127000" cy="5080"/>
          </a:xfrm>
          <a:custGeom>
            <a:avLst/>
            <a:gdLst/>
            <a:ahLst/>
            <a:cxnLst/>
            <a:rect l="0" t="0" r="r" b="b"/>
            <a:pathLst>
              <a:path w="127000" h="5080" fill="none">
                <a:moveTo>
                  <a:pt x="0" y="0"/>
                </a:moveTo>
                <a:lnTo>
                  <a:pt x="12700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69" name="Editable vector 69"/>
          <p:cNvSpPr/>
          <p:nvPr/>
        </p:nvSpPr>
        <p:spPr>
          <a:xfrm>
            <a:off x="3178149" y="50877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0072B2"/>
            </a:solidFill>
          </a:ln>
        </p:spPr>
      </p:sp>
      <p:sp>
        <p:nvSpPr>
          <p:cNvPr id="70" name="Editable vector 70"/>
          <p:cNvSpPr/>
          <p:nvPr/>
        </p:nvSpPr>
        <p:spPr>
          <a:xfrm>
            <a:off x="6035040" y="5130800"/>
            <a:ext cx="127000" cy="5080"/>
          </a:xfrm>
          <a:custGeom>
            <a:avLst/>
            <a:gdLst/>
            <a:ahLst/>
            <a:cxnLst/>
            <a:rect l="0" t="0" r="r" b="b"/>
            <a:pathLst>
              <a:path w="127000" h="5080" fill="none">
                <a:moveTo>
                  <a:pt x="0" y="0"/>
                </a:moveTo>
                <a:lnTo>
                  <a:pt x="127000" y="0"/>
                </a:lnTo>
              </a:path>
            </a:pathLst>
          </a:custGeom>
          <a:noFill/>
          <a:ln w="20320" cap="rnd">
            <a:solidFill>
              <a:srgbClr val="008577"/>
            </a:solidFill>
          </a:ln>
        </p:spPr>
      </p:sp>
      <p:sp>
        <p:nvSpPr>
          <p:cNvPr id="71" name="Editable vector 71"/>
          <p:cNvSpPr/>
          <p:nvPr/>
        </p:nvSpPr>
        <p:spPr>
          <a:xfrm>
            <a:off x="6099149" y="50877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008577"/>
            </a:solidFill>
          </a:ln>
        </p:spPr>
      </p:sp>
      <p:sp>
        <p:nvSpPr>
          <p:cNvPr id="72" name="Editable vector 72"/>
          <p:cNvSpPr/>
          <p:nvPr/>
        </p:nvSpPr>
        <p:spPr>
          <a:xfrm>
            <a:off x="8956040" y="5130800"/>
            <a:ext cx="127000" cy="5080"/>
          </a:xfrm>
          <a:custGeom>
            <a:avLst/>
            <a:gdLst/>
            <a:ahLst/>
            <a:cxnLst/>
            <a:rect l="0" t="0" r="r" b="b"/>
            <a:pathLst>
              <a:path w="127000" h="5080" fill="none">
                <a:moveTo>
                  <a:pt x="0" y="0"/>
                </a:moveTo>
                <a:lnTo>
                  <a:pt x="127000" y="0"/>
                </a:lnTo>
              </a:path>
            </a:pathLst>
          </a:custGeom>
          <a:noFill/>
          <a:ln w="20320" cap="rnd">
            <a:solidFill>
              <a:srgbClr val="008577"/>
            </a:solidFill>
          </a:ln>
        </p:spPr>
      </p:sp>
      <p:sp>
        <p:nvSpPr>
          <p:cNvPr id="73" name="Editable vector 73"/>
          <p:cNvSpPr/>
          <p:nvPr/>
        </p:nvSpPr>
        <p:spPr>
          <a:xfrm>
            <a:off x="9020149" y="5087774"/>
            <a:ext cx="62890" cy="86051"/>
          </a:xfrm>
          <a:custGeom>
            <a:avLst/>
            <a:gdLst/>
            <a:ahLst/>
            <a:cxnLst/>
            <a:rect l="0" t="0" r="r" b="b"/>
            <a:pathLst>
              <a:path w="62890" h="86051" fill="none">
                <a:moveTo>
                  <a:pt x="0" y="86051"/>
                </a:moveTo>
                <a:lnTo>
                  <a:pt x="62890" y="43025"/>
                </a:ln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008577"/>
            </a:solidFill>
          </a:ln>
        </p:spPr>
      </p:sp>
      <p:sp>
        <p:nvSpPr>
          <p:cNvPr id="74" name="Editable vector 74"/>
          <p:cNvSpPr/>
          <p:nvPr/>
        </p:nvSpPr>
        <p:spPr>
          <a:xfrm>
            <a:off x="1711960" y="5740400"/>
            <a:ext cx="8763000" cy="304800"/>
          </a:xfrm>
          <a:custGeom>
            <a:avLst/>
            <a:gdLst/>
            <a:ahLst/>
            <a:cxnLst/>
            <a:rect l="0" t="0" r="r" b="b"/>
            <a:pathLst>
              <a:path w="8763000" h="304800" fill="none">
                <a:moveTo>
                  <a:pt x="8763000" y="0"/>
                </a:moveTo>
                <a:lnTo>
                  <a:pt x="8763000" y="304800"/>
                </a:lnTo>
                <a:lnTo>
                  <a:pt x="0" y="304800"/>
                </a:lnTo>
              </a:path>
            </a:pathLst>
          </a:custGeom>
          <a:noFill/>
          <a:ln w="15240" cap="rnd">
            <a:solidFill>
              <a:srgbClr val="008577"/>
            </a:solidFill>
          </a:ln>
        </p:spPr>
      </p:sp>
      <p:sp>
        <p:nvSpPr>
          <p:cNvPr id="75" name="Editable vector 75"/>
          <p:cNvSpPr/>
          <p:nvPr/>
        </p:nvSpPr>
        <p:spPr>
          <a:xfrm>
            <a:off x="1711960" y="5781040"/>
            <a:ext cx="5080" cy="264160"/>
          </a:xfrm>
          <a:custGeom>
            <a:avLst/>
            <a:gdLst/>
            <a:ahLst/>
            <a:cxnLst/>
            <a:rect l="0" t="0" r="r" b="b"/>
            <a:pathLst>
              <a:path w="5080" h="264160" fill="none">
                <a:moveTo>
                  <a:pt x="0" y="264160"/>
                </a:moveTo>
                <a:lnTo>
                  <a:pt x="0" y="0"/>
                </a:lnTo>
              </a:path>
            </a:pathLst>
          </a:custGeom>
          <a:noFill/>
          <a:ln w="15240" cap="rnd">
            <a:solidFill>
              <a:srgbClr val="008577"/>
            </a:solidFill>
          </a:ln>
        </p:spPr>
      </p:sp>
      <p:sp>
        <p:nvSpPr>
          <p:cNvPr id="76" name="Editable vector 76"/>
          <p:cNvSpPr/>
          <p:nvPr/>
        </p:nvSpPr>
        <p:spPr>
          <a:xfrm>
            <a:off x="1668934" y="5781040"/>
            <a:ext cx="86051" cy="62890"/>
          </a:xfrm>
          <a:custGeom>
            <a:avLst/>
            <a:gdLst/>
            <a:ahLst/>
            <a:cxnLst/>
            <a:rect l="0" t="0" r="r" b="b"/>
            <a:pathLst>
              <a:path w="86051" h="62890" fill="none">
                <a:moveTo>
                  <a:pt x="86051" y="62890"/>
                </a:moveTo>
                <a:lnTo>
                  <a:pt x="43025" y="0"/>
                </a:lnTo>
                <a:lnTo>
                  <a:pt x="0" y="62890"/>
                </a:lnTo>
              </a:path>
            </a:pathLst>
          </a:custGeom>
          <a:noFill/>
          <a:ln w="15240" cap="rnd">
            <a:solidFill>
              <a:srgbClr val="008577"/>
            </a:solidFill>
          </a:ln>
        </p:spPr>
      </p:sp>
      <p:sp>
        <p:nvSpPr>
          <p:cNvPr id="77" name="Editable shape 77"/>
          <p:cNvSpPr/>
          <p:nvPr/>
        </p:nvSpPr>
        <p:spPr>
          <a:xfrm>
            <a:off x="4394200" y="5913120"/>
            <a:ext cx="3505200" cy="28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8" name="Assay-guided redesign"/>
          <p:cNvSpPr txBox="1"/>
          <p:nvPr/>
        </p:nvSpPr>
        <p:spPr>
          <a:xfrm>
            <a:off x="4490720" y="5933440"/>
            <a:ext cx="330200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ctr"/>
            <a:r>
              <a:rPr sz="1160" b="1" lang="en-US">
                <a:solidFill>
                  <a:srgbClr val="008577"/>
                </a:solidFill>
                <a:latin typeface="Arial"/>
              </a:rPr>
              <a:t>Assay-guided redesign</a:t>
            </a:r>
          </a:p>
        </p:txBody>
      </p:sp>
      <p:sp>
        <p:nvSpPr>
          <p:cNvPr id="79" name="¹ RFantibody: antibody-tuned RFdiffusion → ProteinMPNN → antibody-tuned RoseTTAFold2."/>
          <p:cNvSpPr txBox="1"/>
          <p:nvPr/>
        </p:nvSpPr>
        <p:spPr>
          <a:xfrm>
            <a:off x="355600" y="6421120"/>
            <a:ext cx="5420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lstStyle/>
          <a:p>
            <a:pPr algn="l"/>
            <a:r>
              <a:rPr sz="1040" b="0" lang="en-US">
                <a:solidFill>
                  <a:srgbClr val="617588"/>
                </a:solidFill>
                <a:latin typeface="Arial"/>
              </a:rPr>
              <a:t>¹ RFantibody: antibody-tuned RFdiffusion → ProteinMPNN → antibody-tuned RoseTTAFold2.</a:t>
            </a:r>
          </a:p>
        </p:txBody>
      </p:sp>
    </p:spTree>
  </p:cSld>
  <p:clrMapOvr>
    <a:masterClrMapping/>
  </p:clrMapOvr>
</p:sld>
</file>