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</Types>
</file>

<file path=_rels/.rels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Id2"/>
  </p:sldMasterIdLst>
  <p:sldIdLst>
    <p:sldId id="256" r:id="rId1"/>
  </p:sldIdLst>
  <p:sldSz cx="12192000" cy="6858000" type="screen16x9"/>
  <p:notesSz cx="6858000" cy="9144000"/>
</p:presentation>
</file>

<file path=ppt/_rels/presentation.xml.rels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Master" Target="slideMasters/slideMaster1.xml"/></Relationships>
</file>

<file path=ppt/slideLayouts/_rels/slideLayout1.xml.rels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</p:sldLayoutIdLst>
  <p:txStyles/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tructure-guided design of bispecific proteins"/>
          <p:cNvSpPr txBox="1"/>
          <p:nvPr/>
        </p:nvSpPr>
        <p:spPr>
          <a:xfrm>
            <a:off x="355600" y="228600"/>
            <a:ext cx="6913880" cy="47244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2480" b="1" lang="en-US">
                <a:solidFill>
                  <a:srgbClr val="17324D"/>
                </a:solidFill>
                <a:latin typeface="Arial"/>
              </a:rPr>
              <a:t>Structure-guided design of bispecific proteins</a:t>
            </a:r>
          </a:p>
        </p:txBody>
      </p:sp>
      <p:sp>
        <p:nvSpPr>
          <p:cNvPr id="4" name="Proposed general workflow | target-specific discovery to experimental validation"/>
          <p:cNvSpPr txBox="1"/>
          <p:nvPr/>
        </p:nvSpPr>
        <p:spPr>
          <a:xfrm>
            <a:off x="370840" y="650240"/>
            <a:ext cx="6294120" cy="266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400" b="0" lang="en-US">
                <a:solidFill>
                  <a:srgbClr val="617588"/>
                </a:solidFill>
                <a:latin typeface="Arial"/>
              </a:rPr>
              <a:t>Proposed general workflow | target-specific discovery to experimental validation</a:t>
            </a:r>
          </a:p>
        </p:txBody>
      </p:sp>
      <p:sp>
        <p:nvSpPr>
          <p:cNvPr id="5" name="Editable vector 5"/>
          <p:cNvSpPr/>
          <p:nvPr/>
        </p:nvSpPr>
        <p:spPr>
          <a:xfrm>
            <a:off x="355600" y="1026160"/>
            <a:ext cx="11480800" cy="5080"/>
          </a:xfrm>
          <a:custGeom>
            <a:avLst/>
            <a:gdLst/>
            <a:ahLst/>
            <a:cxnLst/>
            <a:rect l="0" t="0" r="r" b="b"/>
            <a:pathLst>
              <a:path w="11480800" h="5080" fill="none">
                <a:moveTo>
                  <a:pt x="0" y="0"/>
                </a:moveTo>
                <a:lnTo>
                  <a:pt x="11480800" y="0"/>
                </a:lnTo>
              </a:path>
            </a:pathLst>
          </a:custGeom>
          <a:noFill/>
          <a:ln w="10160" cap="rnd">
            <a:solidFill>
              <a:srgbClr val="E3EAF1"/>
            </a:solidFill>
          </a:ln>
        </p:spPr>
      </p:sp>
      <p:sp>
        <p:nvSpPr>
          <p:cNvPr id="6" name="A   TARGET-SPECIFIC ARM DISCOVERY"/>
          <p:cNvSpPr txBox="1"/>
          <p:nvPr/>
        </p:nvSpPr>
        <p:spPr>
          <a:xfrm>
            <a:off x="355600" y="1188720"/>
            <a:ext cx="3392805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1" lang="en-US">
                <a:solidFill>
                  <a:srgbClr val="0072B2"/>
                </a:solidFill>
                <a:latin typeface="Arial"/>
              </a:rPr>
              <a:t>A   TARGET-SPECIFIC ARM DISCOVERY</a:t>
            </a:r>
          </a:p>
        </p:txBody>
      </p:sp>
      <p:sp>
        <p:nvSpPr>
          <p:cNvPr id="7" name="Repeat for arm A and arm B"/>
          <p:cNvSpPr txBox="1"/>
          <p:nvPr/>
        </p:nvSpPr>
        <p:spPr>
          <a:xfrm>
            <a:off x="7061200" y="1188720"/>
            <a:ext cx="2184082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0" lang="en-US">
                <a:solidFill>
                  <a:srgbClr val="617588"/>
                </a:solidFill>
                <a:latin typeface="Arial"/>
              </a:rPr>
              <a:t>Repeat for arm A and arm B</a:t>
            </a:r>
          </a:p>
        </p:txBody>
      </p:sp>
      <p:sp>
        <p:nvSpPr>
          <p:cNvPr id="8" name="Editable shape 8"/>
          <p:cNvSpPr/>
          <p:nvPr/>
        </p:nvSpPr>
        <p:spPr>
          <a:xfrm>
            <a:off x="355600" y="1574800"/>
            <a:ext cx="2717800" cy="172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5C2"/>
            </a:solidFill>
          </a:ln>
        </p:spPr>
      </p:sp>
      <p:sp>
        <p:nvSpPr>
          <p:cNvPr id="9" name="Editable shape 9"/>
          <p:cNvSpPr/>
          <p:nvPr/>
        </p:nvSpPr>
        <p:spPr>
          <a:xfrm>
            <a:off x="355600" y="1574800"/>
            <a:ext cx="2717800" cy="30480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10" name="1  Target definition"/>
          <p:cNvSpPr txBox="1"/>
          <p:nvPr/>
        </p:nvSpPr>
        <p:spPr>
          <a:xfrm>
            <a:off x="482600" y="1701800"/>
            <a:ext cx="2463800" cy="2743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440" b="1" lang="en-US">
                <a:solidFill>
                  <a:srgbClr val="17324D"/>
                </a:solidFill>
                <a:latin typeface="Arial"/>
              </a:rPr>
              <a:t>1  Target definition</a:t>
            </a:r>
          </a:p>
        </p:txBody>
      </p:sp>
      <p:sp>
        <p:nvSpPr>
          <p:cNvPr id="11" name="Structure + epitope"/>
          <p:cNvSpPr txBox="1"/>
          <p:nvPr/>
        </p:nvSpPr>
        <p:spPr>
          <a:xfrm>
            <a:off x="482600" y="2148840"/>
            <a:ext cx="2463800" cy="2743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440" b="0" lang="en-US">
                <a:solidFill>
                  <a:srgbClr val="17324D"/>
                </a:solidFill>
                <a:latin typeface="Arial"/>
              </a:rPr>
              <a:t>Structure + epitope</a:t>
            </a:r>
          </a:p>
        </p:txBody>
      </p:sp>
      <p:sp>
        <p:nvSpPr>
          <p:cNvPr id="12" name="Accessibility + native state"/>
          <p:cNvSpPr txBox="1"/>
          <p:nvPr/>
        </p:nvSpPr>
        <p:spPr>
          <a:xfrm>
            <a:off x="482600" y="2494280"/>
            <a:ext cx="2463800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0" lang="en-US">
                <a:solidFill>
                  <a:srgbClr val="617588"/>
                </a:solidFill>
                <a:latin typeface="Arial"/>
              </a:rPr>
              <a:t>Accessibility + native state</a:t>
            </a:r>
          </a:p>
        </p:txBody>
      </p:sp>
      <p:sp>
        <p:nvSpPr>
          <p:cNvPr id="13" name="Counter-target panel"/>
          <p:cNvSpPr txBox="1"/>
          <p:nvPr/>
        </p:nvSpPr>
        <p:spPr>
          <a:xfrm>
            <a:off x="482600" y="2839720"/>
            <a:ext cx="2463800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0" lang="en-US">
                <a:solidFill>
                  <a:srgbClr val="617588"/>
                </a:solidFill>
                <a:latin typeface="Arial"/>
              </a:rPr>
              <a:t>Counter-target panel</a:t>
            </a:r>
          </a:p>
        </p:txBody>
      </p:sp>
      <p:sp>
        <p:nvSpPr>
          <p:cNvPr id="14" name="Editable shape 14"/>
          <p:cNvSpPr/>
          <p:nvPr/>
        </p:nvSpPr>
        <p:spPr>
          <a:xfrm>
            <a:off x="3276600" y="1574800"/>
            <a:ext cx="2717800" cy="172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5C2"/>
            </a:solidFill>
          </a:ln>
        </p:spPr>
      </p:sp>
      <p:sp>
        <p:nvSpPr>
          <p:cNvPr id="15" name="Editable shape 15"/>
          <p:cNvSpPr/>
          <p:nvPr/>
        </p:nvSpPr>
        <p:spPr>
          <a:xfrm>
            <a:off x="3276600" y="1574800"/>
            <a:ext cx="2717800" cy="30480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16" name="2  Arm generation"/>
          <p:cNvSpPr txBox="1"/>
          <p:nvPr/>
        </p:nvSpPr>
        <p:spPr>
          <a:xfrm>
            <a:off x="3403600" y="1701800"/>
            <a:ext cx="2463800" cy="2743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440" b="1" lang="en-US">
                <a:solidFill>
                  <a:srgbClr val="17324D"/>
                </a:solidFill>
                <a:latin typeface="Arial"/>
              </a:rPr>
              <a:t>2  Arm generation</a:t>
            </a:r>
          </a:p>
        </p:txBody>
      </p:sp>
      <p:sp>
        <p:nvSpPr>
          <p:cNvPr id="17" name="MINIPROTEIN"/>
          <p:cNvSpPr txBox="1"/>
          <p:nvPr/>
        </p:nvSpPr>
        <p:spPr>
          <a:xfrm>
            <a:off x="3403600" y="2026920"/>
            <a:ext cx="2463800" cy="2514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20" b="1" lang="en-US">
                <a:solidFill>
                  <a:srgbClr val="0072B2"/>
                </a:solidFill>
                <a:latin typeface="Arial"/>
              </a:rPr>
              <a:t>MINIPROTEIN</a:t>
            </a:r>
          </a:p>
        </p:txBody>
      </p:sp>
      <p:sp>
        <p:nvSpPr>
          <p:cNvPr id="18" name="RFdiffusion → ProteinMPNN"/>
          <p:cNvSpPr txBox="1"/>
          <p:nvPr/>
        </p:nvSpPr>
        <p:spPr>
          <a:xfrm>
            <a:off x="3403600" y="2250440"/>
            <a:ext cx="2463800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0" lang="en-US">
                <a:solidFill>
                  <a:srgbClr val="17324D"/>
                </a:solidFill>
                <a:latin typeface="Arial"/>
              </a:rPr>
              <a:t>RFdiffusion → ProteinMPNN</a:t>
            </a:r>
          </a:p>
        </p:txBody>
      </p:sp>
      <p:sp>
        <p:nvSpPr>
          <p:cNvPr id="19" name="or BindCraft"/>
          <p:cNvSpPr txBox="1"/>
          <p:nvPr/>
        </p:nvSpPr>
        <p:spPr>
          <a:xfrm>
            <a:off x="3403600" y="2468880"/>
            <a:ext cx="2463800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0" lang="en-US">
                <a:solidFill>
                  <a:srgbClr val="617588"/>
                </a:solidFill>
                <a:latin typeface="Arial"/>
              </a:rPr>
              <a:t>or BindCraft</a:t>
            </a:r>
          </a:p>
        </p:txBody>
      </p:sp>
      <p:sp>
        <p:nvSpPr>
          <p:cNvPr id="20" name="ANTIBODY / VHH"/>
          <p:cNvSpPr txBox="1"/>
          <p:nvPr/>
        </p:nvSpPr>
        <p:spPr>
          <a:xfrm>
            <a:off x="3403600" y="2788920"/>
            <a:ext cx="2463800" cy="2514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20" b="1" lang="en-US">
                <a:solidFill>
                  <a:srgbClr val="0072B2"/>
                </a:solidFill>
                <a:latin typeface="Arial"/>
              </a:rPr>
              <a:t>ANTIBODY / VHH</a:t>
            </a:r>
          </a:p>
        </p:txBody>
      </p:sp>
      <p:sp>
        <p:nvSpPr>
          <p:cNvPr id="21" name="RFantibody"/>
          <p:cNvSpPr txBox="1"/>
          <p:nvPr/>
        </p:nvSpPr>
        <p:spPr>
          <a:xfrm>
            <a:off x="3403600" y="3007360"/>
            <a:ext cx="2463800" cy="2743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440" b="0" lang="en-US">
                <a:solidFill>
                  <a:srgbClr val="17324D"/>
                </a:solidFill>
                <a:latin typeface="Arial"/>
              </a:rPr>
              <a:t>RFantibody</a:t>
            </a:r>
          </a:p>
        </p:txBody>
      </p:sp>
      <p:sp>
        <p:nvSpPr>
          <p:cNvPr id="22" name="Editable vector 22"/>
          <p:cNvSpPr/>
          <p:nvPr/>
        </p:nvSpPr>
        <p:spPr>
          <a:xfrm>
            <a:off x="3403600" y="2692400"/>
            <a:ext cx="2463800" cy="5080"/>
          </a:xfrm>
          <a:custGeom>
            <a:avLst/>
            <a:gdLst/>
            <a:ahLst/>
            <a:cxnLst/>
            <a:rect l="0" t="0" r="r" b="b"/>
            <a:pathLst>
              <a:path w="2463800" h="5080" fill="none">
                <a:moveTo>
                  <a:pt x="0" y="0"/>
                </a:moveTo>
                <a:lnTo>
                  <a:pt x="2463800" y="0"/>
                </a:lnTo>
              </a:path>
            </a:pathLst>
          </a:custGeom>
          <a:noFill/>
          <a:ln w="10160" cap="rnd">
            <a:solidFill>
              <a:srgbClr val="E3EAF1"/>
            </a:solidFill>
          </a:ln>
        </p:spPr>
      </p:sp>
      <p:sp>
        <p:nvSpPr>
          <p:cNvPr id="23" name="Editable shape 23"/>
          <p:cNvSpPr/>
          <p:nvPr/>
        </p:nvSpPr>
        <p:spPr>
          <a:xfrm>
            <a:off x="6197600" y="1574800"/>
            <a:ext cx="2717800" cy="172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5C2"/>
            </a:solidFill>
          </a:ln>
        </p:spPr>
      </p:sp>
      <p:sp>
        <p:nvSpPr>
          <p:cNvPr id="24" name="Editable shape 24"/>
          <p:cNvSpPr/>
          <p:nvPr/>
        </p:nvSpPr>
        <p:spPr>
          <a:xfrm>
            <a:off x="6197600" y="1574800"/>
            <a:ext cx="2717800" cy="30480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25" name="3  Complex reassessment"/>
          <p:cNvSpPr txBox="1"/>
          <p:nvPr/>
        </p:nvSpPr>
        <p:spPr>
          <a:xfrm>
            <a:off x="6324600" y="1701800"/>
            <a:ext cx="2463800" cy="2743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440" b="1" lang="en-US">
                <a:solidFill>
                  <a:srgbClr val="17324D"/>
                </a:solidFill>
                <a:latin typeface="Arial"/>
              </a:rPr>
              <a:t>3  Complex reassessment</a:t>
            </a:r>
          </a:p>
        </p:txBody>
      </p:sp>
      <p:sp>
        <p:nvSpPr>
          <p:cNvPr id="26" name="AlphaFold2-Multimer"/>
          <p:cNvSpPr txBox="1"/>
          <p:nvPr/>
        </p:nvSpPr>
        <p:spPr>
          <a:xfrm>
            <a:off x="6324600" y="2098040"/>
            <a:ext cx="2463800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0" lang="en-US">
                <a:solidFill>
                  <a:srgbClr val="17324D"/>
                </a:solidFill>
                <a:latin typeface="Arial"/>
              </a:rPr>
              <a:t>AlphaFold2-Multimer</a:t>
            </a:r>
          </a:p>
        </p:txBody>
      </p:sp>
      <p:sp>
        <p:nvSpPr>
          <p:cNvPr id="27" name="or AlphaFold3"/>
          <p:cNvSpPr txBox="1"/>
          <p:nvPr/>
        </p:nvSpPr>
        <p:spPr>
          <a:xfrm>
            <a:off x="6324600" y="2326640"/>
            <a:ext cx="2463800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0" lang="en-US">
                <a:solidFill>
                  <a:srgbClr val="17324D"/>
                </a:solidFill>
                <a:latin typeface="Arial"/>
              </a:rPr>
              <a:t>or AlphaFold3</a:t>
            </a:r>
          </a:p>
        </p:txBody>
      </p:sp>
      <p:sp>
        <p:nvSpPr>
          <p:cNvPr id="28" name="Independent setup¹"/>
          <p:cNvSpPr txBox="1"/>
          <p:nvPr/>
        </p:nvSpPr>
        <p:spPr>
          <a:xfrm>
            <a:off x="6324600" y="2651760"/>
            <a:ext cx="2463800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0" lang="en-US">
                <a:solidFill>
                  <a:srgbClr val="617588"/>
                </a:solidFill>
                <a:latin typeface="Arial"/>
              </a:rPr>
              <a:t>Independent setup¹</a:t>
            </a:r>
          </a:p>
        </p:txBody>
      </p:sp>
      <p:sp>
        <p:nvSpPr>
          <p:cNvPr id="29" name="Fold · interface · epitope"/>
          <p:cNvSpPr txBox="1"/>
          <p:nvPr/>
        </p:nvSpPr>
        <p:spPr>
          <a:xfrm>
            <a:off x="6324600" y="2931160"/>
            <a:ext cx="2463800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0" lang="en-US">
                <a:solidFill>
                  <a:srgbClr val="617588"/>
                </a:solidFill>
                <a:latin typeface="Arial"/>
              </a:rPr>
              <a:t>Fold · interface · epitope</a:t>
            </a:r>
          </a:p>
        </p:txBody>
      </p:sp>
      <p:sp>
        <p:nvSpPr>
          <p:cNvPr id="30" name="Editable shape 30"/>
          <p:cNvSpPr/>
          <p:nvPr/>
        </p:nvSpPr>
        <p:spPr>
          <a:xfrm>
            <a:off x="9118600" y="1574800"/>
            <a:ext cx="2717800" cy="172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5C2"/>
            </a:solidFill>
          </a:ln>
        </p:spPr>
      </p:sp>
      <p:sp>
        <p:nvSpPr>
          <p:cNvPr id="31" name="Editable shape 31"/>
          <p:cNvSpPr/>
          <p:nvPr/>
        </p:nvSpPr>
        <p:spPr>
          <a:xfrm>
            <a:off x="9118600" y="1574800"/>
            <a:ext cx="2717800" cy="30480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32" name="4  Arm selection"/>
          <p:cNvSpPr txBox="1"/>
          <p:nvPr/>
        </p:nvSpPr>
        <p:spPr>
          <a:xfrm>
            <a:off x="9245600" y="1701800"/>
            <a:ext cx="2463800" cy="2743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440" b="1" lang="en-US">
                <a:solidFill>
                  <a:srgbClr val="17324D"/>
                </a:solidFill>
                <a:latin typeface="Arial"/>
              </a:rPr>
              <a:t>4  Arm selection</a:t>
            </a:r>
          </a:p>
        </p:txBody>
      </p:sp>
      <p:sp>
        <p:nvSpPr>
          <p:cNvPr id="33" name="Confidence + developability"/>
          <p:cNvSpPr txBox="1"/>
          <p:nvPr/>
        </p:nvSpPr>
        <p:spPr>
          <a:xfrm>
            <a:off x="9245600" y="2082800"/>
            <a:ext cx="2463800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0" lang="en-US">
                <a:solidFill>
                  <a:srgbClr val="17324D"/>
                </a:solidFill>
                <a:latin typeface="Arial"/>
              </a:rPr>
              <a:t>Confidence + developability</a:t>
            </a:r>
          </a:p>
        </p:txBody>
      </p:sp>
      <p:sp>
        <p:nvSpPr>
          <p:cNvPr id="34" name="Controls + scaffold diversity"/>
          <p:cNvSpPr txBox="1"/>
          <p:nvPr/>
        </p:nvSpPr>
        <p:spPr>
          <a:xfrm>
            <a:off x="9245600" y="2377440"/>
            <a:ext cx="2463800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0" lang="en-US">
                <a:solidFill>
                  <a:srgbClr val="617588"/>
                </a:solidFill>
                <a:latin typeface="Arial"/>
              </a:rPr>
              <a:t>Controls + scaffold diversity</a:t>
            </a:r>
          </a:p>
        </p:txBody>
      </p:sp>
      <p:sp>
        <p:nvSpPr>
          <p:cNvPr id="35" name="Confirm arm binding"/>
          <p:cNvSpPr txBox="1"/>
          <p:nvPr/>
        </p:nvSpPr>
        <p:spPr>
          <a:xfrm>
            <a:off x="9245600" y="2672080"/>
            <a:ext cx="2463800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0" lang="en-US">
                <a:solidFill>
                  <a:srgbClr val="008577"/>
                </a:solidFill>
                <a:latin typeface="Arial"/>
              </a:rPr>
              <a:t>Confirm arm binding</a:t>
            </a:r>
          </a:p>
        </p:txBody>
      </p:sp>
      <p:sp>
        <p:nvSpPr>
          <p:cNvPr id="36" name="and specificity²"/>
          <p:cNvSpPr txBox="1"/>
          <p:nvPr/>
        </p:nvSpPr>
        <p:spPr>
          <a:xfrm>
            <a:off x="9245600" y="2946400"/>
            <a:ext cx="2463800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0" lang="en-US">
                <a:solidFill>
                  <a:srgbClr val="008577"/>
                </a:solidFill>
                <a:latin typeface="Arial"/>
              </a:rPr>
              <a:t>and specificity²</a:t>
            </a:r>
          </a:p>
        </p:txBody>
      </p:sp>
      <p:sp>
        <p:nvSpPr>
          <p:cNvPr id="37" name="Editable vector 37"/>
          <p:cNvSpPr/>
          <p:nvPr/>
        </p:nvSpPr>
        <p:spPr>
          <a:xfrm>
            <a:off x="3108960" y="2438400"/>
            <a:ext cx="137160" cy="5080"/>
          </a:xfrm>
          <a:custGeom>
            <a:avLst/>
            <a:gdLst/>
            <a:ahLst/>
            <a:cxnLst/>
            <a:rect l="0" t="0" r="r" b="b"/>
            <a:pathLst>
              <a:path w="137160" h="5080" fill="none">
                <a:moveTo>
                  <a:pt x="0" y="0"/>
                </a:moveTo>
                <a:lnTo>
                  <a:pt x="137160" y="0"/>
                </a:lnTo>
              </a:path>
            </a:pathLst>
          </a:custGeom>
          <a:noFill/>
          <a:ln w="20320" cap="rnd">
            <a:solidFill>
              <a:srgbClr val="0072B2"/>
            </a:solidFill>
          </a:ln>
        </p:spPr>
      </p:sp>
      <p:sp>
        <p:nvSpPr>
          <p:cNvPr id="38" name="Editable vector 38"/>
          <p:cNvSpPr/>
          <p:nvPr/>
        </p:nvSpPr>
        <p:spPr>
          <a:xfrm>
            <a:off x="3183229" y="2395374"/>
            <a:ext cx="62890" cy="86051"/>
          </a:xfrm>
          <a:custGeom>
            <a:avLst/>
            <a:gdLst/>
            <a:ahLst/>
            <a:cxnLst/>
            <a:rect l="0" t="0" r="r" b="b"/>
            <a:pathLst>
              <a:path w="62890" h="86051" fill="none">
                <a:moveTo>
                  <a:pt x="0" y="86051"/>
                </a:moveTo>
                <a:lnTo>
                  <a:pt x="62890" y="43025"/>
                </a:lnTo>
                <a:lnTo>
                  <a:pt x="0" y="0"/>
                </a:lnTo>
              </a:path>
            </a:pathLst>
          </a:custGeom>
          <a:noFill/>
          <a:ln w="20320" cap="rnd">
            <a:solidFill>
              <a:srgbClr val="0072B2"/>
            </a:solidFill>
          </a:ln>
        </p:spPr>
      </p:sp>
      <p:sp>
        <p:nvSpPr>
          <p:cNvPr id="39" name="Editable vector 39"/>
          <p:cNvSpPr/>
          <p:nvPr/>
        </p:nvSpPr>
        <p:spPr>
          <a:xfrm>
            <a:off x="6029960" y="2438400"/>
            <a:ext cx="137160" cy="5080"/>
          </a:xfrm>
          <a:custGeom>
            <a:avLst/>
            <a:gdLst/>
            <a:ahLst/>
            <a:cxnLst/>
            <a:rect l="0" t="0" r="r" b="b"/>
            <a:pathLst>
              <a:path w="137160" h="5080" fill="none">
                <a:moveTo>
                  <a:pt x="0" y="0"/>
                </a:moveTo>
                <a:lnTo>
                  <a:pt x="137160" y="0"/>
                </a:lnTo>
              </a:path>
            </a:pathLst>
          </a:custGeom>
          <a:noFill/>
          <a:ln w="20320" cap="rnd">
            <a:solidFill>
              <a:srgbClr val="0072B2"/>
            </a:solidFill>
          </a:ln>
        </p:spPr>
      </p:sp>
      <p:sp>
        <p:nvSpPr>
          <p:cNvPr id="40" name="Editable vector 40"/>
          <p:cNvSpPr/>
          <p:nvPr/>
        </p:nvSpPr>
        <p:spPr>
          <a:xfrm>
            <a:off x="6104229" y="2395374"/>
            <a:ext cx="62890" cy="86051"/>
          </a:xfrm>
          <a:custGeom>
            <a:avLst/>
            <a:gdLst/>
            <a:ahLst/>
            <a:cxnLst/>
            <a:rect l="0" t="0" r="r" b="b"/>
            <a:pathLst>
              <a:path w="62890" h="86051" fill="none">
                <a:moveTo>
                  <a:pt x="0" y="86051"/>
                </a:moveTo>
                <a:lnTo>
                  <a:pt x="62890" y="43025"/>
                </a:lnTo>
                <a:lnTo>
                  <a:pt x="0" y="0"/>
                </a:lnTo>
              </a:path>
            </a:pathLst>
          </a:custGeom>
          <a:noFill/>
          <a:ln w="20320" cap="rnd">
            <a:solidFill>
              <a:srgbClr val="0072B2"/>
            </a:solidFill>
          </a:ln>
        </p:spPr>
      </p:sp>
      <p:sp>
        <p:nvSpPr>
          <p:cNvPr id="41" name="Editable vector 41"/>
          <p:cNvSpPr/>
          <p:nvPr/>
        </p:nvSpPr>
        <p:spPr>
          <a:xfrm>
            <a:off x="8950960" y="2438400"/>
            <a:ext cx="137160" cy="5080"/>
          </a:xfrm>
          <a:custGeom>
            <a:avLst/>
            <a:gdLst/>
            <a:ahLst/>
            <a:cxnLst/>
            <a:rect l="0" t="0" r="r" b="b"/>
            <a:pathLst>
              <a:path w="137160" h="5080" fill="none">
                <a:moveTo>
                  <a:pt x="0" y="0"/>
                </a:moveTo>
                <a:lnTo>
                  <a:pt x="137160" y="0"/>
                </a:lnTo>
              </a:path>
            </a:pathLst>
          </a:custGeom>
          <a:noFill/>
          <a:ln w="20320" cap="rnd">
            <a:solidFill>
              <a:srgbClr val="0072B2"/>
            </a:solidFill>
          </a:ln>
        </p:spPr>
      </p:sp>
      <p:sp>
        <p:nvSpPr>
          <p:cNvPr id="42" name="Editable vector 42"/>
          <p:cNvSpPr/>
          <p:nvPr/>
        </p:nvSpPr>
        <p:spPr>
          <a:xfrm>
            <a:off x="9025229" y="2395374"/>
            <a:ext cx="62890" cy="86051"/>
          </a:xfrm>
          <a:custGeom>
            <a:avLst/>
            <a:gdLst/>
            <a:ahLst/>
            <a:cxnLst/>
            <a:rect l="0" t="0" r="r" b="b"/>
            <a:pathLst>
              <a:path w="62890" h="86051" fill="none">
                <a:moveTo>
                  <a:pt x="0" y="86051"/>
                </a:moveTo>
                <a:lnTo>
                  <a:pt x="62890" y="43025"/>
                </a:lnTo>
                <a:lnTo>
                  <a:pt x="0" y="0"/>
                </a:lnTo>
              </a:path>
            </a:pathLst>
          </a:custGeom>
          <a:noFill/>
          <a:ln w="20320" cap="rnd">
            <a:solidFill>
              <a:srgbClr val="0072B2"/>
            </a:solidFill>
          </a:ln>
        </p:spPr>
      </p:sp>
      <p:sp>
        <p:nvSpPr>
          <p:cNvPr id="43" name="Editable vector 43"/>
          <p:cNvSpPr/>
          <p:nvPr/>
        </p:nvSpPr>
        <p:spPr>
          <a:xfrm>
            <a:off x="10474960" y="3302000"/>
            <a:ext cx="5080" cy="1107440"/>
          </a:xfrm>
          <a:custGeom>
            <a:avLst/>
            <a:gdLst/>
            <a:ahLst/>
            <a:cxnLst/>
            <a:rect l="0" t="0" r="r" b="b"/>
            <a:pathLst>
              <a:path w="5080" h="1107440" fill="none">
                <a:moveTo>
                  <a:pt x="0" y="0"/>
                </a:moveTo>
                <a:lnTo>
                  <a:pt x="0" y="1107440"/>
                </a:lnTo>
              </a:path>
            </a:pathLst>
          </a:custGeom>
          <a:noFill/>
          <a:ln w="20320" cap="rnd">
            <a:solidFill>
              <a:srgbClr val="0072B2"/>
            </a:solidFill>
          </a:ln>
        </p:spPr>
      </p:sp>
      <p:sp>
        <p:nvSpPr>
          <p:cNvPr id="44" name="Editable vector 44"/>
          <p:cNvSpPr/>
          <p:nvPr/>
        </p:nvSpPr>
        <p:spPr>
          <a:xfrm>
            <a:off x="10431934" y="4346549"/>
            <a:ext cx="86051" cy="62890"/>
          </a:xfrm>
          <a:custGeom>
            <a:avLst/>
            <a:gdLst/>
            <a:ahLst/>
            <a:cxnLst/>
            <a:rect l="0" t="0" r="r" b="b"/>
            <a:pathLst>
              <a:path w="86051" h="62890" fill="none">
                <a:moveTo>
                  <a:pt x="0" y="0"/>
                </a:moveTo>
                <a:lnTo>
                  <a:pt x="43025" y="62890"/>
                </a:lnTo>
                <a:lnTo>
                  <a:pt x="86051" y="0"/>
                </a:lnTo>
              </a:path>
            </a:pathLst>
          </a:custGeom>
          <a:noFill/>
          <a:ln w="20320" cap="rnd">
            <a:solidFill>
              <a:srgbClr val="0072B2"/>
            </a:solidFill>
          </a:ln>
        </p:spPr>
      </p:sp>
      <p:sp>
        <p:nvSpPr>
          <p:cNvPr id="45" name="Selected arms A + B"/>
          <p:cNvSpPr txBox="1"/>
          <p:nvPr/>
        </p:nvSpPr>
        <p:spPr>
          <a:xfrm>
            <a:off x="6883400" y="3556000"/>
            <a:ext cx="3149600" cy="266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1400" b="1" lang="en-US">
                <a:solidFill>
                  <a:srgbClr val="0072B2"/>
                </a:solidFill>
                <a:latin typeface="Arial"/>
              </a:rPr>
              <a:t>Selected arms A + B</a:t>
            </a:r>
          </a:p>
        </p:txBody>
      </p:sp>
      <p:sp>
        <p:nvSpPr>
          <p:cNvPr id="46" name="B   BISPECIFIC ENGINEERING AND EXPERIMENTAL TESTING"/>
          <p:cNvSpPr txBox="1"/>
          <p:nvPr/>
        </p:nvSpPr>
        <p:spPr>
          <a:xfrm>
            <a:off x="355600" y="4028440"/>
            <a:ext cx="5176123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1" lang="en-US">
                <a:solidFill>
                  <a:srgbClr val="17324D"/>
                </a:solidFill>
                <a:latin typeface="Arial"/>
              </a:rPr>
              <a:t>B   BISPECIFIC ENGINEERING AND EXPERIMENTAL TESTING</a:t>
            </a:r>
          </a:p>
        </p:txBody>
      </p:sp>
      <p:sp>
        <p:nvSpPr>
          <p:cNvPr id="47" name="Editable shape 47"/>
          <p:cNvSpPr/>
          <p:nvPr/>
        </p:nvSpPr>
        <p:spPr>
          <a:xfrm>
            <a:off x="9118600" y="4470400"/>
            <a:ext cx="2717800" cy="14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5C2"/>
            </a:solidFill>
          </a:ln>
        </p:spPr>
      </p:sp>
      <p:sp>
        <p:nvSpPr>
          <p:cNvPr id="48" name="Editable shape 48"/>
          <p:cNvSpPr/>
          <p:nvPr/>
        </p:nvSpPr>
        <p:spPr>
          <a:xfrm>
            <a:off x="9118600" y="4470400"/>
            <a:ext cx="2717800" cy="30480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49" name="5  Format engineering"/>
          <p:cNvSpPr txBox="1"/>
          <p:nvPr/>
        </p:nvSpPr>
        <p:spPr>
          <a:xfrm>
            <a:off x="9245600" y="4597400"/>
            <a:ext cx="2463800" cy="2743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440" b="1" lang="en-US">
                <a:solidFill>
                  <a:srgbClr val="17324D"/>
                </a:solidFill>
                <a:latin typeface="Arial"/>
              </a:rPr>
              <a:t>5  Format engineering</a:t>
            </a:r>
          </a:p>
        </p:txBody>
      </p:sp>
      <p:sp>
        <p:nvSpPr>
          <p:cNvPr id="50" name="Pairs · linkers · domain order"/>
          <p:cNvSpPr txBox="1"/>
          <p:nvPr/>
        </p:nvSpPr>
        <p:spPr>
          <a:xfrm>
            <a:off x="9245600" y="4963160"/>
            <a:ext cx="2463800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0" lang="en-US">
                <a:solidFill>
                  <a:srgbClr val="17324D"/>
                </a:solidFill>
                <a:latin typeface="Arial"/>
              </a:rPr>
              <a:t>Pairs · linkers · domain order</a:t>
            </a:r>
          </a:p>
        </p:txBody>
      </p:sp>
      <p:sp>
        <p:nvSpPr>
          <p:cNvPr id="51" name="Valency + accessibility"/>
          <p:cNvSpPr txBox="1"/>
          <p:nvPr/>
        </p:nvSpPr>
        <p:spPr>
          <a:xfrm>
            <a:off x="9245600" y="5252720"/>
            <a:ext cx="2463800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0" lang="en-US">
                <a:solidFill>
                  <a:srgbClr val="617588"/>
                </a:solidFill>
                <a:latin typeface="Arial"/>
              </a:rPr>
              <a:t>Valency + accessibility</a:t>
            </a:r>
          </a:p>
        </p:txBody>
      </p:sp>
      <p:sp>
        <p:nvSpPr>
          <p:cNvPr id="52" name="IgG-like: chain pairing"/>
          <p:cNvSpPr txBox="1"/>
          <p:nvPr/>
        </p:nvSpPr>
        <p:spPr>
          <a:xfrm>
            <a:off x="9245600" y="5547360"/>
            <a:ext cx="2463800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0" lang="en-US">
                <a:solidFill>
                  <a:srgbClr val="617588"/>
                </a:solidFill>
                <a:latin typeface="Arial"/>
              </a:rPr>
              <a:t>IgG-like: chain pairing</a:t>
            </a:r>
          </a:p>
        </p:txBody>
      </p:sp>
      <p:sp>
        <p:nvSpPr>
          <p:cNvPr id="53" name="Editable shape 53"/>
          <p:cNvSpPr/>
          <p:nvPr/>
        </p:nvSpPr>
        <p:spPr>
          <a:xfrm>
            <a:off x="6197600" y="4470400"/>
            <a:ext cx="2717800" cy="14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5C2"/>
            </a:solidFill>
          </a:ln>
        </p:spPr>
      </p:sp>
      <p:sp>
        <p:nvSpPr>
          <p:cNvPr id="54" name="Editable shape 54"/>
          <p:cNvSpPr/>
          <p:nvPr/>
        </p:nvSpPr>
        <p:spPr>
          <a:xfrm>
            <a:off x="6197600" y="4470400"/>
            <a:ext cx="2717800" cy="30480"/>
          </a:xfrm>
          <a:prstGeom prst="rect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55" name="6  Construct assessment"/>
          <p:cNvSpPr txBox="1"/>
          <p:nvPr/>
        </p:nvSpPr>
        <p:spPr>
          <a:xfrm>
            <a:off x="6324600" y="4597400"/>
            <a:ext cx="2463800" cy="2743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440" b="1" lang="en-US">
                <a:solidFill>
                  <a:srgbClr val="17324D"/>
                </a:solidFill>
                <a:latin typeface="Arial"/>
              </a:rPr>
              <a:t>6  Construct assessment</a:t>
            </a:r>
          </a:p>
        </p:txBody>
      </p:sp>
      <p:sp>
        <p:nvSpPr>
          <p:cNvPr id="56" name="AlphaFold2 / AlphaFold3"/>
          <p:cNvSpPr txBox="1"/>
          <p:nvPr/>
        </p:nvSpPr>
        <p:spPr>
          <a:xfrm>
            <a:off x="6324600" y="4963160"/>
            <a:ext cx="2463800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0" lang="en-US">
                <a:solidFill>
                  <a:srgbClr val="17324D"/>
                </a:solidFill>
                <a:latin typeface="Arial"/>
              </a:rPr>
              <a:t>AlphaFold2 / AlphaFold3</a:t>
            </a:r>
          </a:p>
        </p:txBody>
      </p:sp>
      <p:sp>
        <p:nvSpPr>
          <p:cNvPr id="57" name="Domain folds + clashes"/>
          <p:cNvSpPr txBox="1"/>
          <p:nvPr/>
        </p:nvSpPr>
        <p:spPr>
          <a:xfrm>
            <a:off x="6324600" y="5252720"/>
            <a:ext cx="2463800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0" lang="en-US">
                <a:solidFill>
                  <a:srgbClr val="617588"/>
                </a:solidFill>
                <a:latin typeface="Arial"/>
              </a:rPr>
              <a:t>Domain folds + clashes</a:t>
            </a:r>
          </a:p>
        </p:txBody>
      </p:sp>
      <p:sp>
        <p:nvSpPr>
          <p:cNvPr id="58" name="Dual-target accessibility"/>
          <p:cNvSpPr txBox="1"/>
          <p:nvPr/>
        </p:nvSpPr>
        <p:spPr>
          <a:xfrm>
            <a:off x="6324600" y="5547360"/>
            <a:ext cx="2463800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0" lang="en-US">
                <a:solidFill>
                  <a:srgbClr val="617588"/>
                </a:solidFill>
                <a:latin typeface="Arial"/>
              </a:rPr>
              <a:t>Dual-target accessibility</a:t>
            </a:r>
          </a:p>
        </p:txBody>
      </p:sp>
      <p:sp>
        <p:nvSpPr>
          <p:cNvPr id="59" name="Editable shape 59"/>
          <p:cNvSpPr/>
          <p:nvPr/>
        </p:nvSpPr>
        <p:spPr>
          <a:xfrm>
            <a:off x="3276600" y="4470400"/>
            <a:ext cx="2717800" cy="14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5C2"/>
            </a:solidFill>
          </a:ln>
        </p:spPr>
      </p:sp>
      <p:sp>
        <p:nvSpPr>
          <p:cNvPr id="60" name="Editable shape 60"/>
          <p:cNvSpPr/>
          <p:nvPr/>
        </p:nvSpPr>
        <p:spPr>
          <a:xfrm>
            <a:off x="3276600" y="4470400"/>
            <a:ext cx="2717800" cy="30480"/>
          </a:xfrm>
          <a:prstGeom prst="rect">
            <a:avLst/>
          </a:prstGeom>
          <a:solidFill>
            <a:srgbClr val="008577"/>
          </a:solidFill>
          <a:ln>
            <a:noFill/>
          </a:ln>
        </p:spPr>
      </p:sp>
      <p:sp>
        <p:nvSpPr>
          <p:cNvPr id="61" name="7  Production + QC"/>
          <p:cNvSpPr txBox="1"/>
          <p:nvPr/>
        </p:nvSpPr>
        <p:spPr>
          <a:xfrm>
            <a:off x="3403600" y="4597400"/>
            <a:ext cx="2463800" cy="2743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440" b="1" lang="en-US">
                <a:solidFill>
                  <a:srgbClr val="17324D"/>
                </a:solidFill>
                <a:latin typeface="Arial"/>
              </a:rPr>
              <a:t>7  Production + QC</a:t>
            </a:r>
          </a:p>
        </p:txBody>
      </p:sp>
      <p:sp>
        <p:nvSpPr>
          <p:cNvPr id="62" name="Expression + purification"/>
          <p:cNvSpPr txBox="1"/>
          <p:nvPr/>
        </p:nvSpPr>
        <p:spPr>
          <a:xfrm>
            <a:off x="3403600" y="4963160"/>
            <a:ext cx="2463800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0" lang="en-US">
                <a:solidFill>
                  <a:srgbClr val="17324D"/>
                </a:solidFill>
                <a:latin typeface="Arial"/>
              </a:rPr>
              <a:t>Expression + purification</a:t>
            </a:r>
          </a:p>
        </p:txBody>
      </p:sp>
      <p:sp>
        <p:nvSpPr>
          <p:cNvPr id="63" name="SEC–MALS · DSF"/>
          <p:cNvSpPr txBox="1"/>
          <p:nvPr/>
        </p:nvSpPr>
        <p:spPr>
          <a:xfrm>
            <a:off x="3403600" y="5252720"/>
            <a:ext cx="2463800" cy="266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400" b="0" lang="en-US">
                <a:solidFill>
                  <a:srgbClr val="617588"/>
                </a:solidFill>
                <a:latin typeface="Arial"/>
              </a:rPr>
              <a:t>SEC–MALS · DSF</a:t>
            </a:r>
          </a:p>
        </p:txBody>
      </p:sp>
      <p:sp>
        <p:nvSpPr>
          <p:cNvPr id="64" name="Assembly + stability"/>
          <p:cNvSpPr txBox="1"/>
          <p:nvPr/>
        </p:nvSpPr>
        <p:spPr>
          <a:xfrm>
            <a:off x="3403600" y="5547360"/>
            <a:ext cx="2463800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0" lang="en-US">
                <a:solidFill>
                  <a:srgbClr val="617588"/>
                </a:solidFill>
                <a:latin typeface="Arial"/>
              </a:rPr>
              <a:t>Assembly + stability</a:t>
            </a:r>
          </a:p>
        </p:txBody>
      </p:sp>
      <p:sp>
        <p:nvSpPr>
          <p:cNvPr id="65" name="Editable shape 65"/>
          <p:cNvSpPr/>
          <p:nvPr/>
        </p:nvSpPr>
        <p:spPr>
          <a:xfrm>
            <a:off x="355600" y="4470400"/>
            <a:ext cx="2717800" cy="14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5C2"/>
            </a:solidFill>
          </a:ln>
        </p:spPr>
      </p:sp>
      <p:sp>
        <p:nvSpPr>
          <p:cNvPr id="66" name="Editable shape 66"/>
          <p:cNvSpPr/>
          <p:nvPr/>
        </p:nvSpPr>
        <p:spPr>
          <a:xfrm>
            <a:off x="355600" y="4470400"/>
            <a:ext cx="2717800" cy="30480"/>
          </a:xfrm>
          <a:prstGeom prst="rect">
            <a:avLst/>
          </a:prstGeom>
          <a:solidFill>
            <a:srgbClr val="008577"/>
          </a:solidFill>
          <a:ln>
            <a:noFill/>
          </a:ln>
        </p:spPr>
      </p:sp>
      <p:sp>
        <p:nvSpPr>
          <p:cNvPr id="67" name="8  Functional validation"/>
          <p:cNvSpPr txBox="1"/>
          <p:nvPr/>
        </p:nvSpPr>
        <p:spPr>
          <a:xfrm>
            <a:off x="482600" y="4597400"/>
            <a:ext cx="2463800" cy="2743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440" b="1" lang="en-US">
                <a:solidFill>
                  <a:srgbClr val="17324D"/>
                </a:solidFill>
                <a:latin typeface="Arial"/>
              </a:rPr>
              <a:t>8  Functional validation</a:t>
            </a:r>
          </a:p>
        </p:txBody>
      </p:sp>
      <p:sp>
        <p:nvSpPr>
          <p:cNvPr id="68" name="SPR / BLI · dual binding"/>
          <p:cNvSpPr txBox="1"/>
          <p:nvPr/>
        </p:nvSpPr>
        <p:spPr>
          <a:xfrm>
            <a:off x="482600" y="4963160"/>
            <a:ext cx="2463800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0" lang="en-US">
                <a:solidFill>
                  <a:srgbClr val="17324D"/>
                </a:solidFill>
                <a:latin typeface="Arial"/>
              </a:rPr>
              <a:t>SPR / BLI · dual binding</a:t>
            </a:r>
          </a:p>
        </p:txBody>
      </p:sp>
      <p:sp>
        <p:nvSpPr>
          <p:cNvPr id="69" name="Specificity + controls"/>
          <p:cNvSpPr txBox="1"/>
          <p:nvPr/>
        </p:nvSpPr>
        <p:spPr>
          <a:xfrm>
            <a:off x="482600" y="5252720"/>
            <a:ext cx="2463800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0" lang="en-US">
                <a:solidFill>
                  <a:srgbClr val="617588"/>
                </a:solidFill>
                <a:latin typeface="Arial"/>
              </a:rPr>
              <a:t>Specificity + controls</a:t>
            </a:r>
          </a:p>
        </p:txBody>
      </p:sp>
      <p:sp>
        <p:nvSpPr>
          <p:cNvPr id="70" name="Application-specific assays"/>
          <p:cNvSpPr txBox="1"/>
          <p:nvPr/>
        </p:nvSpPr>
        <p:spPr>
          <a:xfrm>
            <a:off x="482600" y="5547360"/>
            <a:ext cx="2463800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60" b="0" lang="en-US">
                <a:solidFill>
                  <a:srgbClr val="617588"/>
                </a:solidFill>
                <a:latin typeface="Arial"/>
              </a:rPr>
              <a:t>Application-specific assays</a:t>
            </a:r>
          </a:p>
        </p:txBody>
      </p:sp>
      <p:sp>
        <p:nvSpPr>
          <p:cNvPr id="71" name="Editable vector 71"/>
          <p:cNvSpPr/>
          <p:nvPr/>
        </p:nvSpPr>
        <p:spPr>
          <a:xfrm>
            <a:off x="8945880" y="5207000"/>
            <a:ext cx="137160" cy="5080"/>
          </a:xfrm>
          <a:custGeom>
            <a:avLst/>
            <a:gdLst/>
            <a:ahLst/>
            <a:cxnLst/>
            <a:rect l="0" t="0" r="r" b="b"/>
            <a:pathLst>
              <a:path w="137160" h="5080" fill="none">
                <a:moveTo>
                  <a:pt x="137160" y="0"/>
                </a:moveTo>
                <a:lnTo>
                  <a:pt x="0" y="0"/>
                </a:lnTo>
              </a:path>
            </a:pathLst>
          </a:custGeom>
          <a:noFill/>
          <a:ln w="20320" cap="rnd">
            <a:solidFill>
              <a:srgbClr val="0072B2"/>
            </a:solidFill>
          </a:ln>
        </p:spPr>
      </p:sp>
      <p:sp>
        <p:nvSpPr>
          <p:cNvPr id="72" name="Editable vector 72"/>
          <p:cNvSpPr/>
          <p:nvPr/>
        </p:nvSpPr>
        <p:spPr>
          <a:xfrm>
            <a:off x="8945880" y="5163974"/>
            <a:ext cx="62890" cy="86051"/>
          </a:xfrm>
          <a:custGeom>
            <a:avLst/>
            <a:gdLst/>
            <a:ahLst/>
            <a:cxnLst/>
            <a:rect l="0" t="0" r="r" b="b"/>
            <a:pathLst>
              <a:path w="62890" h="86051" fill="none">
                <a:moveTo>
                  <a:pt x="62890" y="0"/>
                </a:moveTo>
                <a:lnTo>
                  <a:pt x="0" y="43025"/>
                </a:lnTo>
                <a:lnTo>
                  <a:pt x="62890" y="86051"/>
                </a:lnTo>
              </a:path>
            </a:pathLst>
          </a:custGeom>
          <a:noFill/>
          <a:ln w="20320" cap="rnd">
            <a:solidFill>
              <a:srgbClr val="0072B2"/>
            </a:solidFill>
          </a:ln>
        </p:spPr>
      </p:sp>
      <p:sp>
        <p:nvSpPr>
          <p:cNvPr id="73" name="Editable vector 73"/>
          <p:cNvSpPr/>
          <p:nvPr/>
        </p:nvSpPr>
        <p:spPr>
          <a:xfrm>
            <a:off x="6024880" y="5207000"/>
            <a:ext cx="137160" cy="5080"/>
          </a:xfrm>
          <a:custGeom>
            <a:avLst/>
            <a:gdLst/>
            <a:ahLst/>
            <a:cxnLst/>
            <a:rect l="0" t="0" r="r" b="b"/>
            <a:pathLst>
              <a:path w="137160" h="5080" fill="none">
                <a:moveTo>
                  <a:pt x="137160" y="0"/>
                </a:moveTo>
                <a:lnTo>
                  <a:pt x="0" y="0"/>
                </a:lnTo>
              </a:path>
            </a:pathLst>
          </a:custGeom>
          <a:noFill/>
          <a:ln w="20320" cap="rnd">
            <a:solidFill>
              <a:srgbClr val="008577"/>
            </a:solidFill>
          </a:ln>
        </p:spPr>
      </p:sp>
      <p:sp>
        <p:nvSpPr>
          <p:cNvPr id="74" name="Editable vector 74"/>
          <p:cNvSpPr/>
          <p:nvPr/>
        </p:nvSpPr>
        <p:spPr>
          <a:xfrm>
            <a:off x="6024880" y="5163974"/>
            <a:ext cx="62890" cy="86051"/>
          </a:xfrm>
          <a:custGeom>
            <a:avLst/>
            <a:gdLst/>
            <a:ahLst/>
            <a:cxnLst/>
            <a:rect l="0" t="0" r="r" b="b"/>
            <a:pathLst>
              <a:path w="62890" h="86051" fill="none">
                <a:moveTo>
                  <a:pt x="62890" y="0"/>
                </a:moveTo>
                <a:lnTo>
                  <a:pt x="0" y="43025"/>
                </a:lnTo>
                <a:lnTo>
                  <a:pt x="62890" y="86051"/>
                </a:lnTo>
              </a:path>
            </a:pathLst>
          </a:custGeom>
          <a:noFill/>
          <a:ln w="20320" cap="rnd">
            <a:solidFill>
              <a:srgbClr val="008577"/>
            </a:solidFill>
          </a:ln>
        </p:spPr>
      </p:sp>
      <p:sp>
        <p:nvSpPr>
          <p:cNvPr id="75" name="Editable vector 75"/>
          <p:cNvSpPr/>
          <p:nvPr/>
        </p:nvSpPr>
        <p:spPr>
          <a:xfrm>
            <a:off x="3103880" y="5207000"/>
            <a:ext cx="137160" cy="5080"/>
          </a:xfrm>
          <a:custGeom>
            <a:avLst/>
            <a:gdLst/>
            <a:ahLst/>
            <a:cxnLst/>
            <a:rect l="0" t="0" r="r" b="b"/>
            <a:pathLst>
              <a:path w="137160" h="5080" fill="none">
                <a:moveTo>
                  <a:pt x="137160" y="0"/>
                </a:moveTo>
                <a:lnTo>
                  <a:pt x="0" y="0"/>
                </a:lnTo>
              </a:path>
            </a:pathLst>
          </a:custGeom>
          <a:noFill/>
          <a:ln w="20320" cap="rnd">
            <a:solidFill>
              <a:srgbClr val="008577"/>
            </a:solidFill>
          </a:ln>
        </p:spPr>
      </p:sp>
      <p:sp>
        <p:nvSpPr>
          <p:cNvPr id="76" name="Editable vector 76"/>
          <p:cNvSpPr/>
          <p:nvPr/>
        </p:nvSpPr>
        <p:spPr>
          <a:xfrm>
            <a:off x="3103880" y="5163974"/>
            <a:ext cx="62890" cy="86051"/>
          </a:xfrm>
          <a:custGeom>
            <a:avLst/>
            <a:gdLst/>
            <a:ahLst/>
            <a:cxnLst/>
            <a:rect l="0" t="0" r="r" b="b"/>
            <a:pathLst>
              <a:path w="62890" h="86051" fill="none">
                <a:moveTo>
                  <a:pt x="62890" y="0"/>
                </a:moveTo>
                <a:lnTo>
                  <a:pt x="0" y="43025"/>
                </a:lnTo>
                <a:lnTo>
                  <a:pt x="62890" y="86051"/>
                </a:lnTo>
              </a:path>
            </a:pathLst>
          </a:custGeom>
          <a:noFill/>
          <a:ln w="20320" cap="rnd">
            <a:solidFill>
              <a:srgbClr val="008577"/>
            </a:solidFill>
          </a:ln>
        </p:spPr>
      </p:sp>
      <p:sp>
        <p:nvSpPr>
          <p:cNvPr id="77" name="Editable vector 77"/>
          <p:cNvSpPr/>
          <p:nvPr/>
        </p:nvSpPr>
        <p:spPr>
          <a:xfrm>
            <a:off x="1711960" y="5943600"/>
            <a:ext cx="8763000" cy="304800"/>
          </a:xfrm>
          <a:custGeom>
            <a:avLst/>
            <a:gdLst/>
            <a:ahLst/>
            <a:cxnLst/>
            <a:rect l="0" t="0" r="r" b="b"/>
            <a:pathLst>
              <a:path w="8763000" h="304800" fill="none">
                <a:moveTo>
                  <a:pt x="0" y="0"/>
                </a:moveTo>
                <a:lnTo>
                  <a:pt x="0" y="304800"/>
                </a:lnTo>
                <a:lnTo>
                  <a:pt x="8763000" y="304800"/>
                </a:lnTo>
              </a:path>
            </a:pathLst>
          </a:custGeom>
          <a:noFill/>
          <a:ln w="15240" cap="rnd">
            <a:solidFill>
              <a:srgbClr val="008577"/>
            </a:solidFill>
          </a:ln>
        </p:spPr>
      </p:sp>
      <p:sp>
        <p:nvSpPr>
          <p:cNvPr id="78" name="Editable vector 78"/>
          <p:cNvSpPr/>
          <p:nvPr/>
        </p:nvSpPr>
        <p:spPr>
          <a:xfrm>
            <a:off x="10474960" y="5994400"/>
            <a:ext cx="5080" cy="254000"/>
          </a:xfrm>
          <a:custGeom>
            <a:avLst/>
            <a:gdLst/>
            <a:ahLst/>
            <a:cxnLst/>
            <a:rect l="0" t="0" r="r" b="b"/>
            <a:pathLst>
              <a:path w="5080" h="254000" fill="none">
                <a:moveTo>
                  <a:pt x="0" y="254000"/>
                </a:moveTo>
                <a:lnTo>
                  <a:pt x="0" y="0"/>
                </a:lnTo>
              </a:path>
            </a:pathLst>
          </a:custGeom>
          <a:noFill/>
          <a:ln w="15240" cap="rnd">
            <a:solidFill>
              <a:srgbClr val="008577"/>
            </a:solidFill>
          </a:ln>
        </p:spPr>
      </p:sp>
      <p:sp>
        <p:nvSpPr>
          <p:cNvPr id="79" name="Editable vector 79"/>
          <p:cNvSpPr/>
          <p:nvPr/>
        </p:nvSpPr>
        <p:spPr>
          <a:xfrm>
            <a:off x="10431934" y="5994400"/>
            <a:ext cx="86051" cy="62890"/>
          </a:xfrm>
          <a:custGeom>
            <a:avLst/>
            <a:gdLst/>
            <a:ahLst/>
            <a:cxnLst/>
            <a:rect l="0" t="0" r="r" b="b"/>
            <a:pathLst>
              <a:path w="86051" h="62890" fill="none">
                <a:moveTo>
                  <a:pt x="86051" y="62890"/>
                </a:moveTo>
                <a:lnTo>
                  <a:pt x="43025" y="0"/>
                </a:lnTo>
                <a:lnTo>
                  <a:pt x="0" y="62890"/>
                </a:lnTo>
              </a:path>
            </a:pathLst>
          </a:custGeom>
          <a:noFill/>
          <a:ln w="15240" cap="rnd">
            <a:solidFill>
              <a:srgbClr val="008577"/>
            </a:solidFill>
          </a:ln>
        </p:spPr>
      </p:sp>
      <p:sp>
        <p:nvSpPr>
          <p:cNvPr id="80" name="Editable shape 80"/>
          <p:cNvSpPr/>
          <p:nvPr/>
        </p:nvSpPr>
        <p:spPr>
          <a:xfrm>
            <a:off x="4368800" y="6121400"/>
            <a:ext cx="36576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81" name="Assay-guided redesign"/>
          <p:cNvSpPr txBox="1"/>
          <p:nvPr/>
        </p:nvSpPr>
        <p:spPr>
          <a:xfrm>
            <a:off x="4470400" y="6131560"/>
            <a:ext cx="3454400" cy="2590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1360" b="1" lang="en-US">
                <a:solidFill>
                  <a:srgbClr val="008577"/>
                </a:solidFill>
                <a:latin typeface="Arial"/>
              </a:rPr>
              <a:t>Assay-guided redesign</a:t>
            </a:r>
          </a:p>
        </p:txBody>
      </p:sp>
      <p:sp>
        <p:nvSpPr>
          <p:cNvPr id="82" name="Blue: computational design"/>
          <p:cNvSpPr txBox="1"/>
          <p:nvPr/>
        </p:nvSpPr>
        <p:spPr>
          <a:xfrm>
            <a:off x="355600" y="6553200"/>
            <a:ext cx="2021840" cy="2514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20" b="0" lang="en-US">
                <a:solidFill>
                  <a:srgbClr val="0072B2"/>
                </a:solidFill>
                <a:latin typeface="Arial"/>
              </a:rPr>
              <a:t>Blue: computational design</a:t>
            </a:r>
          </a:p>
        </p:txBody>
      </p:sp>
      <p:sp>
        <p:nvSpPr>
          <p:cNvPr id="83" name="Green: experimental assessment"/>
          <p:cNvSpPr txBox="1"/>
          <p:nvPr/>
        </p:nvSpPr>
        <p:spPr>
          <a:xfrm>
            <a:off x="4064000" y="6553200"/>
            <a:ext cx="2479040" cy="2514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320" b="0" lang="en-US">
                <a:solidFill>
                  <a:srgbClr val="008577"/>
                </a:solidFill>
                <a:latin typeface="Arial"/>
              </a:rPr>
              <a:t>Green: experimental assessment</a:t>
            </a:r>
          </a:p>
        </p:txBody>
      </p:sp>
    </p:spTree>
  </p:cSld>
  <p:clrMapOvr>
    <a:masterClrMapping/>
  </p:clrMapOvr>
</p:sld>
</file>