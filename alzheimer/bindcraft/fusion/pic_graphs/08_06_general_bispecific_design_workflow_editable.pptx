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1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Master" Target="slideMasters/slideMaster1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3" name="Editable shape 3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" name="FROM TARGETS TO A BISPECIFIC"/>
          <p:cNvSpPr txBox="1"/>
          <p:nvPr/>
        </p:nvSpPr>
        <p:spPr>
          <a:xfrm>
            <a:off x="365760" y="177800"/>
            <a:ext cx="2219642" cy="1981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040" b="1" lang="en-US">
                <a:solidFill>
                  <a:srgbClr val="0072B2"/>
                </a:solidFill>
                <a:latin typeface="Arial"/>
              </a:rPr>
              <a:t>FROM TARGETS TO A BISPECIFIC</a:t>
            </a:r>
          </a:p>
        </p:txBody>
      </p:sp>
      <p:sp>
        <p:nvSpPr>
          <p:cNvPr id="5" name="AI-designed binders &amp; antibodies"/>
          <p:cNvSpPr txBox="1"/>
          <p:nvPr/>
        </p:nvSpPr>
        <p:spPr>
          <a:xfrm>
            <a:off x="365760" y="406400"/>
            <a:ext cx="5567680" cy="518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2720" b="1" lang="en-US">
                <a:solidFill>
                  <a:srgbClr val="17324D"/>
                </a:solidFill>
                <a:latin typeface="Arial"/>
              </a:rPr>
              <a:t>AI-designed binders &amp; antibodies</a:t>
            </a:r>
          </a:p>
        </p:txBody>
      </p:sp>
      <p:sp>
        <p:nvSpPr>
          <p:cNvPr id="6" name="Design each arm  •  Choose a format  •  Test dual binding"/>
          <p:cNvSpPr txBox="1"/>
          <p:nvPr/>
        </p:nvSpPr>
        <p:spPr>
          <a:xfrm>
            <a:off x="375920" y="828040"/>
            <a:ext cx="4221083" cy="24384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80" b="0" lang="en-US">
                <a:solidFill>
                  <a:srgbClr val="617588"/>
                </a:solidFill>
                <a:latin typeface="Arial"/>
              </a:rPr>
              <a:t>Design each arm  •  Choose a format  •  Test dual binding</a:t>
            </a:r>
          </a:p>
        </p:txBody>
      </p:sp>
      <p:sp>
        <p:nvSpPr>
          <p:cNvPr id="7" name="01"/>
          <p:cNvSpPr txBox="1"/>
          <p:nvPr/>
        </p:nvSpPr>
        <p:spPr>
          <a:xfrm>
            <a:off x="330200" y="1356360"/>
            <a:ext cx="21336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00" b="1" lang="en-US">
                <a:solidFill>
                  <a:srgbClr val="0072B2"/>
                </a:solidFill>
                <a:latin typeface="Arial"/>
              </a:rPr>
              <a:t>01</a:t>
            </a:r>
          </a:p>
        </p:txBody>
      </p:sp>
      <p:sp>
        <p:nvSpPr>
          <p:cNvPr id="8" name="Targets"/>
          <p:cNvSpPr txBox="1"/>
          <p:nvPr/>
        </p:nvSpPr>
        <p:spPr>
          <a:xfrm>
            <a:off x="330200" y="1574800"/>
            <a:ext cx="843041" cy="335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760" b="1" lang="en-US">
                <a:solidFill>
                  <a:srgbClr val="17324D"/>
                </a:solidFill>
                <a:latin typeface="Arial"/>
              </a:rPr>
              <a:t>Targets</a:t>
            </a:r>
          </a:p>
        </p:txBody>
      </p:sp>
      <p:sp>
        <p:nvSpPr>
          <p:cNvPr id="9" name="Editable shape 9"/>
          <p:cNvSpPr/>
          <p:nvPr/>
        </p:nvSpPr>
        <p:spPr>
          <a:xfrm>
            <a:off x="330200" y="1955800"/>
            <a:ext cx="1752600" cy="3505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AF1"/>
            </a:solidFill>
          </a:ln>
        </p:spPr>
      </p:sp>
      <p:sp>
        <p:nvSpPr>
          <p:cNvPr id="10" name="Editable vector 10"/>
          <p:cNvSpPr/>
          <p:nvPr/>
        </p:nvSpPr>
        <p:spPr>
          <a:xfrm>
            <a:off x="2113280" y="3708400"/>
            <a:ext cx="116840" cy="5080"/>
          </a:xfrm>
          <a:custGeom>
            <a:avLst/>
            <a:gdLst/>
            <a:ahLst/>
            <a:cxnLst/>
            <a:rect l="0" t="0" r="r" b="b"/>
            <a:pathLst>
              <a:path w="116840" h="5080" fill="none">
                <a:moveTo>
                  <a:pt x="0" y="0"/>
                </a:moveTo>
                <a:lnTo>
                  <a:pt x="116840" y="0"/>
                </a:lnTo>
              </a:path>
            </a:pathLst>
          </a:custGeom>
          <a:noFill/>
          <a:ln w="25400" cap="rnd">
            <a:solidFill>
              <a:srgbClr val="617588"/>
            </a:solidFill>
          </a:ln>
        </p:spPr>
      </p:sp>
      <p:sp>
        <p:nvSpPr>
          <p:cNvPr id="11" name="Editable vector 11"/>
          <p:cNvSpPr/>
          <p:nvPr/>
        </p:nvSpPr>
        <p:spPr>
          <a:xfrm>
            <a:off x="2167229" y="3665374"/>
            <a:ext cx="62890" cy="86051"/>
          </a:xfrm>
          <a:custGeom>
            <a:avLst/>
            <a:gdLst/>
            <a:ahLst/>
            <a:cxnLst/>
            <a:rect l="0" t="0" r="r" b="b"/>
            <a:pathLst>
              <a:path w="62890" h="86051" fill="none">
                <a:moveTo>
                  <a:pt x="0" y="86051"/>
                </a:moveTo>
                <a:lnTo>
                  <a:pt x="62890" y="43025"/>
                </a:lnTo>
                <a:lnTo>
                  <a:pt x="0" y="0"/>
                </a:lnTo>
              </a:path>
            </a:pathLst>
          </a:custGeom>
          <a:noFill/>
          <a:ln w="25400" cap="rnd">
            <a:solidFill>
              <a:srgbClr val="617588"/>
            </a:solidFill>
          </a:ln>
        </p:spPr>
      </p:sp>
      <p:sp>
        <p:nvSpPr>
          <p:cNvPr id="12" name="02"/>
          <p:cNvSpPr txBox="1"/>
          <p:nvPr/>
        </p:nvSpPr>
        <p:spPr>
          <a:xfrm>
            <a:off x="2260600" y="1356360"/>
            <a:ext cx="21336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00" b="1" lang="en-US">
                <a:solidFill>
                  <a:srgbClr val="0072B2"/>
                </a:solidFill>
                <a:latin typeface="Arial"/>
              </a:rPr>
              <a:t>02</a:t>
            </a:r>
          </a:p>
        </p:txBody>
      </p:sp>
      <p:sp>
        <p:nvSpPr>
          <p:cNvPr id="13" name="Design"/>
          <p:cNvSpPr txBox="1"/>
          <p:nvPr/>
        </p:nvSpPr>
        <p:spPr>
          <a:xfrm>
            <a:off x="2260600" y="1574800"/>
            <a:ext cx="782320" cy="335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760" b="1" lang="en-US">
                <a:solidFill>
                  <a:srgbClr val="17324D"/>
                </a:solidFill>
                <a:latin typeface="Arial"/>
              </a:rPr>
              <a:t>Design</a:t>
            </a:r>
          </a:p>
        </p:txBody>
      </p:sp>
      <p:sp>
        <p:nvSpPr>
          <p:cNvPr id="14" name="Editable shape 14"/>
          <p:cNvSpPr/>
          <p:nvPr/>
        </p:nvSpPr>
        <p:spPr>
          <a:xfrm>
            <a:off x="2260600" y="1955800"/>
            <a:ext cx="1752600" cy="3505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AF1"/>
            </a:solidFill>
          </a:ln>
        </p:spPr>
      </p:sp>
      <p:sp>
        <p:nvSpPr>
          <p:cNvPr id="15" name="Editable vector 15"/>
          <p:cNvSpPr/>
          <p:nvPr/>
        </p:nvSpPr>
        <p:spPr>
          <a:xfrm>
            <a:off x="4043680" y="3708400"/>
            <a:ext cx="116840" cy="5080"/>
          </a:xfrm>
          <a:custGeom>
            <a:avLst/>
            <a:gdLst/>
            <a:ahLst/>
            <a:cxnLst/>
            <a:rect l="0" t="0" r="r" b="b"/>
            <a:pathLst>
              <a:path w="116840" h="5080" fill="none">
                <a:moveTo>
                  <a:pt x="0" y="0"/>
                </a:moveTo>
                <a:lnTo>
                  <a:pt x="116840" y="0"/>
                </a:lnTo>
              </a:path>
            </a:pathLst>
          </a:custGeom>
          <a:noFill/>
          <a:ln w="25400" cap="rnd">
            <a:solidFill>
              <a:srgbClr val="617588"/>
            </a:solidFill>
          </a:ln>
        </p:spPr>
      </p:sp>
      <p:sp>
        <p:nvSpPr>
          <p:cNvPr id="16" name="Editable vector 16"/>
          <p:cNvSpPr/>
          <p:nvPr/>
        </p:nvSpPr>
        <p:spPr>
          <a:xfrm>
            <a:off x="4097629" y="3665374"/>
            <a:ext cx="62890" cy="86051"/>
          </a:xfrm>
          <a:custGeom>
            <a:avLst/>
            <a:gdLst/>
            <a:ahLst/>
            <a:cxnLst/>
            <a:rect l="0" t="0" r="r" b="b"/>
            <a:pathLst>
              <a:path w="62890" h="86051" fill="none">
                <a:moveTo>
                  <a:pt x="0" y="86051"/>
                </a:moveTo>
                <a:lnTo>
                  <a:pt x="62890" y="43025"/>
                </a:lnTo>
                <a:lnTo>
                  <a:pt x="0" y="0"/>
                </a:lnTo>
              </a:path>
            </a:pathLst>
          </a:custGeom>
          <a:noFill/>
          <a:ln w="25400" cap="rnd">
            <a:solidFill>
              <a:srgbClr val="617588"/>
            </a:solidFill>
          </a:ln>
        </p:spPr>
      </p:sp>
      <p:sp>
        <p:nvSpPr>
          <p:cNvPr id="17" name="03"/>
          <p:cNvSpPr txBox="1"/>
          <p:nvPr/>
        </p:nvSpPr>
        <p:spPr>
          <a:xfrm>
            <a:off x="4191000" y="1356360"/>
            <a:ext cx="21336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00" b="1" lang="en-US">
                <a:solidFill>
                  <a:srgbClr val="0072B2"/>
                </a:solidFill>
                <a:latin typeface="Arial"/>
              </a:rPr>
              <a:t>03</a:t>
            </a:r>
          </a:p>
        </p:txBody>
      </p:sp>
      <p:sp>
        <p:nvSpPr>
          <p:cNvPr id="18" name="Screen"/>
          <p:cNvSpPr txBox="1"/>
          <p:nvPr/>
        </p:nvSpPr>
        <p:spPr>
          <a:xfrm>
            <a:off x="4191000" y="1574800"/>
            <a:ext cx="777240" cy="335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760" b="1" lang="en-US">
                <a:solidFill>
                  <a:srgbClr val="17324D"/>
                </a:solidFill>
                <a:latin typeface="Arial"/>
              </a:rPr>
              <a:t>Screen</a:t>
            </a:r>
          </a:p>
        </p:txBody>
      </p:sp>
      <p:sp>
        <p:nvSpPr>
          <p:cNvPr id="19" name="Editable shape 19"/>
          <p:cNvSpPr/>
          <p:nvPr/>
        </p:nvSpPr>
        <p:spPr>
          <a:xfrm>
            <a:off x="4191000" y="1955800"/>
            <a:ext cx="1752600" cy="3505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AF1"/>
            </a:solidFill>
          </a:ln>
        </p:spPr>
      </p:sp>
      <p:sp>
        <p:nvSpPr>
          <p:cNvPr id="20" name="Editable vector 20"/>
          <p:cNvSpPr/>
          <p:nvPr/>
        </p:nvSpPr>
        <p:spPr>
          <a:xfrm>
            <a:off x="5974080" y="3708400"/>
            <a:ext cx="116840" cy="5080"/>
          </a:xfrm>
          <a:custGeom>
            <a:avLst/>
            <a:gdLst/>
            <a:ahLst/>
            <a:cxnLst/>
            <a:rect l="0" t="0" r="r" b="b"/>
            <a:pathLst>
              <a:path w="116840" h="5080" fill="none">
                <a:moveTo>
                  <a:pt x="0" y="0"/>
                </a:moveTo>
                <a:lnTo>
                  <a:pt x="116840" y="0"/>
                </a:lnTo>
              </a:path>
            </a:pathLst>
          </a:custGeom>
          <a:noFill/>
          <a:ln w="25400" cap="rnd">
            <a:solidFill>
              <a:srgbClr val="617588"/>
            </a:solidFill>
          </a:ln>
        </p:spPr>
      </p:sp>
      <p:sp>
        <p:nvSpPr>
          <p:cNvPr id="21" name="Editable vector 21"/>
          <p:cNvSpPr/>
          <p:nvPr/>
        </p:nvSpPr>
        <p:spPr>
          <a:xfrm>
            <a:off x="6028029" y="3665374"/>
            <a:ext cx="62890" cy="86051"/>
          </a:xfrm>
          <a:custGeom>
            <a:avLst/>
            <a:gdLst/>
            <a:ahLst/>
            <a:cxnLst/>
            <a:rect l="0" t="0" r="r" b="b"/>
            <a:pathLst>
              <a:path w="62890" h="86051" fill="none">
                <a:moveTo>
                  <a:pt x="0" y="86051"/>
                </a:moveTo>
                <a:lnTo>
                  <a:pt x="62890" y="43025"/>
                </a:lnTo>
                <a:lnTo>
                  <a:pt x="0" y="0"/>
                </a:lnTo>
              </a:path>
            </a:pathLst>
          </a:custGeom>
          <a:noFill/>
          <a:ln w="25400" cap="rnd">
            <a:solidFill>
              <a:srgbClr val="617588"/>
            </a:solidFill>
          </a:ln>
        </p:spPr>
      </p:sp>
      <p:sp>
        <p:nvSpPr>
          <p:cNvPr id="22" name="04"/>
          <p:cNvSpPr txBox="1"/>
          <p:nvPr/>
        </p:nvSpPr>
        <p:spPr>
          <a:xfrm>
            <a:off x="6121400" y="1356360"/>
            <a:ext cx="21336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00" b="1" lang="en-US">
                <a:solidFill>
                  <a:srgbClr val="0072B2"/>
                </a:solidFill>
                <a:latin typeface="Arial"/>
              </a:rPr>
              <a:t>04</a:t>
            </a:r>
          </a:p>
        </p:txBody>
      </p:sp>
      <p:sp>
        <p:nvSpPr>
          <p:cNvPr id="23" name="Assemble"/>
          <p:cNvSpPr txBox="1"/>
          <p:nvPr/>
        </p:nvSpPr>
        <p:spPr>
          <a:xfrm>
            <a:off x="6121400" y="1574800"/>
            <a:ext cx="1087120" cy="335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760" b="1" lang="en-US">
                <a:solidFill>
                  <a:srgbClr val="17324D"/>
                </a:solidFill>
                <a:latin typeface="Arial"/>
              </a:rPr>
              <a:t>Assemble</a:t>
            </a:r>
          </a:p>
        </p:txBody>
      </p:sp>
      <p:sp>
        <p:nvSpPr>
          <p:cNvPr id="24" name="Editable shape 24"/>
          <p:cNvSpPr/>
          <p:nvPr/>
        </p:nvSpPr>
        <p:spPr>
          <a:xfrm>
            <a:off x="6121400" y="1955800"/>
            <a:ext cx="1752600" cy="3505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AF1"/>
            </a:solidFill>
          </a:ln>
        </p:spPr>
      </p:sp>
      <p:sp>
        <p:nvSpPr>
          <p:cNvPr id="25" name="Editable vector 25"/>
          <p:cNvSpPr/>
          <p:nvPr/>
        </p:nvSpPr>
        <p:spPr>
          <a:xfrm>
            <a:off x="7904480" y="3708400"/>
            <a:ext cx="116840" cy="5080"/>
          </a:xfrm>
          <a:custGeom>
            <a:avLst/>
            <a:gdLst/>
            <a:ahLst/>
            <a:cxnLst/>
            <a:rect l="0" t="0" r="r" b="b"/>
            <a:pathLst>
              <a:path w="116840" h="5080" fill="none">
                <a:moveTo>
                  <a:pt x="0" y="0"/>
                </a:moveTo>
                <a:lnTo>
                  <a:pt x="116840" y="0"/>
                </a:lnTo>
              </a:path>
            </a:pathLst>
          </a:custGeom>
          <a:noFill/>
          <a:ln w="25400" cap="rnd">
            <a:solidFill>
              <a:srgbClr val="617588"/>
            </a:solidFill>
          </a:ln>
        </p:spPr>
      </p:sp>
      <p:sp>
        <p:nvSpPr>
          <p:cNvPr id="26" name="Editable vector 26"/>
          <p:cNvSpPr/>
          <p:nvPr/>
        </p:nvSpPr>
        <p:spPr>
          <a:xfrm>
            <a:off x="7958429" y="3665374"/>
            <a:ext cx="62890" cy="86051"/>
          </a:xfrm>
          <a:custGeom>
            <a:avLst/>
            <a:gdLst/>
            <a:ahLst/>
            <a:cxnLst/>
            <a:rect l="0" t="0" r="r" b="b"/>
            <a:pathLst>
              <a:path w="62890" h="86051" fill="none">
                <a:moveTo>
                  <a:pt x="0" y="86051"/>
                </a:moveTo>
                <a:lnTo>
                  <a:pt x="62890" y="43025"/>
                </a:lnTo>
                <a:lnTo>
                  <a:pt x="0" y="0"/>
                </a:lnTo>
              </a:path>
            </a:pathLst>
          </a:custGeom>
          <a:noFill/>
          <a:ln w="25400" cap="rnd">
            <a:solidFill>
              <a:srgbClr val="617588"/>
            </a:solidFill>
          </a:ln>
        </p:spPr>
      </p:sp>
      <p:sp>
        <p:nvSpPr>
          <p:cNvPr id="27" name="05"/>
          <p:cNvSpPr txBox="1"/>
          <p:nvPr/>
        </p:nvSpPr>
        <p:spPr>
          <a:xfrm>
            <a:off x="8051800" y="1356360"/>
            <a:ext cx="21336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00" b="1" lang="en-US">
                <a:solidFill>
                  <a:srgbClr val="0072B2"/>
                </a:solidFill>
                <a:latin typeface="Arial"/>
              </a:rPr>
              <a:t>05</a:t>
            </a:r>
          </a:p>
        </p:txBody>
      </p:sp>
      <p:sp>
        <p:nvSpPr>
          <p:cNvPr id="28" name="Predict"/>
          <p:cNvSpPr txBox="1"/>
          <p:nvPr/>
        </p:nvSpPr>
        <p:spPr>
          <a:xfrm>
            <a:off x="8051800" y="1574800"/>
            <a:ext cx="792480" cy="335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760" b="1" lang="en-US">
                <a:solidFill>
                  <a:srgbClr val="17324D"/>
                </a:solidFill>
                <a:latin typeface="Arial"/>
              </a:rPr>
              <a:t>Predict</a:t>
            </a:r>
          </a:p>
        </p:txBody>
      </p:sp>
      <p:sp>
        <p:nvSpPr>
          <p:cNvPr id="29" name="Editable shape 29"/>
          <p:cNvSpPr/>
          <p:nvPr/>
        </p:nvSpPr>
        <p:spPr>
          <a:xfrm>
            <a:off x="8051800" y="1955800"/>
            <a:ext cx="1752600" cy="3505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AF1"/>
            </a:solidFill>
          </a:ln>
        </p:spPr>
      </p:sp>
      <p:sp>
        <p:nvSpPr>
          <p:cNvPr id="30" name="Editable vector 30"/>
          <p:cNvSpPr/>
          <p:nvPr/>
        </p:nvSpPr>
        <p:spPr>
          <a:xfrm>
            <a:off x="9834880" y="3708400"/>
            <a:ext cx="116840" cy="5080"/>
          </a:xfrm>
          <a:custGeom>
            <a:avLst/>
            <a:gdLst/>
            <a:ahLst/>
            <a:cxnLst/>
            <a:rect l="0" t="0" r="r" b="b"/>
            <a:pathLst>
              <a:path w="116840" h="5080" fill="none">
                <a:moveTo>
                  <a:pt x="0" y="0"/>
                </a:moveTo>
                <a:lnTo>
                  <a:pt x="116840" y="0"/>
                </a:lnTo>
              </a:path>
            </a:pathLst>
          </a:custGeom>
          <a:noFill/>
          <a:ln w="25400" cap="rnd">
            <a:solidFill>
              <a:srgbClr val="617588"/>
            </a:solidFill>
          </a:ln>
        </p:spPr>
      </p:sp>
      <p:sp>
        <p:nvSpPr>
          <p:cNvPr id="31" name="Editable vector 31"/>
          <p:cNvSpPr/>
          <p:nvPr/>
        </p:nvSpPr>
        <p:spPr>
          <a:xfrm>
            <a:off x="9888829" y="3665374"/>
            <a:ext cx="62890" cy="86051"/>
          </a:xfrm>
          <a:custGeom>
            <a:avLst/>
            <a:gdLst/>
            <a:ahLst/>
            <a:cxnLst/>
            <a:rect l="0" t="0" r="r" b="b"/>
            <a:pathLst>
              <a:path w="62890" h="86051" fill="none">
                <a:moveTo>
                  <a:pt x="0" y="86051"/>
                </a:moveTo>
                <a:lnTo>
                  <a:pt x="62890" y="43025"/>
                </a:lnTo>
                <a:lnTo>
                  <a:pt x="0" y="0"/>
                </a:lnTo>
              </a:path>
            </a:pathLst>
          </a:custGeom>
          <a:noFill/>
          <a:ln w="25400" cap="rnd">
            <a:solidFill>
              <a:srgbClr val="617588"/>
            </a:solidFill>
          </a:ln>
        </p:spPr>
      </p:sp>
      <p:sp>
        <p:nvSpPr>
          <p:cNvPr id="32" name="06"/>
          <p:cNvSpPr txBox="1"/>
          <p:nvPr/>
        </p:nvSpPr>
        <p:spPr>
          <a:xfrm>
            <a:off x="9982200" y="1356360"/>
            <a:ext cx="21336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00" b="1" lang="en-US">
                <a:solidFill>
                  <a:srgbClr val="0072B2"/>
                </a:solidFill>
                <a:latin typeface="Arial"/>
              </a:rPr>
              <a:t>06</a:t>
            </a:r>
          </a:p>
        </p:txBody>
      </p:sp>
      <p:sp>
        <p:nvSpPr>
          <p:cNvPr id="33" name="Validate"/>
          <p:cNvSpPr txBox="1"/>
          <p:nvPr/>
        </p:nvSpPr>
        <p:spPr>
          <a:xfrm>
            <a:off x="9982200" y="1574800"/>
            <a:ext cx="888841" cy="335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760" b="1" lang="en-US">
                <a:solidFill>
                  <a:srgbClr val="17324D"/>
                </a:solidFill>
                <a:latin typeface="Arial"/>
              </a:rPr>
              <a:t>Validate</a:t>
            </a:r>
          </a:p>
        </p:txBody>
      </p:sp>
      <p:sp>
        <p:nvSpPr>
          <p:cNvPr id="34" name="Editable shape 34"/>
          <p:cNvSpPr/>
          <p:nvPr/>
        </p:nvSpPr>
        <p:spPr>
          <a:xfrm>
            <a:off x="9982200" y="1955800"/>
            <a:ext cx="1752600" cy="3505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AF1"/>
            </a:solidFill>
          </a:ln>
        </p:spPr>
      </p:sp>
      <p:sp>
        <p:nvSpPr>
          <p:cNvPr id="35" name="Editable shape 35"/>
          <p:cNvSpPr/>
          <p:nvPr/>
        </p:nvSpPr>
        <p:spPr>
          <a:xfrm>
            <a:off x="472440" y="2529840"/>
            <a:ext cx="325120" cy="32512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36" name="Editable shape 36"/>
          <p:cNvSpPr/>
          <p:nvPr/>
        </p:nvSpPr>
        <p:spPr>
          <a:xfrm>
            <a:off x="660400" y="2387600"/>
            <a:ext cx="375920" cy="37592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37" name="Editable shape 37"/>
          <p:cNvSpPr/>
          <p:nvPr/>
        </p:nvSpPr>
        <p:spPr>
          <a:xfrm>
            <a:off x="838200" y="2606040"/>
            <a:ext cx="314960" cy="31496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38" name="Editable shape 38"/>
          <p:cNvSpPr/>
          <p:nvPr/>
        </p:nvSpPr>
        <p:spPr>
          <a:xfrm>
            <a:off x="604520" y="2707640"/>
            <a:ext cx="375920" cy="37592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39" name="Editable shape 39"/>
          <p:cNvSpPr/>
          <p:nvPr/>
        </p:nvSpPr>
        <p:spPr>
          <a:xfrm>
            <a:off x="1229360" y="3129280"/>
            <a:ext cx="325120" cy="325120"/>
          </a:xfrm>
          <a:prstGeom prst="ellipse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40" name="Editable shape 40"/>
          <p:cNvSpPr/>
          <p:nvPr/>
        </p:nvSpPr>
        <p:spPr>
          <a:xfrm>
            <a:off x="1417320" y="2987040"/>
            <a:ext cx="375920" cy="375920"/>
          </a:xfrm>
          <a:prstGeom prst="ellipse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41" name="Editable shape 41"/>
          <p:cNvSpPr/>
          <p:nvPr/>
        </p:nvSpPr>
        <p:spPr>
          <a:xfrm>
            <a:off x="1595120" y="3205480"/>
            <a:ext cx="314960" cy="314960"/>
          </a:xfrm>
          <a:prstGeom prst="ellipse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42" name="Editable shape 42"/>
          <p:cNvSpPr/>
          <p:nvPr/>
        </p:nvSpPr>
        <p:spPr>
          <a:xfrm>
            <a:off x="1361440" y="3307080"/>
            <a:ext cx="375920" cy="375920"/>
          </a:xfrm>
          <a:prstGeom prst="ellipse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43" name="A"/>
          <p:cNvSpPr txBox="1"/>
          <p:nvPr/>
        </p:nvSpPr>
        <p:spPr>
          <a:xfrm>
            <a:off x="508000" y="3200400"/>
            <a:ext cx="157480" cy="24384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80" b="1" lang="en-US">
                <a:solidFill>
                  <a:srgbClr val="0072B2"/>
                </a:solidFill>
                <a:latin typeface="Arial"/>
              </a:rPr>
              <a:t>A</a:t>
            </a:r>
          </a:p>
        </p:txBody>
      </p:sp>
      <p:sp>
        <p:nvSpPr>
          <p:cNvPr id="44" name="B"/>
          <p:cNvSpPr txBox="1"/>
          <p:nvPr/>
        </p:nvSpPr>
        <p:spPr>
          <a:xfrm>
            <a:off x="1651000" y="3764280"/>
            <a:ext cx="157480" cy="24384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80" b="1" lang="en-US">
                <a:solidFill>
                  <a:srgbClr val="008577"/>
                </a:solidFill>
                <a:latin typeface="Arial"/>
              </a:rPr>
              <a:t>B</a:t>
            </a:r>
          </a:p>
        </p:txBody>
      </p:sp>
      <p:sp>
        <p:nvSpPr>
          <p:cNvPr id="45" name="Structures + epitopes"/>
          <p:cNvSpPr txBox="1"/>
          <p:nvPr/>
        </p:nvSpPr>
        <p:spPr>
          <a:xfrm>
            <a:off x="452120" y="4216400"/>
            <a:ext cx="1524000" cy="2209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160" b="1" lang="en-US">
                <a:solidFill>
                  <a:srgbClr val="17324D"/>
                </a:solidFill>
                <a:latin typeface="Arial"/>
              </a:rPr>
              <a:t>Structures + epitopes</a:t>
            </a:r>
          </a:p>
        </p:txBody>
      </p:sp>
      <p:sp>
        <p:nvSpPr>
          <p:cNvPr id="46" name="Target A / Target B"/>
          <p:cNvSpPr txBox="1"/>
          <p:nvPr/>
        </p:nvSpPr>
        <p:spPr>
          <a:xfrm>
            <a:off x="452120" y="4521200"/>
            <a:ext cx="1524000" cy="2133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120" b="0" lang="en-US">
                <a:solidFill>
                  <a:srgbClr val="617588"/>
                </a:solidFill>
                <a:latin typeface="Arial"/>
              </a:rPr>
              <a:t>Target A / Target B</a:t>
            </a:r>
          </a:p>
        </p:txBody>
      </p:sp>
      <p:sp>
        <p:nvSpPr>
          <p:cNvPr id="47" name="Editable shape 47"/>
          <p:cNvSpPr/>
          <p:nvPr/>
        </p:nvSpPr>
        <p:spPr>
          <a:xfrm>
            <a:off x="2352040" y="2082800"/>
            <a:ext cx="1569720" cy="1447800"/>
          </a:xfrm>
          <a:prstGeom prst="roundRect">
            <a:avLst/>
          </a:prstGeom>
          <a:solidFill>
            <a:srgbClr val="EFF6FC"/>
          </a:solidFill>
          <a:ln>
            <a:noFill/>
          </a:ln>
        </p:spPr>
      </p:sp>
      <p:sp>
        <p:nvSpPr>
          <p:cNvPr id="48" name="Editable vector 48"/>
          <p:cNvSpPr/>
          <p:nvPr/>
        </p:nvSpPr>
        <p:spPr>
          <a:xfrm>
            <a:off x="2865120" y="2285297"/>
            <a:ext cx="497840" cy="221515"/>
          </a:xfrm>
          <a:custGeom>
            <a:avLst/>
            <a:gdLst/>
            <a:ahLst/>
            <a:cxnLst/>
            <a:rect l="0" t="0" r="r" b="b"/>
            <a:pathLst>
              <a:path w="497840" h="221515" fill="none">
                <a:moveTo>
                  <a:pt x="0" y="51502"/>
                </a:moveTo>
                <a:lnTo>
                  <a:pt x="14223" y="89921"/>
                </a:lnTo>
                <a:lnTo>
                  <a:pt x="28448" y="121258"/>
                </a:lnTo>
                <a:lnTo>
                  <a:pt x="42671" y="139839"/>
                </a:lnTo>
                <a:lnTo>
                  <a:pt x="56896" y="142530"/>
                </a:lnTo>
                <a:lnTo>
                  <a:pt x="71120" y="129363"/>
                </a:lnTo>
                <a:lnTo>
                  <a:pt x="85343" y="103525"/>
                </a:lnTo>
                <a:lnTo>
                  <a:pt x="99568" y="70728"/>
                </a:lnTo>
                <a:lnTo>
                  <a:pt x="113791" y="38067"/>
                </a:lnTo>
                <a:lnTo>
                  <a:pt x="128016" y="12613"/>
                </a:lnTo>
                <a:lnTo>
                  <a:pt x="142240" y="0"/>
                </a:lnTo>
                <a:lnTo>
                  <a:pt x="156463" y="3305"/>
                </a:lnTo>
                <a:lnTo>
                  <a:pt x="170688" y="22436"/>
                </a:lnTo>
                <a:lnTo>
                  <a:pt x="184911" y="54152"/>
                </a:lnTo>
                <a:lnTo>
                  <a:pt x="199136" y="92704"/>
                </a:lnTo>
                <a:lnTo>
                  <a:pt x="213360" y="130982"/>
                </a:lnTo>
                <a:lnTo>
                  <a:pt x="227583" y="161931"/>
                </a:lnTo>
                <a:lnTo>
                  <a:pt x="241808" y="179956"/>
                </a:lnTo>
                <a:lnTo>
                  <a:pt x="256031" y="182033"/>
                </a:lnTo>
                <a:lnTo>
                  <a:pt x="270256" y="168317"/>
                </a:lnTo>
                <a:lnTo>
                  <a:pt x="284480" y="142104"/>
                </a:lnTo>
                <a:lnTo>
                  <a:pt x="298703" y="109180"/>
                </a:lnTo>
                <a:lnTo>
                  <a:pt x="312928" y="76666"/>
                </a:lnTo>
                <a:lnTo>
                  <a:pt x="327151" y="51604"/>
                </a:lnTo>
                <a:lnTo>
                  <a:pt x="341376" y="39548"/>
                </a:lnTo>
                <a:lnTo>
                  <a:pt x="355600" y="43467"/>
                </a:lnTo>
                <a:lnTo>
                  <a:pt x="369823" y="63145"/>
                </a:lnTo>
                <a:lnTo>
                  <a:pt x="384048" y="95233"/>
                </a:lnTo>
                <a:lnTo>
                  <a:pt x="398271" y="133906"/>
                </a:lnTo>
                <a:lnTo>
                  <a:pt x="412496" y="172032"/>
                </a:lnTo>
                <a:lnTo>
                  <a:pt x="426720" y="202586"/>
                </a:lnTo>
                <a:lnTo>
                  <a:pt x="440943" y="220050"/>
                </a:lnTo>
                <a:lnTo>
                  <a:pt x="455168" y="221515"/>
                </a:lnTo>
                <a:lnTo>
                  <a:pt x="469391" y="207254"/>
                </a:lnTo>
                <a:lnTo>
                  <a:pt x="483616" y="180674"/>
                </a:lnTo>
                <a:lnTo>
                  <a:pt x="497840" y="147633"/>
                </a:lnTo>
              </a:path>
            </a:pathLst>
          </a:custGeom>
          <a:noFill/>
          <a:ln w="35560" cap="rnd">
            <a:solidFill>
              <a:srgbClr val="0072B2"/>
            </a:solidFill>
          </a:ln>
        </p:spPr>
      </p:sp>
      <p:sp>
        <p:nvSpPr>
          <p:cNvPr id="49" name="MINIPROTEIN"/>
          <p:cNvSpPr txBox="1"/>
          <p:nvPr/>
        </p:nvSpPr>
        <p:spPr>
          <a:xfrm>
            <a:off x="2402840" y="2712720"/>
            <a:ext cx="1468120" cy="1828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960" b="1" lang="en-US">
                <a:solidFill>
                  <a:srgbClr val="0072B2"/>
                </a:solidFill>
                <a:latin typeface="Arial"/>
              </a:rPr>
              <a:t>MINIPROTEIN</a:t>
            </a:r>
          </a:p>
        </p:txBody>
      </p:sp>
      <p:sp>
        <p:nvSpPr>
          <p:cNvPr id="50" name="RFdiffusion / BindCraft"/>
          <p:cNvSpPr txBox="1"/>
          <p:nvPr/>
        </p:nvSpPr>
        <p:spPr>
          <a:xfrm>
            <a:off x="2402840" y="2921000"/>
            <a:ext cx="1468120" cy="1981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040" b="1" lang="en-US">
                <a:solidFill>
                  <a:srgbClr val="17324D"/>
                </a:solidFill>
                <a:latin typeface="Arial"/>
              </a:rPr>
              <a:t>RFdiffusion / BindCraft</a:t>
            </a:r>
          </a:p>
        </p:txBody>
      </p:sp>
      <p:sp>
        <p:nvSpPr>
          <p:cNvPr id="51" name="ProteinMPNN"/>
          <p:cNvSpPr txBox="1"/>
          <p:nvPr/>
        </p:nvSpPr>
        <p:spPr>
          <a:xfrm>
            <a:off x="2402840" y="3149600"/>
            <a:ext cx="1468120" cy="2209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160" b="0" lang="en-US">
                <a:solidFill>
                  <a:srgbClr val="617588"/>
                </a:solidFill>
                <a:latin typeface="Arial"/>
              </a:rPr>
              <a:t>ProteinMPNN</a:t>
            </a:r>
          </a:p>
        </p:txBody>
      </p:sp>
      <p:sp>
        <p:nvSpPr>
          <p:cNvPr id="52" name="OR"/>
          <p:cNvSpPr txBox="1"/>
          <p:nvPr/>
        </p:nvSpPr>
        <p:spPr>
          <a:xfrm>
            <a:off x="2402840" y="3611880"/>
            <a:ext cx="1468120" cy="1752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920" b="0" lang="en-US">
                <a:solidFill>
                  <a:srgbClr val="617588"/>
                </a:solidFill>
                <a:latin typeface="Arial"/>
              </a:rPr>
              <a:t>OR</a:t>
            </a:r>
          </a:p>
        </p:txBody>
      </p:sp>
      <p:sp>
        <p:nvSpPr>
          <p:cNvPr id="53" name="Editable shape 53"/>
          <p:cNvSpPr/>
          <p:nvPr/>
        </p:nvSpPr>
        <p:spPr>
          <a:xfrm>
            <a:off x="2352040" y="3840480"/>
            <a:ext cx="1569720" cy="1498600"/>
          </a:xfrm>
          <a:prstGeom prst="roundRect">
            <a:avLst/>
          </a:prstGeom>
          <a:solidFill>
            <a:srgbClr val="EEF8F5"/>
          </a:solidFill>
          <a:ln>
            <a:noFill/>
          </a:ln>
        </p:spPr>
      </p:sp>
      <p:sp>
        <p:nvSpPr>
          <p:cNvPr id="54" name="Editable vector 54"/>
          <p:cNvSpPr/>
          <p:nvPr/>
        </p:nvSpPr>
        <p:spPr>
          <a:xfrm>
            <a:off x="2965704" y="4078224"/>
            <a:ext cx="158496" cy="330200"/>
          </a:xfrm>
          <a:custGeom>
            <a:avLst/>
            <a:gdLst/>
            <a:ahLst/>
            <a:cxnLst/>
            <a:rect l="0" t="0" r="r" b="b"/>
            <a:pathLst>
              <a:path w="158496" h="330200" fill="none">
                <a:moveTo>
                  <a:pt x="158496" y="330200"/>
                </a:moveTo>
                <a:lnTo>
                  <a:pt x="158496" y="158496"/>
                </a:lnTo>
                <a:lnTo>
                  <a:pt x="0" y="0"/>
                </a:lnTo>
              </a:path>
            </a:pathLst>
          </a:custGeom>
          <a:noFill/>
          <a:ln w="40640" cap="rnd">
            <a:solidFill>
              <a:srgbClr val="0072B2"/>
            </a:solidFill>
          </a:ln>
        </p:spPr>
      </p:sp>
      <p:sp>
        <p:nvSpPr>
          <p:cNvPr id="55" name="Editable vector 55"/>
          <p:cNvSpPr/>
          <p:nvPr/>
        </p:nvSpPr>
        <p:spPr>
          <a:xfrm>
            <a:off x="3124200" y="4078224"/>
            <a:ext cx="158496" cy="158496"/>
          </a:xfrm>
          <a:custGeom>
            <a:avLst/>
            <a:gdLst/>
            <a:ahLst/>
            <a:cxnLst/>
            <a:rect l="0" t="0" r="r" b="b"/>
            <a:pathLst>
              <a:path w="158496" h="158496" fill="none">
                <a:moveTo>
                  <a:pt x="0" y="158496"/>
                </a:moveTo>
                <a:lnTo>
                  <a:pt x="158496" y="0"/>
                </a:lnTo>
              </a:path>
            </a:pathLst>
          </a:custGeom>
          <a:noFill/>
          <a:ln w="40640" cap="rnd">
            <a:solidFill>
              <a:srgbClr val="008577"/>
            </a:solidFill>
          </a:ln>
        </p:spPr>
      </p:sp>
      <p:sp>
        <p:nvSpPr>
          <p:cNvPr id="56" name="Editable shape 56"/>
          <p:cNvSpPr/>
          <p:nvPr/>
        </p:nvSpPr>
        <p:spPr>
          <a:xfrm>
            <a:off x="2936646" y="4051808"/>
            <a:ext cx="58115" cy="58115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57" name="Editable shape 57"/>
          <p:cNvSpPr/>
          <p:nvPr/>
        </p:nvSpPr>
        <p:spPr>
          <a:xfrm>
            <a:off x="3253638" y="4051808"/>
            <a:ext cx="58115" cy="58115"/>
          </a:xfrm>
          <a:prstGeom prst="ellipse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58" name="ANTIBODY / VHH"/>
          <p:cNvSpPr txBox="1"/>
          <p:nvPr/>
        </p:nvSpPr>
        <p:spPr>
          <a:xfrm>
            <a:off x="2402840" y="4516120"/>
            <a:ext cx="1468120" cy="1828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960" b="1" lang="en-US">
                <a:solidFill>
                  <a:srgbClr val="008577"/>
                </a:solidFill>
                <a:latin typeface="Arial"/>
              </a:rPr>
              <a:t>ANTIBODY / VHH</a:t>
            </a:r>
          </a:p>
        </p:txBody>
      </p:sp>
      <p:sp>
        <p:nvSpPr>
          <p:cNvPr id="59" name="RFantibody"/>
          <p:cNvSpPr txBox="1"/>
          <p:nvPr/>
        </p:nvSpPr>
        <p:spPr>
          <a:xfrm>
            <a:off x="2402840" y="4724400"/>
            <a:ext cx="1468120" cy="2514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320" b="1" lang="en-US">
                <a:solidFill>
                  <a:srgbClr val="17324D"/>
                </a:solidFill>
                <a:latin typeface="Arial"/>
              </a:rPr>
              <a:t>RFantibody</a:t>
            </a:r>
          </a:p>
        </p:txBody>
      </p:sp>
      <p:sp>
        <p:nvSpPr>
          <p:cNvPr id="60" name="RFdiffusion-Ab · MPNN · RF2"/>
          <p:cNvSpPr txBox="1"/>
          <p:nvPr/>
        </p:nvSpPr>
        <p:spPr>
          <a:xfrm>
            <a:off x="2402840" y="4988560"/>
            <a:ext cx="1468120" cy="16764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880" b="0" lang="en-US">
                <a:solidFill>
                  <a:srgbClr val="617588"/>
                </a:solidFill>
                <a:latin typeface="Arial"/>
              </a:rPr>
              <a:t>RFdiffusion-Ab · MPNN · RF2</a:t>
            </a:r>
          </a:p>
        </p:txBody>
      </p:sp>
      <p:sp>
        <p:nvSpPr>
          <p:cNvPr id="61" name="Editable shape 61"/>
          <p:cNvSpPr/>
          <p:nvPr/>
        </p:nvSpPr>
        <p:spPr>
          <a:xfrm>
            <a:off x="4531360" y="2413000"/>
            <a:ext cx="101600" cy="10160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62" name="Editable shape 62"/>
          <p:cNvSpPr/>
          <p:nvPr/>
        </p:nvSpPr>
        <p:spPr>
          <a:xfrm>
            <a:off x="4724400" y="2413000"/>
            <a:ext cx="101600" cy="10160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63" name="Editable shape 63"/>
          <p:cNvSpPr/>
          <p:nvPr/>
        </p:nvSpPr>
        <p:spPr>
          <a:xfrm>
            <a:off x="4917440" y="2413000"/>
            <a:ext cx="101600" cy="10160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64" name="Editable shape 64"/>
          <p:cNvSpPr/>
          <p:nvPr/>
        </p:nvSpPr>
        <p:spPr>
          <a:xfrm>
            <a:off x="5110480" y="2413000"/>
            <a:ext cx="101600" cy="10160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65" name="Editable shape 65"/>
          <p:cNvSpPr/>
          <p:nvPr/>
        </p:nvSpPr>
        <p:spPr>
          <a:xfrm>
            <a:off x="5303520" y="2413000"/>
            <a:ext cx="101600" cy="10160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66" name="Editable shape 66"/>
          <p:cNvSpPr/>
          <p:nvPr/>
        </p:nvSpPr>
        <p:spPr>
          <a:xfrm>
            <a:off x="5496560" y="2413000"/>
            <a:ext cx="101600" cy="10160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67" name="Editable shape 67"/>
          <p:cNvSpPr/>
          <p:nvPr/>
        </p:nvSpPr>
        <p:spPr>
          <a:xfrm>
            <a:off x="4724400" y="2743200"/>
            <a:ext cx="101600" cy="10160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68" name="Editable shape 68"/>
          <p:cNvSpPr/>
          <p:nvPr/>
        </p:nvSpPr>
        <p:spPr>
          <a:xfrm>
            <a:off x="4917440" y="2743200"/>
            <a:ext cx="101600" cy="10160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69" name="Editable shape 69"/>
          <p:cNvSpPr/>
          <p:nvPr/>
        </p:nvSpPr>
        <p:spPr>
          <a:xfrm>
            <a:off x="5110480" y="2743200"/>
            <a:ext cx="101600" cy="10160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70" name="Editable shape 70"/>
          <p:cNvSpPr/>
          <p:nvPr/>
        </p:nvSpPr>
        <p:spPr>
          <a:xfrm>
            <a:off x="5303520" y="2743200"/>
            <a:ext cx="101600" cy="10160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71" name="Editable shape 71"/>
          <p:cNvSpPr/>
          <p:nvPr/>
        </p:nvSpPr>
        <p:spPr>
          <a:xfrm>
            <a:off x="4917440" y="3073400"/>
            <a:ext cx="101600" cy="101600"/>
          </a:xfrm>
          <a:prstGeom prst="ellipse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72" name="Editable shape 72"/>
          <p:cNvSpPr/>
          <p:nvPr/>
        </p:nvSpPr>
        <p:spPr>
          <a:xfrm>
            <a:off x="5110480" y="3073400"/>
            <a:ext cx="101600" cy="101600"/>
          </a:xfrm>
          <a:prstGeom prst="ellipse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73" name="Editable vector 73"/>
          <p:cNvSpPr/>
          <p:nvPr/>
        </p:nvSpPr>
        <p:spPr>
          <a:xfrm>
            <a:off x="4368800" y="3733800"/>
            <a:ext cx="157480" cy="127000"/>
          </a:xfrm>
          <a:custGeom>
            <a:avLst/>
            <a:gdLst/>
            <a:ahLst/>
            <a:cxnLst/>
            <a:rect l="0" t="0" r="r" b="b"/>
            <a:pathLst>
              <a:path w="157480" h="127000" fill="none">
                <a:moveTo>
                  <a:pt x="0" y="71120"/>
                </a:moveTo>
                <a:lnTo>
                  <a:pt x="55880" y="127000"/>
                </a:lnTo>
                <a:lnTo>
                  <a:pt x="157480" y="0"/>
                </a:lnTo>
              </a:path>
            </a:pathLst>
          </a:custGeom>
          <a:noFill/>
          <a:ln w="25400" cap="rnd">
            <a:solidFill>
              <a:srgbClr val="008577"/>
            </a:solidFill>
          </a:ln>
        </p:spPr>
      </p:sp>
      <p:sp>
        <p:nvSpPr>
          <p:cNvPr id="74" name="Fold"/>
          <p:cNvSpPr txBox="1"/>
          <p:nvPr/>
        </p:nvSpPr>
        <p:spPr>
          <a:xfrm>
            <a:off x="4638040" y="3718560"/>
            <a:ext cx="355600" cy="2209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160" b="1" lang="en-US">
                <a:solidFill>
                  <a:srgbClr val="17324D"/>
                </a:solidFill>
                <a:latin typeface="Arial"/>
              </a:rPr>
              <a:t>Fold</a:t>
            </a:r>
          </a:p>
        </p:txBody>
      </p:sp>
      <p:sp>
        <p:nvSpPr>
          <p:cNvPr id="75" name="Editable vector 75"/>
          <p:cNvSpPr/>
          <p:nvPr/>
        </p:nvSpPr>
        <p:spPr>
          <a:xfrm>
            <a:off x="4368800" y="4140200"/>
            <a:ext cx="157480" cy="127000"/>
          </a:xfrm>
          <a:custGeom>
            <a:avLst/>
            <a:gdLst/>
            <a:ahLst/>
            <a:cxnLst/>
            <a:rect l="0" t="0" r="r" b="b"/>
            <a:pathLst>
              <a:path w="157480" h="127000" fill="none">
                <a:moveTo>
                  <a:pt x="0" y="71120"/>
                </a:moveTo>
                <a:lnTo>
                  <a:pt x="55880" y="127000"/>
                </a:lnTo>
                <a:lnTo>
                  <a:pt x="157480" y="0"/>
                </a:lnTo>
              </a:path>
            </a:pathLst>
          </a:custGeom>
          <a:noFill/>
          <a:ln w="25400" cap="rnd">
            <a:solidFill>
              <a:srgbClr val="008577"/>
            </a:solidFill>
          </a:ln>
        </p:spPr>
      </p:sp>
      <p:sp>
        <p:nvSpPr>
          <p:cNvPr id="76" name="Interface"/>
          <p:cNvSpPr txBox="1"/>
          <p:nvPr/>
        </p:nvSpPr>
        <p:spPr>
          <a:xfrm>
            <a:off x="4638040" y="4124960"/>
            <a:ext cx="655320" cy="2209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160" b="1" lang="en-US">
                <a:solidFill>
                  <a:srgbClr val="17324D"/>
                </a:solidFill>
                <a:latin typeface="Arial"/>
              </a:rPr>
              <a:t>Interface</a:t>
            </a:r>
          </a:p>
        </p:txBody>
      </p:sp>
      <p:sp>
        <p:nvSpPr>
          <p:cNvPr id="77" name="Editable vector 77"/>
          <p:cNvSpPr/>
          <p:nvPr/>
        </p:nvSpPr>
        <p:spPr>
          <a:xfrm>
            <a:off x="4368800" y="4546600"/>
            <a:ext cx="157480" cy="127000"/>
          </a:xfrm>
          <a:custGeom>
            <a:avLst/>
            <a:gdLst/>
            <a:ahLst/>
            <a:cxnLst/>
            <a:rect l="0" t="0" r="r" b="b"/>
            <a:pathLst>
              <a:path w="157480" h="127000" fill="none">
                <a:moveTo>
                  <a:pt x="0" y="71120"/>
                </a:moveTo>
                <a:lnTo>
                  <a:pt x="55880" y="127000"/>
                </a:lnTo>
                <a:lnTo>
                  <a:pt x="157480" y="0"/>
                </a:lnTo>
              </a:path>
            </a:pathLst>
          </a:custGeom>
          <a:noFill/>
          <a:ln w="25400" cap="rnd">
            <a:solidFill>
              <a:srgbClr val="008577"/>
            </a:solidFill>
          </a:ln>
        </p:spPr>
      </p:sp>
      <p:sp>
        <p:nvSpPr>
          <p:cNvPr id="78" name="Developability"/>
          <p:cNvSpPr txBox="1"/>
          <p:nvPr/>
        </p:nvSpPr>
        <p:spPr>
          <a:xfrm>
            <a:off x="4638040" y="4531360"/>
            <a:ext cx="1041400" cy="2209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160" b="1" lang="en-US">
                <a:solidFill>
                  <a:srgbClr val="17324D"/>
                </a:solidFill>
                <a:latin typeface="Arial"/>
              </a:rPr>
              <a:t>Developability</a:t>
            </a:r>
          </a:p>
        </p:txBody>
      </p:sp>
      <p:sp>
        <p:nvSpPr>
          <p:cNvPr id="79" name="Editable vector 79"/>
          <p:cNvSpPr/>
          <p:nvPr/>
        </p:nvSpPr>
        <p:spPr>
          <a:xfrm>
            <a:off x="6393180" y="2542976"/>
            <a:ext cx="462280" cy="205692"/>
          </a:xfrm>
          <a:custGeom>
            <a:avLst/>
            <a:gdLst/>
            <a:ahLst/>
            <a:cxnLst/>
            <a:rect l="0" t="0" r="r" b="b"/>
            <a:pathLst>
              <a:path w="462280" h="205692" fill="none">
                <a:moveTo>
                  <a:pt x="0" y="47823"/>
                </a:moveTo>
                <a:lnTo>
                  <a:pt x="13207" y="83498"/>
                </a:lnTo>
                <a:lnTo>
                  <a:pt x="26416" y="112597"/>
                </a:lnTo>
                <a:lnTo>
                  <a:pt x="39623" y="129850"/>
                </a:lnTo>
                <a:lnTo>
                  <a:pt x="52832" y="132349"/>
                </a:lnTo>
                <a:lnTo>
                  <a:pt x="66040" y="120123"/>
                </a:lnTo>
                <a:lnTo>
                  <a:pt x="79247" y="96130"/>
                </a:lnTo>
                <a:lnTo>
                  <a:pt x="92456" y="65676"/>
                </a:lnTo>
                <a:lnTo>
                  <a:pt x="105663" y="35348"/>
                </a:lnTo>
                <a:lnTo>
                  <a:pt x="118872" y="11712"/>
                </a:lnTo>
                <a:lnTo>
                  <a:pt x="132080" y="0"/>
                </a:lnTo>
                <a:lnTo>
                  <a:pt x="145287" y="3068"/>
                </a:lnTo>
                <a:lnTo>
                  <a:pt x="158496" y="20834"/>
                </a:lnTo>
                <a:lnTo>
                  <a:pt x="171703" y="50284"/>
                </a:lnTo>
                <a:lnTo>
                  <a:pt x="184912" y="86082"/>
                </a:lnTo>
                <a:lnTo>
                  <a:pt x="198120" y="121626"/>
                </a:lnTo>
                <a:lnTo>
                  <a:pt x="211327" y="150365"/>
                </a:lnTo>
                <a:lnTo>
                  <a:pt x="224536" y="167102"/>
                </a:lnTo>
                <a:lnTo>
                  <a:pt x="237743" y="169031"/>
                </a:lnTo>
                <a:lnTo>
                  <a:pt x="250952" y="156294"/>
                </a:lnTo>
                <a:lnTo>
                  <a:pt x="264160" y="131954"/>
                </a:lnTo>
                <a:lnTo>
                  <a:pt x="277367" y="101381"/>
                </a:lnTo>
                <a:lnTo>
                  <a:pt x="290576" y="71190"/>
                </a:lnTo>
                <a:lnTo>
                  <a:pt x="303783" y="47918"/>
                </a:lnTo>
                <a:lnTo>
                  <a:pt x="316992" y="36723"/>
                </a:lnTo>
                <a:lnTo>
                  <a:pt x="330200" y="40362"/>
                </a:lnTo>
                <a:lnTo>
                  <a:pt x="343407" y="58635"/>
                </a:lnTo>
                <a:lnTo>
                  <a:pt x="356616" y="88430"/>
                </a:lnTo>
                <a:lnTo>
                  <a:pt x="369823" y="124341"/>
                </a:lnTo>
                <a:lnTo>
                  <a:pt x="383032" y="159744"/>
                </a:lnTo>
                <a:lnTo>
                  <a:pt x="396240" y="188115"/>
                </a:lnTo>
                <a:lnTo>
                  <a:pt x="409447" y="204332"/>
                </a:lnTo>
                <a:lnTo>
                  <a:pt x="422656" y="205692"/>
                </a:lnTo>
                <a:lnTo>
                  <a:pt x="435863" y="192450"/>
                </a:lnTo>
                <a:lnTo>
                  <a:pt x="449072" y="167768"/>
                </a:lnTo>
                <a:lnTo>
                  <a:pt x="462280" y="137087"/>
                </a:lnTo>
              </a:path>
            </a:pathLst>
          </a:custGeom>
          <a:noFill/>
          <a:ln w="30480" cap="rnd">
            <a:solidFill>
              <a:srgbClr val="0072B2"/>
            </a:solidFill>
          </a:ln>
        </p:spPr>
      </p:sp>
      <p:sp>
        <p:nvSpPr>
          <p:cNvPr id="80" name="Editable vector 80"/>
          <p:cNvSpPr/>
          <p:nvPr/>
        </p:nvSpPr>
        <p:spPr>
          <a:xfrm>
            <a:off x="7160260" y="2542976"/>
            <a:ext cx="462280" cy="205692"/>
          </a:xfrm>
          <a:custGeom>
            <a:avLst/>
            <a:gdLst/>
            <a:ahLst/>
            <a:cxnLst/>
            <a:rect l="0" t="0" r="r" b="b"/>
            <a:pathLst>
              <a:path w="462280" h="205692" fill="none">
                <a:moveTo>
                  <a:pt x="0" y="47823"/>
                </a:moveTo>
                <a:lnTo>
                  <a:pt x="13207" y="83498"/>
                </a:lnTo>
                <a:lnTo>
                  <a:pt x="26416" y="112597"/>
                </a:lnTo>
                <a:lnTo>
                  <a:pt x="39623" y="129850"/>
                </a:lnTo>
                <a:lnTo>
                  <a:pt x="52832" y="132349"/>
                </a:lnTo>
                <a:lnTo>
                  <a:pt x="66040" y="120123"/>
                </a:lnTo>
                <a:lnTo>
                  <a:pt x="79247" y="96130"/>
                </a:lnTo>
                <a:lnTo>
                  <a:pt x="92456" y="65676"/>
                </a:lnTo>
                <a:lnTo>
                  <a:pt x="105663" y="35348"/>
                </a:lnTo>
                <a:lnTo>
                  <a:pt x="118872" y="11712"/>
                </a:lnTo>
                <a:lnTo>
                  <a:pt x="132080" y="0"/>
                </a:lnTo>
                <a:lnTo>
                  <a:pt x="145287" y="3068"/>
                </a:lnTo>
                <a:lnTo>
                  <a:pt x="158496" y="20834"/>
                </a:lnTo>
                <a:lnTo>
                  <a:pt x="171703" y="50284"/>
                </a:lnTo>
                <a:lnTo>
                  <a:pt x="184912" y="86082"/>
                </a:lnTo>
                <a:lnTo>
                  <a:pt x="198120" y="121626"/>
                </a:lnTo>
                <a:lnTo>
                  <a:pt x="211327" y="150365"/>
                </a:lnTo>
                <a:lnTo>
                  <a:pt x="224536" y="167102"/>
                </a:lnTo>
                <a:lnTo>
                  <a:pt x="237743" y="169031"/>
                </a:lnTo>
                <a:lnTo>
                  <a:pt x="250952" y="156294"/>
                </a:lnTo>
                <a:lnTo>
                  <a:pt x="264160" y="131954"/>
                </a:lnTo>
                <a:lnTo>
                  <a:pt x="277367" y="101381"/>
                </a:lnTo>
                <a:lnTo>
                  <a:pt x="290576" y="71190"/>
                </a:lnTo>
                <a:lnTo>
                  <a:pt x="303783" y="47918"/>
                </a:lnTo>
                <a:lnTo>
                  <a:pt x="316992" y="36723"/>
                </a:lnTo>
                <a:lnTo>
                  <a:pt x="330200" y="40362"/>
                </a:lnTo>
                <a:lnTo>
                  <a:pt x="343407" y="58635"/>
                </a:lnTo>
                <a:lnTo>
                  <a:pt x="356616" y="88430"/>
                </a:lnTo>
                <a:lnTo>
                  <a:pt x="369823" y="124341"/>
                </a:lnTo>
                <a:lnTo>
                  <a:pt x="383032" y="159744"/>
                </a:lnTo>
                <a:lnTo>
                  <a:pt x="396240" y="188115"/>
                </a:lnTo>
                <a:lnTo>
                  <a:pt x="409447" y="204332"/>
                </a:lnTo>
                <a:lnTo>
                  <a:pt x="422656" y="205692"/>
                </a:lnTo>
                <a:lnTo>
                  <a:pt x="435863" y="192450"/>
                </a:lnTo>
                <a:lnTo>
                  <a:pt x="449072" y="167768"/>
                </a:lnTo>
                <a:lnTo>
                  <a:pt x="462280" y="137087"/>
                </a:lnTo>
              </a:path>
            </a:pathLst>
          </a:custGeom>
          <a:noFill/>
          <a:ln w="30480" cap="rnd">
            <a:solidFill>
              <a:srgbClr val="008577"/>
            </a:solidFill>
          </a:ln>
        </p:spPr>
      </p:sp>
      <p:sp>
        <p:nvSpPr>
          <p:cNvPr id="81" name="Editable vector 81"/>
          <p:cNvSpPr/>
          <p:nvPr/>
        </p:nvSpPr>
        <p:spPr>
          <a:xfrm>
            <a:off x="6858000" y="2656840"/>
            <a:ext cx="243840" cy="60960"/>
          </a:xfrm>
          <a:custGeom>
            <a:avLst/>
            <a:gdLst/>
            <a:ahLst/>
            <a:cxnLst/>
            <a:rect l="0" t="0" r="r" b="b"/>
            <a:pathLst>
              <a:path w="243840" h="60960" fill="none">
                <a:moveTo>
                  <a:pt x="0" y="5080"/>
                </a:moveTo>
                <a:lnTo>
                  <a:pt x="60960" y="60960"/>
                </a:lnTo>
                <a:lnTo>
                  <a:pt x="121920" y="0"/>
                </a:lnTo>
                <a:lnTo>
                  <a:pt x="182880" y="60960"/>
                </a:lnTo>
                <a:lnTo>
                  <a:pt x="243840" y="5080"/>
                </a:lnTo>
              </a:path>
            </a:pathLst>
          </a:custGeom>
          <a:noFill/>
          <a:ln w="20320" cap="rnd">
            <a:solidFill>
              <a:srgbClr val="617588"/>
            </a:solidFill>
          </a:ln>
        </p:spPr>
      </p:sp>
      <p:sp>
        <p:nvSpPr>
          <p:cNvPr id="82" name="Tandem fusion"/>
          <p:cNvSpPr txBox="1"/>
          <p:nvPr/>
        </p:nvSpPr>
        <p:spPr>
          <a:xfrm>
            <a:off x="6212840" y="3093720"/>
            <a:ext cx="156972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200" b="1" lang="en-US">
                <a:solidFill>
                  <a:srgbClr val="17324D"/>
                </a:solidFill>
                <a:latin typeface="Arial"/>
              </a:rPr>
              <a:t>Tandem fusion</a:t>
            </a:r>
          </a:p>
        </p:txBody>
      </p:sp>
      <p:sp>
        <p:nvSpPr>
          <p:cNvPr id="83" name="Editable vector 83"/>
          <p:cNvSpPr/>
          <p:nvPr/>
        </p:nvSpPr>
        <p:spPr>
          <a:xfrm>
            <a:off x="6746240" y="3759200"/>
            <a:ext cx="259080" cy="539750"/>
          </a:xfrm>
          <a:custGeom>
            <a:avLst/>
            <a:gdLst/>
            <a:ahLst/>
            <a:cxnLst/>
            <a:rect l="0" t="0" r="r" b="b"/>
            <a:pathLst>
              <a:path w="259080" h="539750" fill="none">
                <a:moveTo>
                  <a:pt x="259080" y="539750"/>
                </a:moveTo>
                <a:lnTo>
                  <a:pt x="259080" y="259080"/>
                </a:lnTo>
                <a:lnTo>
                  <a:pt x="0" y="0"/>
                </a:lnTo>
              </a:path>
            </a:pathLst>
          </a:custGeom>
          <a:noFill/>
          <a:ln w="66040" cap="rnd">
            <a:solidFill>
              <a:srgbClr val="0072B2"/>
            </a:solidFill>
          </a:ln>
        </p:spPr>
      </p:sp>
      <p:sp>
        <p:nvSpPr>
          <p:cNvPr id="84" name="Editable vector 84"/>
          <p:cNvSpPr/>
          <p:nvPr/>
        </p:nvSpPr>
        <p:spPr>
          <a:xfrm>
            <a:off x="7005320" y="3759200"/>
            <a:ext cx="259080" cy="259080"/>
          </a:xfrm>
          <a:custGeom>
            <a:avLst/>
            <a:gdLst/>
            <a:ahLst/>
            <a:cxnLst/>
            <a:rect l="0" t="0" r="r" b="b"/>
            <a:pathLst>
              <a:path w="259080" h="259080" fill="none">
                <a:moveTo>
                  <a:pt x="0" y="259080"/>
                </a:moveTo>
                <a:lnTo>
                  <a:pt x="259080" y="0"/>
                </a:lnTo>
              </a:path>
            </a:pathLst>
          </a:custGeom>
          <a:noFill/>
          <a:ln w="66040" cap="rnd">
            <a:solidFill>
              <a:srgbClr val="008577"/>
            </a:solidFill>
          </a:ln>
        </p:spPr>
      </p:sp>
      <p:sp>
        <p:nvSpPr>
          <p:cNvPr id="85" name="Editable shape 85"/>
          <p:cNvSpPr/>
          <p:nvPr/>
        </p:nvSpPr>
        <p:spPr>
          <a:xfrm>
            <a:off x="6698742" y="3716020"/>
            <a:ext cx="94996" cy="949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</p:sp>
      <p:sp>
        <p:nvSpPr>
          <p:cNvPr id="86" name="Editable shape 86"/>
          <p:cNvSpPr/>
          <p:nvPr/>
        </p:nvSpPr>
        <p:spPr>
          <a:xfrm>
            <a:off x="7216902" y="3716020"/>
            <a:ext cx="94996" cy="94996"/>
          </a:xfrm>
          <a:prstGeom prst="ellipse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87" name="IgG-like / scFv-Fc"/>
          <p:cNvSpPr txBox="1"/>
          <p:nvPr/>
        </p:nvSpPr>
        <p:spPr>
          <a:xfrm>
            <a:off x="6212840" y="4648200"/>
            <a:ext cx="1569720" cy="2209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160" b="1" lang="en-US">
                <a:solidFill>
                  <a:srgbClr val="17324D"/>
                </a:solidFill>
                <a:latin typeface="Arial"/>
              </a:rPr>
              <a:t>IgG-like / scFv-Fc</a:t>
            </a:r>
          </a:p>
        </p:txBody>
      </p:sp>
      <p:sp>
        <p:nvSpPr>
          <p:cNvPr id="88" name="Editable shape 88"/>
          <p:cNvSpPr/>
          <p:nvPr/>
        </p:nvSpPr>
        <p:spPr>
          <a:xfrm>
            <a:off x="8382000" y="231140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89" name="Editable shape 89"/>
          <p:cNvSpPr/>
          <p:nvPr/>
        </p:nvSpPr>
        <p:spPr>
          <a:xfrm>
            <a:off x="8382000" y="244856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90" name="Editable shape 90"/>
          <p:cNvSpPr/>
          <p:nvPr/>
        </p:nvSpPr>
        <p:spPr>
          <a:xfrm>
            <a:off x="8382000" y="258572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91" name="Editable shape 91"/>
          <p:cNvSpPr/>
          <p:nvPr/>
        </p:nvSpPr>
        <p:spPr>
          <a:xfrm>
            <a:off x="8382000" y="272288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92" name="Editable shape 92"/>
          <p:cNvSpPr/>
          <p:nvPr/>
        </p:nvSpPr>
        <p:spPr>
          <a:xfrm>
            <a:off x="8382000" y="286004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93" name="Editable shape 93"/>
          <p:cNvSpPr/>
          <p:nvPr/>
        </p:nvSpPr>
        <p:spPr>
          <a:xfrm>
            <a:off x="8382000" y="299720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94" name="Editable shape 94"/>
          <p:cNvSpPr/>
          <p:nvPr/>
        </p:nvSpPr>
        <p:spPr>
          <a:xfrm>
            <a:off x="8382000" y="313436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95" name="Editable shape 95"/>
          <p:cNvSpPr/>
          <p:nvPr/>
        </p:nvSpPr>
        <p:spPr>
          <a:xfrm>
            <a:off x="8382000" y="327152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96" name="Editable shape 96"/>
          <p:cNvSpPr/>
          <p:nvPr/>
        </p:nvSpPr>
        <p:spPr>
          <a:xfrm>
            <a:off x="8519160" y="231140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97" name="Editable shape 97"/>
          <p:cNvSpPr/>
          <p:nvPr/>
        </p:nvSpPr>
        <p:spPr>
          <a:xfrm>
            <a:off x="8519160" y="244856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98" name="Editable shape 98"/>
          <p:cNvSpPr/>
          <p:nvPr/>
        </p:nvSpPr>
        <p:spPr>
          <a:xfrm>
            <a:off x="8519160" y="258572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99" name="Editable shape 99"/>
          <p:cNvSpPr/>
          <p:nvPr/>
        </p:nvSpPr>
        <p:spPr>
          <a:xfrm>
            <a:off x="8519160" y="272288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100" name="Editable shape 100"/>
          <p:cNvSpPr/>
          <p:nvPr/>
        </p:nvSpPr>
        <p:spPr>
          <a:xfrm>
            <a:off x="8519160" y="286004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01" name="Editable shape 101"/>
          <p:cNvSpPr/>
          <p:nvPr/>
        </p:nvSpPr>
        <p:spPr>
          <a:xfrm>
            <a:off x="8519160" y="299720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02" name="Editable shape 102"/>
          <p:cNvSpPr/>
          <p:nvPr/>
        </p:nvSpPr>
        <p:spPr>
          <a:xfrm>
            <a:off x="8519160" y="313436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03" name="Editable shape 103"/>
          <p:cNvSpPr/>
          <p:nvPr/>
        </p:nvSpPr>
        <p:spPr>
          <a:xfrm>
            <a:off x="8519160" y="327152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04" name="Editable shape 104"/>
          <p:cNvSpPr/>
          <p:nvPr/>
        </p:nvSpPr>
        <p:spPr>
          <a:xfrm>
            <a:off x="8656320" y="231140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105" name="Editable shape 105"/>
          <p:cNvSpPr/>
          <p:nvPr/>
        </p:nvSpPr>
        <p:spPr>
          <a:xfrm>
            <a:off x="8656320" y="244856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06" name="Editable shape 106"/>
          <p:cNvSpPr/>
          <p:nvPr/>
        </p:nvSpPr>
        <p:spPr>
          <a:xfrm>
            <a:off x="8656320" y="258572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07" name="Editable shape 107"/>
          <p:cNvSpPr/>
          <p:nvPr/>
        </p:nvSpPr>
        <p:spPr>
          <a:xfrm>
            <a:off x="8656320" y="272288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08" name="Editable shape 108"/>
          <p:cNvSpPr/>
          <p:nvPr/>
        </p:nvSpPr>
        <p:spPr>
          <a:xfrm>
            <a:off x="8656320" y="286004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09" name="Editable shape 109"/>
          <p:cNvSpPr/>
          <p:nvPr/>
        </p:nvSpPr>
        <p:spPr>
          <a:xfrm>
            <a:off x="8656320" y="299720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10" name="Editable shape 110"/>
          <p:cNvSpPr/>
          <p:nvPr/>
        </p:nvSpPr>
        <p:spPr>
          <a:xfrm>
            <a:off x="8656320" y="313436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11" name="Editable shape 111"/>
          <p:cNvSpPr/>
          <p:nvPr/>
        </p:nvSpPr>
        <p:spPr>
          <a:xfrm>
            <a:off x="8656320" y="327152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12" name="Editable shape 112"/>
          <p:cNvSpPr/>
          <p:nvPr/>
        </p:nvSpPr>
        <p:spPr>
          <a:xfrm>
            <a:off x="8793480" y="231140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113" name="Editable shape 113"/>
          <p:cNvSpPr/>
          <p:nvPr/>
        </p:nvSpPr>
        <p:spPr>
          <a:xfrm>
            <a:off x="8793480" y="244856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114" name="Editable shape 114"/>
          <p:cNvSpPr/>
          <p:nvPr/>
        </p:nvSpPr>
        <p:spPr>
          <a:xfrm>
            <a:off x="8793480" y="258572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15" name="Editable shape 115"/>
          <p:cNvSpPr/>
          <p:nvPr/>
        </p:nvSpPr>
        <p:spPr>
          <a:xfrm>
            <a:off x="8793480" y="272288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16" name="Editable shape 116"/>
          <p:cNvSpPr/>
          <p:nvPr/>
        </p:nvSpPr>
        <p:spPr>
          <a:xfrm>
            <a:off x="8793480" y="286004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17" name="Editable shape 117"/>
          <p:cNvSpPr/>
          <p:nvPr/>
        </p:nvSpPr>
        <p:spPr>
          <a:xfrm>
            <a:off x="8793480" y="299720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18" name="Editable shape 118"/>
          <p:cNvSpPr/>
          <p:nvPr/>
        </p:nvSpPr>
        <p:spPr>
          <a:xfrm>
            <a:off x="8793480" y="313436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19" name="Editable shape 119"/>
          <p:cNvSpPr/>
          <p:nvPr/>
        </p:nvSpPr>
        <p:spPr>
          <a:xfrm>
            <a:off x="8793480" y="327152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20" name="Editable shape 120"/>
          <p:cNvSpPr/>
          <p:nvPr/>
        </p:nvSpPr>
        <p:spPr>
          <a:xfrm>
            <a:off x="8930640" y="231140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21" name="Editable shape 121"/>
          <p:cNvSpPr/>
          <p:nvPr/>
        </p:nvSpPr>
        <p:spPr>
          <a:xfrm>
            <a:off x="8930640" y="244856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22" name="Editable shape 122"/>
          <p:cNvSpPr/>
          <p:nvPr/>
        </p:nvSpPr>
        <p:spPr>
          <a:xfrm>
            <a:off x="8930640" y="258572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23" name="Editable shape 123"/>
          <p:cNvSpPr/>
          <p:nvPr/>
        </p:nvSpPr>
        <p:spPr>
          <a:xfrm>
            <a:off x="8930640" y="272288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24" name="Editable shape 124"/>
          <p:cNvSpPr/>
          <p:nvPr/>
        </p:nvSpPr>
        <p:spPr>
          <a:xfrm>
            <a:off x="8930640" y="286004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25" name="Editable shape 125"/>
          <p:cNvSpPr/>
          <p:nvPr/>
        </p:nvSpPr>
        <p:spPr>
          <a:xfrm>
            <a:off x="8930640" y="299720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26" name="Editable shape 126"/>
          <p:cNvSpPr/>
          <p:nvPr/>
        </p:nvSpPr>
        <p:spPr>
          <a:xfrm>
            <a:off x="8930640" y="313436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127" name="Editable shape 127"/>
          <p:cNvSpPr/>
          <p:nvPr/>
        </p:nvSpPr>
        <p:spPr>
          <a:xfrm>
            <a:off x="8930640" y="327152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128" name="Editable shape 128"/>
          <p:cNvSpPr/>
          <p:nvPr/>
        </p:nvSpPr>
        <p:spPr>
          <a:xfrm>
            <a:off x="9067800" y="231140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29" name="Editable shape 129"/>
          <p:cNvSpPr/>
          <p:nvPr/>
        </p:nvSpPr>
        <p:spPr>
          <a:xfrm>
            <a:off x="9067800" y="244856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30" name="Editable shape 130"/>
          <p:cNvSpPr/>
          <p:nvPr/>
        </p:nvSpPr>
        <p:spPr>
          <a:xfrm>
            <a:off x="9067800" y="258572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31" name="Editable shape 131"/>
          <p:cNvSpPr/>
          <p:nvPr/>
        </p:nvSpPr>
        <p:spPr>
          <a:xfrm>
            <a:off x="9067800" y="272288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32" name="Editable shape 132"/>
          <p:cNvSpPr/>
          <p:nvPr/>
        </p:nvSpPr>
        <p:spPr>
          <a:xfrm>
            <a:off x="9067800" y="286004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33" name="Editable shape 133"/>
          <p:cNvSpPr/>
          <p:nvPr/>
        </p:nvSpPr>
        <p:spPr>
          <a:xfrm>
            <a:off x="9067800" y="299720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34" name="Editable shape 134"/>
          <p:cNvSpPr/>
          <p:nvPr/>
        </p:nvSpPr>
        <p:spPr>
          <a:xfrm>
            <a:off x="9067800" y="313436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35" name="Editable shape 135"/>
          <p:cNvSpPr/>
          <p:nvPr/>
        </p:nvSpPr>
        <p:spPr>
          <a:xfrm>
            <a:off x="9067800" y="327152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136" name="Editable shape 136"/>
          <p:cNvSpPr/>
          <p:nvPr/>
        </p:nvSpPr>
        <p:spPr>
          <a:xfrm>
            <a:off x="9204960" y="231140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37" name="Editable shape 137"/>
          <p:cNvSpPr/>
          <p:nvPr/>
        </p:nvSpPr>
        <p:spPr>
          <a:xfrm>
            <a:off x="9204960" y="244856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38" name="Editable shape 138"/>
          <p:cNvSpPr/>
          <p:nvPr/>
        </p:nvSpPr>
        <p:spPr>
          <a:xfrm>
            <a:off x="9204960" y="258572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39" name="Editable shape 139"/>
          <p:cNvSpPr/>
          <p:nvPr/>
        </p:nvSpPr>
        <p:spPr>
          <a:xfrm>
            <a:off x="9204960" y="272288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40" name="Editable shape 140"/>
          <p:cNvSpPr/>
          <p:nvPr/>
        </p:nvSpPr>
        <p:spPr>
          <a:xfrm>
            <a:off x="9204960" y="286004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141" name="Editable shape 141"/>
          <p:cNvSpPr/>
          <p:nvPr/>
        </p:nvSpPr>
        <p:spPr>
          <a:xfrm>
            <a:off x="9204960" y="299720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42" name="Editable shape 142"/>
          <p:cNvSpPr/>
          <p:nvPr/>
        </p:nvSpPr>
        <p:spPr>
          <a:xfrm>
            <a:off x="9204960" y="313436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43" name="Editable shape 143"/>
          <p:cNvSpPr/>
          <p:nvPr/>
        </p:nvSpPr>
        <p:spPr>
          <a:xfrm>
            <a:off x="9204960" y="327152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44" name="Editable shape 144"/>
          <p:cNvSpPr/>
          <p:nvPr/>
        </p:nvSpPr>
        <p:spPr>
          <a:xfrm>
            <a:off x="9342120" y="231140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45" name="Editable shape 145"/>
          <p:cNvSpPr/>
          <p:nvPr/>
        </p:nvSpPr>
        <p:spPr>
          <a:xfrm>
            <a:off x="9342120" y="244856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46" name="Editable shape 146"/>
          <p:cNvSpPr/>
          <p:nvPr/>
        </p:nvSpPr>
        <p:spPr>
          <a:xfrm>
            <a:off x="9342120" y="258572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47" name="Editable shape 147"/>
          <p:cNvSpPr/>
          <p:nvPr/>
        </p:nvSpPr>
        <p:spPr>
          <a:xfrm>
            <a:off x="9342120" y="2722880"/>
            <a:ext cx="127000" cy="127000"/>
          </a:xfrm>
          <a:prstGeom prst="rect">
            <a:avLst/>
          </a:prstGeom>
          <a:solidFill>
            <a:srgbClr val="E4EEF2"/>
          </a:solidFill>
          <a:ln>
            <a:noFill/>
          </a:ln>
        </p:spPr>
      </p:sp>
      <p:sp>
        <p:nvSpPr>
          <p:cNvPr id="148" name="Editable shape 148"/>
          <p:cNvSpPr/>
          <p:nvPr/>
        </p:nvSpPr>
        <p:spPr>
          <a:xfrm>
            <a:off x="9342120" y="286004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149" name="Editable shape 149"/>
          <p:cNvSpPr/>
          <p:nvPr/>
        </p:nvSpPr>
        <p:spPr>
          <a:xfrm>
            <a:off x="9342120" y="2997200"/>
            <a:ext cx="127000" cy="127000"/>
          </a:xfrm>
          <a:prstGeom prst="rect">
            <a:avLst/>
          </a:prstGeom>
          <a:solidFill>
            <a:srgbClr val="64A5B9"/>
          </a:solidFill>
          <a:ln>
            <a:noFill/>
          </a:ln>
        </p:spPr>
      </p:sp>
      <p:sp>
        <p:nvSpPr>
          <p:cNvPr id="150" name="Editable shape 150"/>
          <p:cNvSpPr/>
          <p:nvPr/>
        </p:nvSpPr>
        <p:spPr>
          <a:xfrm>
            <a:off x="9342120" y="313436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51" name="Editable shape 151"/>
          <p:cNvSpPr/>
          <p:nvPr/>
        </p:nvSpPr>
        <p:spPr>
          <a:xfrm>
            <a:off x="9342120" y="3271520"/>
            <a:ext cx="127000" cy="127000"/>
          </a:xfrm>
          <a:prstGeom prst="rect">
            <a:avLst/>
          </a:prstGeom>
          <a:solidFill>
            <a:srgbClr val="1B7593"/>
          </a:solidFill>
          <a:ln>
            <a:noFill/>
          </a:ln>
        </p:spPr>
      </p:sp>
      <p:sp>
        <p:nvSpPr>
          <p:cNvPr id="152" name="AlphaFold2 / 3"/>
          <p:cNvSpPr txBox="1"/>
          <p:nvPr/>
        </p:nvSpPr>
        <p:spPr>
          <a:xfrm>
            <a:off x="8128000" y="3749040"/>
            <a:ext cx="1600200" cy="24384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280" b="1" lang="en-US">
                <a:solidFill>
                  <a:srgbClr val="17324D"/>
                </a:solidFill>
                <a:latin typeface="Arial"/>
              </a:rPr>
              <a:t>AlphaFold2 / 3</a:t>
            </a:r>
          </a:p>
        </p:txBody>
      </p:sp>
      <p:sp>
        <p:nvSpPr>
          <p:cNvPr id="153" name="Folds + complexes"/>
          <p:cNvSpPr txBox="1"/>
          <p:nvPr/>
        </p:nvSpPr>
        <p:spPr>
          <a:xfrm>
            <a:off x="8128000" y="4079240"/>
            <a:ext cx="1600200" cy="2133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120" b="0" lang="en-US">
                <a:solidFill>
                  <a:srgbClr val="617588"/>
                </a:solidFill>
                <a:latin typeface="Arial"/>
              </a:rPr>
              <a:t>Folds + complexes</a:t>
            </a:r>
          </a:p>
        </p:txBody>
      </p:sp>
      <p:sp>
        <p:nvSpPr>
          <p:cNvPr id="154" name="pLDDT · PAE · ipTM*"/>
          <p:cNvSpPr txBox="1"/>
          <p:nvPr/>
        </p:nvSpPr>
        <p:spPr>
          <a:xfrm>
            <a:off x="8128000" y="4353560"/>
            <a:ext cx="1600200" cy="19812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040" b="0" lang="en-US">
                <a:solidFill>
                  <a:srgbClr val="617588"/>
                </a:solidFill>
                <a:latin typeface="Arial"/>
              </a:rPr>
              <a:t>pLDDT · PAE · ipTM*</a:t>
            </a:r>
          </a:p>
        </p:txBody>
      </p:sp>
      <p:sp>
        <p:nvSpPr>
          <p:cNvPr id="155" name="Editable vector 155"/>
          <p:cNvSpPr/>
          <p:nvPr/>
        </p:nvSpPr>
        <p:spPr>
          <a:xfrm>
            <a:off x="10261600" y="2397760"/>
            <a:ext cx="1219200" cy="904240"/>
          </a:xfrm>
          <a:custGeom>
            <a:avLst/>
            <a:gdLst/>
            <a:ahLst/>
            <a:cxnLst/>
            <a:rect l="0" t="0" r="r" b="b"/>
            <a:pathLst>
              <a:path w="1219200" h="904240" fill="none">
                <a:moveTo>
                  <a:pt x="0" y="0"/>
                </a:moveTo>
                <a:lnTo>
                  <a:pt x="0" y="904240"/>
                </a:lnTo>
                <a:lnTo>
                  <a:pt x="1219200" y="904240"/>
                </a:lnTo>
              </a:path>
            </a:pathLst>
          </a:custGeom>
          <a:noFill/>
          <a:ln w="20320" cap="rnd">
            <a:solidFill>
              <a:srgbClr val="617588"/>
            </a:solidFill>
          </a:ln>
        </p:spPr>
      </p:sp>
      <p:sp>
        <p:nvSpPr>
          <p:cNvPr id="156" name="Editable vector 156"/>
          <p:cNvSpPr/>
          <p:nvPr/>
        </p:nvSpPr>
        <p:spPr>
          <a:xfrm>
            <a:off x="10271760" y="2641600"/>
            <a:ext cx="1158240" cy="584200"/>
          </a:xfrm>
          <a:custGeom>
            <a:avLst/>
            <a:gdLst/>
            <a:ahLst/>
            <a:cxnLst/>
            <a:rect l="0" t="0" r="r" b="b"/>
            <a:pathLst>
              <a:path w="1158240" h="584200" fill="none">
                <a:moveTo>
                  <a:pt x="0" y="584200"/>
                </a:moveTo>
                <a:lnTo>
                  <a:pt x="142240" y="548640"/>
                </a:lnTo>
                <a:lnTo>
                  <a:pt x="269240" y="304800"/>
                </a:lnTo>
                <a:lnTo>
                  <a:pt x="396240" y="66040"/>
                </a:lnTo>
                <a:lnTo>
                  <a:pt x="563880" y="0"/>
                </a:lnTo>
                <a:lnTo>
                  <a:pt x="990600" y="0"/>
                </a:lnTo>
                <a:lnTo>
                  <a:pt x="1158240" y="203200"/>
                </a:lnTo>
              </a:path>
            </a:pathLst>
          </a:custGeom>
          <a:noFill/>
          <a:ln w="35560" cap="rnd">
            <a:solidFill>
              <a:srgbClr val="008577"/>
            </a:solidFill>
          </a:ln>
        </p:spPr>
      </p:sp>
      <p:sp>
        <p:nvSpPr>
          <p:cNvPr id="157" name="Editable shape 157"/>
          <p:cNvSpPr/>
          <p:nvPr/>
        </p:nvSpPr>
        <p:spPr>
          <a:xfrm>
            <a:off x="10139680" y="3820160"/>
            <a:ext cx="66040" cy="66040"/>
          </a:xfrm>
          <a:prstGeom prst="ellipse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158" name="Expression"/>
          <p:cNvSpPr txBox="1"/>
          <p:nvPr/>
        </p:nvSpPr>
        <p:spPr>
          <a:xfrm>
            <a:off x="10317480" y="3794760"/>
            <a:ext cx="86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00" b="1" lang="en-US">
                <a:solidFill>
                  <a:srgbClr val="17324D"/>
                </a:solidFill>
                <a:latin typeface="Arial"/>
              </a:rPr>
              <a:t>Expression</a:t>
            </a:r>
          </a:p>
        </p:txBody>
      </p:sp>
      <p:sp>
        <p:nvSpPr>
          <p:cNvPr id="159" name="Editable shape 159"/>
          <p:cNvSpPr/>
          <p:nvPr/>
        </p:nvSpPr>
        <p:spPr>
          <a:xfrm>
            <a:off x="10139680" y="4226560"/>
            <a:ext cx="66040" cy="66040"/>
          </a:xfrm>
          <a:prstGeom prst="ellipse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160" name="Dual binding"/>
          <p:cNvSpPr txBox="1"/>
          <p:nvPr/>
        </p:nvSpPr>
        <p:spPr>
          <a:xfrm>
            <a:off x="10317480" y="4201160"/>
            <a:ext cx="94996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00" b="1" lang="en-US">
                <a:solidFill>
                  <a:srgbClr val="17324D"/>
                </a:solidFill>
                <a:latin typeface="Arial"/>
              </a:rPr>
              <a:t>Dual binding</a:t>
            </a:r>
          </a:p>
        </p:txBody>
      </p:sp>
      <p:sp>
        <p:nvSpPr>
          <p:cNvPr id="161" name="Editable shape 161"/>
          <p:cNvSpPr/>
          <p:nvPr/>
        </p:nvSpPr>
        <p:spPr>
          <a:xfrm>
            <a:off x="10139680" y="4632960"/>
            <a:ext cx="66040" cy="66040"/>
          </a:xfrm>
          <a:prstGeom prst="ellipse">
            <a:avLst/>
          </a:prstGeom>
          <a:solidFill>
            <a:srgbClr val="008577"/>
          </a:solidFill>
          <a:ln>
            <a:noFill/>
          </a:ln>
        </p:spPr>
      </p:sp>
      <p:sp>
        <p:nvSpPr>
          <p:cNvPr id="162" name="Function"/>
          <p:cNvSpPr txBox="1"/>
          <p:nvPr/>
        </p:nvSpPr>
        <p:spPr>
          <a:xfrm>
            <a:off x="10317480" y="4607560"/>
            <a:ext cx="67564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00" b="1" lang="en-US">
                <a:solidFill>
                  <a:srgbClr val="17324D"/>
                </a:solidFill>
                <a:latin typeface="Arial"/>
              </a:rPr>
              <a:t>Function</a:t>
            </a:r>
          </a:p>
        </p:txBody>
      </p:sp>
      <p:sp>
        <p:nvSpPr>
          <p:cNvPr id="163" name="Editable vector 163"/>
          <p:cNvSpPr/>
          <p:nvPr/>
        </p:nvSpPr>
        <p:spPr>
          <a:xfrm>
            <a:off x="3139440" y="5588000"/>
            <a:ext cx="7721600" cy="304800"/>
          </a:xfrm>
          <a:custGeom>
            <a:avLst/>
            <a:gdLst/>
            <a:ahLst/>
            <a:cxnLst/>
            <a:rect l="0" t="0" r="r" b="b"/>
            <a:pathLst>
              <a:path w="7721600" h="304800" fill="none">
                <a:moveTo>
                  <a:pt x="7721600" y="0"/>
                </a:moveTo>
                <a:lnTo>
                  <a:pt x="7721600" y="304800"/>
                </a:lnTo>
                <a:lnTo>
                  <a:pt x="0" y="304800"/>
                </a:lnTo>
              </a:path>
            </a:pathLst>
          </a:custGeom>
          <a:noFill/>
          <a:ln w="20320" cap="rnd">
            <a:solidFill>
              <a:srgbClr val="008577"/>
            </a:solidFill>
          </a:ln>
        </p:spPr>
      </p:sp>
      <p:sp>
        <p:nvSpPr>
          <p:cNvPr id="164" name="Editable vector 164"/>
          <p:cNvSpPr/>
          <p:nvPr/>
        </p:nvSpPr>
        <p:spPr>
          <a:xfrm>
            <a:off x="3139440" y="5588000"/>
            <a:ext cx="5080" cy="304800"/>
          </a:xfrm>
          <a:custGeom>
            <a:avLst/>
            <a:gdLst/>
            <a:ahLst/>
            <a:cxnLst/>
            <a:rect l="0" t="0" r="r" b="b"/>
            <a:pathLst>
              <a:path w="5080" h="304800" fill="none">
                <a:moveTo>
                  <a:pt x="0" y="304800"/>
                </a:moveTo>
                <a:lnTo>
                  <a:pt x="0" y="0"/>
                </a:lnTo>
              </a:path>
            </a:pathLst>
          </a:custGeom>
          <a:noFill/>
          <a:ln w="20320" cap="rnd">
            <a:solidFill>
              <a:srgbClr val="008577"/>
            </a:solidFill>
          </a:ln>
        </p:spPr>
      </p:sp>
      <p:sp>
        <p:nvSpPr>
          <p:cNvPr id="165" name="Editable vector 165"/>
          <p:cNvSpPr/>
          <p:nvPr/>
        </p:nvSpPr>
        <p:spPr>
          <a:xfrm>
            <a:off x="3096414" y="5588000"/>
            <a:ext cx="86051" cy="62890"/>
          </a:xfrm>
          <a:custGeom>
            <a:avLst/>
            <a:gdLst/>
            <a:ahLst/>
            <a:cxnLst/>
            <a:rect l="0" t="0" r="r" b="b"/>
            <a:pathLst>
              <a:path w="86051" h="62890" fill="none">
                <a:moveTo>
                  <a:pt x="86051" y="62890"/>
                </a:moveTo>
                <a:lnTo>
                  <a:pt x="43025" y="0"/>
                </a:lnTo>
                <a:lnTo>
                  <a:pt x="0" y="62890"/>
                </a:lnTo>
              </a:path>
            </a:pathLst>
          </a:custGeom>
          <a:noFill/>
          <a:ln w="20320" cap="rnd">
            <a:solidFill>
              <a:srgbClr val="008577"/>
            </a:solidFill>
          </a:ln>
        </p:spPr>
      </p:sp>
      <p:sp>
        <p:nvSpPr>
          <p:cNvPr id="166" name="Editable shape 166"/>
          <p:cNvSpPr/>
          <p:nvPr/>
        </p:nvSpPr>
        <p:spPr>
          <a:xfrm>
            <a:off x="4754880" y="5740400"/>
            <a:ext cx="2895600" cy="289560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67" name="Experiment-guided redesign"/>
          <p:cNvSpPr txBox="1"/>
          <p:nvPr/>
        </p:nvSpPr>
        <p:spPr>
          <a:xfrm>
            <a:off x="4815840" y="5765800"/>
            <a:ext cx="209296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200" b="1" lang="en-US">
                <a:solidFill>
                  <a:srgbClr val="008577"/>
                </a:solidFill>
                <a:latin typeface="Arial"/>
              </a:rPr>
              <a:t>Experiment-guided redesign</a:t>
            </a:r>
          </a:p>
        </p:txBody>
      </p:sp>
      <p:sp>
        <p:nvSpPr>
          <p:cNvPr id="168" name="*Interface scores where available. Set target- and format-specific criteria."/>
          <p:cNvSpPr txBox="1"/>
          <p:nvPr/>
        </p:nvSpPr>
        <p:spPr>
          <a:xfrm>
            <a:off x="386080" y="6400800"/>
            <a:ext cx="418084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l"/>
            <a:r>
              <a:rPr sz="1000" b="0" lang="en-US">
                <a:solidFill>
                  <a:srgbClr val="617588"/>
                </a:solidFill>
                <a:latin typeface="Arial"/>
              </a:rPr>
              <a:t>*Interface scores where available. Set target- and format-specific criteria.</a:t>
            </a:r>
          </a:p>
        </p:txBody>
      </p:sp>
      <p:sp>
        <p:nvSpPr>
          <p:cNvPr id="169" name="Two arms → one construct"/>
          <p:cNvSpPr txBox="1"/>
          <p:nvPr/>
        </p:nvSpPr>
        <p:spPr>
          <a:xfrm>
            <a:off x="8839200" y="6400800"/>
            <a:ext cx="2997200" cy="2209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160" b="1" lang="en-US">
                <a:solidFill>
                  <a:srgbClr val="17324D"/>
                </a:solidFill>
                <a:latin typeface="Arial"/>
              </a:rPr>
              <a:t>Two arms → one construct</a:t>
            </a:r>
          </a:p>
        </p:txBody>
      </p:sp>
    </p:spTree>
  </p:cSld>
  <p:clrMapOvr>
    <a:masterClrMapping/>
  </p:clrMapOvr>
</p:sld>
</file>